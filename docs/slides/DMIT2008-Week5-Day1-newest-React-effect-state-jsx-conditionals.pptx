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Roboto" panose="02000000000000000000" pitchFamily="2" charset="0"/>
      <p:regular r:id="rId17"/>
      <p:bold r:id="rId18"/>
      <p:italic r:id="rId19"/>
      <p:boldItalic r:id="rId20"/>
    </p:embeddedFont>
    <p:embeddedFont>
      <p:font typeface="Roboto Mono" panose="00000009000000000000" pitchFamily="49" charset="0"/>
      <p:regular r:id="rId21"/>
      <p:bold r:id="rId22"/>
      <p:italic r:id="rId23"/>
      <p:boldItalic r:id="rId24"/>
    </p:embeddedFont>
    <p:embeddedFont>
      <p:font typeface="Roboto Slab" pitchFamily="2"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71373" autoAdjust="0"/>
  </p:normalViewPr>
  <p:slideViewPr>
    <p:cSldViewPr snapToGrid="0">
      <p:cViewPr varScale="1">
        <p:scale>
          <a:sx n="44" d="100"/>
          <a:sy n="44" d="100"/>
        </p:scale>
        <p:origin x="159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0fb9f6395_4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0fb9f6395_4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81620d828e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81620d828e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81620d828e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81620d828e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81620d828e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81620d828e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81620d828e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81620d828e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say you have a gaming app:</a:t>
            </a:r>
          </a:p>
          <a:p>
            <a:pPr marL="0" lvl="0" indent="0" algn="l" rtl="0">
              <a:spcBef>
                <a:spcPts val="0"/>
              </a:spcBef>
              <a:spcAft>
                <a:spcPts val="0"/>
              </a:spcAft>
              <a:buNone/>
            </a:pPr>
            <a:r>
              <a:rPr lang="en-US" dirty="0" err="1"/>
              <a:t>inputValue</a:t>
            </a:r>
            <a:r>
              <a:rPr lang="en-US" dirty="0"/>
              <a:t> can be </a:t>
            </a:r>
            <a:r>
              <a:rPr lang="en-US" dirty="0" err="1"/>
              <a:t>playerName</a:t>
            </a:r>
            <a:endParaRPr lang="en-US" dirty="0"/>
          </a:p>
          <a:p>
            <a:pPr marL="0" lvl="0" indent="0" algn="l" rtl="0">
              <a:spcBef>
                <a:spcPts val="0"/>
              </a:spcBef>
              <a:spcAft>
                <a:spcPts val="0"/>
              </a:spcAft>
              <a:buNone/>
            </a:pPr>
            <a:r>
              <a:rPr lang="en-US" dirty="0" err="1"/>
              <a:t>setInputValue</a:t>
            </a:r>
            <a:r>
              <a:rPr lang="en-US" dirty="0"/>
              <a:t> can be the function </a:t>
            </a:r>
            <a:r>
              <a:rPr lang="en-US" dirty="0" err="1"/>
              <a:t>setPlayerName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Rules of Hooks: </a:t>
            </a:r>
          </a:p>
          <a:p>
            <a:pPr marL="228600" lvl="0" indent="-228600" algn="l" rtl="0">
              <a:spcBef>
                <a:spcPts val="0"/>
              </a:spcBef>
              <a:spcAft>
                <a:spcPts val="0"/>
              </a:spcAft>
              <a:buAutoNum type="arabicPeriod"/>
            </a:pPr>
            <a:r>
              <a:rPr lang="en-US" dirty="0"/>
              <a:t>Only call Hooks inside of Component Functions.</a:t>
            </a:r>
          </a:p>
          <a:p>
            <a:pPr marL="228600" lvl="0" indent="-228600" algn="l" rtl="0">
              <a:spcBef>
                <a:spcPts val="0"/>
              </a:spcBef>
              <a:spcAft>
                <a:spcPts val="0"/>
              </a:spcAft>
              <a:buAutoNum type="arabicPeriod"/>
            </a:pPr>
            <a:r>
              <a:rPr lang="en-US" dirty="0"/>
              <a:t>Only call Hooks on the top level of the function.</a:t>
            </a:r>
          </a:p>
          <a:p>
            <a:pPr marL="228600" lvl="0" indent="-228600" algn="l" rtl="0">
              <a:spcBef>
                <a:spcPts val="0"/>
              </a:spcBef>
              <a:spcAft>
                <a:spcPts val="0"/>
              </a:spcAft>
              <a:buAutoNum type="arabicPeriod"/>
            </a:pPr>
            <a:endParaRPr lang="en-US" dirty="0"/>
          </a:p>
          <a:p>
            <a:pPr marL="0" lvl="0" indent="0" algn="l" rtl="0">
              <a:spcBef>
                <a:spcPts val="0"/>
              </a:spcBef>
              <a:spcAft>
                <a:spcPts val="0"/>
              </a:spcAft>
              <a:buNone/>
            </a:pPr>
            <a:r>
              <a:rPr lang="en-CA"/>
              <a:t>Read: https://react.dev/reference/rules/rules-of-hooks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8186affff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8186affff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Note that when we build apps locally, we need to import </a:t>
            </a:r>
            <a:r>
              <a:rPr lang="en-US" dirty="0" err="1"/>
              <a:t>useState</a:t>
            </a:r>
            <a:r>
              <a:rPr lang="en-US" dirty="0"/>
              <a:t> from React like this: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CA"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CA" sz="1100" b="0" i="0" u="none" strike="noStrike" cap="none" dirty="0">
                <a:solidFill>
                  <a:srgbClr val="000000"/>
                </a:solidFill>
                <a:effectLst/>
                <a:latin typeface="Arial"/>
                <a:ea typeface="Arial"/>
                <a:cs typeface="Arial"/>
                <a:sym typeface="Arial"/>
              </a:rPr>
              <a:t>import { </a:t>
            </a:r>
            <a:r>
              <a:rPr lang="en-CA" sz="1100" b="0" i="0" u="none" strike="noStrike" cap="none" dirty="0" err="1">
                <a:solidFill>
                  <a:srgbClr val="000000"/>
                </a:solidFill>
                <a:effectLst/>
                <a:latin typeface="Arial"/>
                <a:ea typeface="Arial"/>
                <a:cs typeface="Arial"/>
                <a:sym typeface="Arial"/>
              </a:rPr>
              <a:t>useState</a:t>
            </a:r>
            <a:r>
              <a:rPr lang="en-CA" sz="1100" b="0" i="0" u="none" strike="noStrike" cap="none" dirty="0">
                <a:solidFill>
                  <a:srgbClr val="000000"/>
                </a:solidFill>
                <a:effectLst/>
                <a:latin typeface="Arial"/>
                <a:ea typeface="Arial"/>
                <a:cs typeface="Arial"/>
                <a:sym typeface="Arial"/>
              </a:rPr>
              <a:t> } from ‘react';</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186affff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186affff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5737a5a0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5737a5a0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5737a5a0f9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5737a5a0f9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Best Practice: Updating State Based on Old State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//pass a function to your state updating function</a:t>
            </a:r>
          </a:p>
          <a:p>
            <a:pPr marL="0" lvl="0" indent="0" algn="l" rtl="0">
              <a:spcBef>
                <a:spcPts val="0"/>
              </a:spcBef>
              <a:spcAft>
                <a:spcPts val="0"/>
              </a:spcAft>
              <a:buNone/>
            </a:pPr>
            <a:r>
              <a:rPr lang="en-CA" sz="1100" b="0" i="0" u="none" strike="noStrike" cap="none" dirty="0">
                <a:solidFill>
                  <a:srgbClr val="000000"/>
                </a:solidFill>
                <a:effectLst/>
                <a:latin typeface="Arial"/>
                <a:ea typeface="Arial"/>
                <a:cs typeface="Arial"/>
                <a:sym typeface="Arial"/>
              </a:rPr>
              <a:t>const </a:t>
            </a:r>
            <a:r>
              <a:rPr lang="en-CA" sz="1100" b="0" i="0" u="none" strike="noStrike" cap="none" dirty="0" err="1">
                <a:solidFill>
                  <a:srgbClr val="000000"/>
                </a:solidFill>
                <a:effectLst/>
                <a:latin typeface="Arial"/>
                <a:ea typeface="Arial"/>
                <a:cs typeface="Arial"/>
                <a:sym typeface="Arial"/>
              </a:rPr>
              <a:t>toggleMessage</a:t>
            </a:r>
            <a:r>
              <a:rPr lang="en-CA" sz="1100" b="0" i="0" u="none" strike="noStrike" cap="none" dirty="0">
                <a:solidFill>
                  <a:srgbClr val="000000"/>
                </a:solidFill>
                <a:effectLst/>
                <a:latin typeface="Arial"/>
                <a:ea typeface="Arial"/>
                <a:cs typeface="Arial"/>
                <a:sym typeface="Arial"/>
              </a:rPr>
              <a:t> = (event) =&gt; {</a:t>
            </a:r>
          </a:p>
          <a:p>
            <a:pPr marL="158750" indent="0">
              <a:buNone/>
            </a:pPr>
            <a:r>
              <a:rPr lang="en-CA" sz="1100" b="0" i="0" u="none" strike="noStrike" cap="none" dirty="0">
                <a:solidFill>
                  <a:srgbClr val="000000"/>
                </a:solidFill>
                <a:effectLst/>
                <a:latin typeface="Arial"/>
                <a:ea typeface="Arial"/>
                <a:cs typeface="Arial"/>
                <a:sym typeface="Arial"/>
              </a:rPr>
              <a:t>    </a:t>
            </a:r>
            <a:r>
              <a:rPr lang="en-CA" sz="1100" b="0" i="0" u="none" strike="noStrike" cap="none" dirty="0" err="1">
                <a:solidFill>
                  <a:srgbClr val="000000"/>
                </a:solidFill>
                <a:effectLst/>
                <a:latin typeface="Arial"/>
                <a:ea typeface="Arial"/>
                <a:cs typeface="Arial"/>
                <a:sym typeface="Arial"/>
              </a:rPr>
              <a:t>setHideMessage</a:t>
            </a:r>
            <a:r>
              <a:rPr lang="en-CA" sz="1100" b="0" i="0" u="none" strike="noStrike" cap="none" dirty="0">
                <a:solidFill>
                  <a:srgbClr val="000000"/>
                </a:solidFill>
                <a:effectLst/>
                <a:latin typeface="Arial"/>
                <a:ea typeface="Arial"/>
                <a:cs typeface="Arial"/>
                <a:sym typeface="Arial"/>
              </a:rPr>
              <a:t>(</a:t>
            </a:r>
            <a:r>
              <a:rPr lang="en-CA" sz="1100" b="0" i="0" u="none" strike="noStrike" cap="none" dirty="0" err="1">
                <a:solidFill>
                  <a:srgbClr val="000000"/>
                </a:solidFill>
                <a:effectLst/>
                <a:latin typeface="Arial"/>
                <a:ea typeface="Arial"/>
                <a:cs typeface="Arial"/>
                <a:sym typeface="Arial"/>
              </a:rPr>
              <a:t>wasHidden</a:t>
            </a:r>
            <a:r>
              <a:rPr lang="en-CA" sz="1100" b="0" i="0" u="none" strike="noStrike" cap="none" dirty="0">
                <a:solidFill>
                  <a:srgbClr val="000000"/>
                </a:solidFill>
                <a:effectLst/>
                <a:latin typeface="Arial"/>
                <a:ea typeface="Arial"/>
                <a:cs typeface="Arial"/>
                <a:sym typeface="Arial"/>
              </a:rPr>
              <a:t> =&gt; !</a:t>
            </a:r>
            <a:r>
              <a:rPr lang="en-CA" sz="1100" b="0" i="0" u="none" strike="noStrike" cap="none" dirty="0" err="1">
                <a:solidFill>
                  <a:srgbClr val="000000"/>
                </a:solidFill>
                <a:effectLst/>
                <a:latin typeface="Arial"/>
                <a:ea typeface="Arial"/>
                <a:cs typeface="Arial"/>
                <a:sym typeface="Arial"/>
              </a:rPr>
              <a:t>wasHidden</a:t>
            </a:r>
            <a:r>
              <a:rPr lang="en-CA" sz="1100" b="0" i="0" u="none" strike="noStrike" cap="none" dirty="0">
                <a:solidFill>
                  <a:srgbClr val="000000"/>
                </a:solidFill>
                <a:effectLst/>
                <a:latin typeface="Arial"/>
                <a:ea typeface="Arial"/>
                <a:cs typeface="Arial"/>
                <a:sym typeface="Arial"/>
              </a:rPr>
              <a:t>);</a:t>
            </a:r>
          </a:p>
          <a:p>
            <a:pPr marL="158750" indent="0">
              <a:buNone/>
            </a:pPr>
            <a:r>
              <a:rPr lang="en-CA"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7bc0a4b21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7bc0a4b21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7b7fcc622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7b7fcc622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reactjs.org/docs/handling-events.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reactjs.org/docs/events.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jsbin.com/luqihed/edit?html,js,console,output"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jsbin.com/xetaxar/edit?html,js,console,outpu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jsfiddle.net/dgmouris/ucLz3aj0/8/"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jsfiddle.net/dgmouris/d1a8sc5v/15/"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jsfiddle.net/dgmouris/uabdyh9g/3/"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eactjs.org/docs/hooks-state.html" TargetMode="External"/><Relationship Id="rId7" Type="http://schemas.openxmlformats.org/officeDocument/2006/relationships/hyperlink" Target="https://reactjs.org/docs/events.html"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hyperlink" Target="https://reactjs.org/docs/handling-events.html" TargetMode="External"/><Relationship Id="rId5" Type="http://schemas.openxmlformats.org/officeDocument/2006/relationships/hyperlink" Target="https://reactjs.org/docs/state-and-lifecycle.html" TargetMode="External"/><Relationship Id="rId4" Type="http://schemas.openxmlformats.org/officeDocument/2006/relationships/hyperlink" Target="https://reactjs.org/docs/hooks-intro.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28877" y="1219800"/>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Events and React State Fundamentals</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37025" y="724200"/>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Events</a:t>
            </a:r>
            <a:endParaRPr sz="1600"/>
          </a:p>
          <a:p>
            <a:pPr marL="914400" lvl="1" indent="-330200" algn="l" rtl="0">
              <a:spcBef>
                <a:spcPts val="0"/>
              </a:spcBef>
              <a:spcAft>
                <a:spcPts val="0"/>
              </a:spcAft>
              <a:buSzPts val="1600"/>
              <a:buAutoNum type="alphaLcPeriod"/>
            </a:pPr>
            <a:r>
              <a:rPr lang="en" sz="1600"/>
              <a:t>Introduction</a:t>
            </a:r>
            <a:endParaRPr sz="1600"/>
          </a:p>
          <a:p>
            <a:pPr marL="914400" lvl="1" indent="-330200" algn="l" rtl="0">
              <a:spcBef>
                <a:spcPts val="0"/>
              </a:spcBef>
              <a:spcAft>
                <a:spcPts val="0"/>
              </a:spcAft>
              <a:buSzPts val="1600"/>
              <a:buAutoNum type="alphaLcPeriod"/>
            </a:pPr>
            <a:r>
              <a:rPr lang="en" sz="1600"/>
              <a:t>Examples</a:t>
            </a:r>
            <a:endParaRPr sz="1600"/>
          </a:p>
          <a:p>
            <a:pPr marL="457200" lvl="0" indent="-330200" algn="l" rtl="0">
              <a:spcBef>
                <a:spcPts val="0"/>
              </a:spcBef>
              <a:spcAft>
                <a:spcPts val="0"/>
              </a:spcAft>
              <a:buSzPts val="1600"/>
              <a:buAutoNum type="arabicPeriod"/>
            </a:pPr>
            <a:r>
              <a:rPr lang="en" sz="1600"/>
              <a:t>State</a:t>
            </a:r>
            <a:endParaRPr sz="1600"/>
          </a:p>
          <a:p>
            <a:pPr marL="914400" lvl="1" indent="-330200" algn="l" rtl="0">
              <a:spcBef>
                <a:spcPts val="0"/>
              </a:spcBef>
              <a:spcAft>
                <a:spcPts val="0"/>
              </a:spcAft>
              <a:buSzPts val="1600"/>
              <a:buAutoNum type="alphaLcPeriod"/>
            </a:pPr>
            <a:r>
              <a:rPr lang="en" sz="1600"/>
              <a:t>What is that?</a:t>
            </a:r>
            <a:endParaRPr sz="1600"/>
          </a:p>
          <a:p>
            <a:pPr marL="914400" lvl="1" indent="-330200" algn="l" rtl="0">
              <a:spcBef>
                <a:spcPts val="0"/>
              </a:spcBef>
              <a:spcAft>
                <a:spcPts val="0"/>
              </a:spcAft>
              <a:buSzPts val="1600"/>
              <a:buAutoNum type="alphaLcPeriod"/>
            </a:pPr>
            <a:r>
              <a:rPr lang="en" sz="1600"/>
              <a:t>Hooks and how they Work.</a:t>
            </a:r>
            <a:endParaRPr sz="1600"/>
          </a:p>
          <a:p>
            <a:pPr marL="914400" lvl="1" indent="-330200" algn="l" rtl="0">
              <a:spcBef>
                <a:spcPts val="0"/>
              </a:spcBef>
              <a:spcAft>
                <a:spcPts val="0"/>
              </a:spcAft>
              <a:buSzPts val="1600"/>
              <a:buAutoNum type="alphaLcPeriod"/>
            </a:pPr>
            <a:r>
              <a:rPr lang="en" sz="1600"/>
              <a:t>Examples</a:t>
            </a:r>
            <a:endParaRPr sz="1600"/>
          </a:p>
          <a:p>
            <a:pPr marL="457200" lvl="0" indent="-330200" algn="l" rtl="0">
              <a:spcBef>
                <a:spcPts val="0"/>
              </a:spcBef>
              <a:spcAft>
                <a:spcPts val="0"/>
              </a:spcAft>
              <a:buSzPts val="1600"/>
              <a:buAutoNum type="arabicPeriod"/>
            </a:pPr>
            <a:r>
              <a:rPr lang="en" sz="1600"/>
              <a:t>JSX Conditionals</a:t>
            </a:r>
            <a:endParaRPr sz="1600"/>
          </a:p>
          <a:p>
            <a:pPr marL="914400" lvl="1" indent="-330200" algn="l" rtl="0">
              <a:spcBef>
                <a:spcPts val="0"/>
              </a:spcBef>
              <a:spcAft>
                <a:spcPts val="0"/>
              </a:spcAft>
              <a:buSzPts val="1600"/>
              <a:buAutoNum type="alphaLcPeriod"/>
            </a:pPr>
            <a:r>
              <a:rPr lang="en" sz="1600"/>
              <a:t>Ternary</a:t>
            </a:r>
            <a:endParaRPr sz="1600"/>
          </a:p>
          <a:p>
            <a:pPr marL="914400" lvl="1" indent="-330200" algn="l" rtl="0">
              <a:spcBef>
                <a:spcPts val="0"/>
              </a:spcBef>
              <a:spcAft>
                <a:spcPts val="0"/>
              </a:spcAft>
              <a:buSzPts val="1600"/>
              <a:buAutoNum type="alphaLcPeriod"/>
            </a:pPr>
            <a:r>
              <a:rPr lang="en" sz="1600"/>
              <a:t>Short Circuits</a:t>
            </a:r>
            <a:endParaRPr sz="1600"/>
          </a:p>
          <a:p>
            <a:pPr marL="457200" lvl="0" indent="-330200" algn="l" rtl="0">
              <a:spcBef>
                <a:spcPts val="0"/>
              </a:spcBef>
              <a:spcAft>
                <a:spcPts val="0"/>
              </a:spcAft>
              <a:buSzPts val="1600"/>
              <a:buAutoNum type="arabicPeriod"/>
            </a:pPr>
            <a:r>
              <a:rPr lang="en" sz="1600"/>
              <a:t>Example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Roboto"/>
              <a:buAutoNum type="arabicPeriod"/>
            </a:pPr>
            <a:r>
              <a:rPr lang="en-US" dirty="0"/>
              <a:t>Pay Attention and ask questions while on session.</a:t>
            </a:r>
          </a:p>
          <a:p>
            <a:pPr>
              <a:buFont typeface="Roboto"/>
              <a:buAutoNum type="arabicPeriod"/>
            </a:pPr>
            <a:r>
              <a:rPr lang="en-US" dirty="0"/>
              <a:t>Follow along the coding exercises.</a:t>
            </a:r>
          </a:p>
          <a:p>
            <a:pPr>
              <a:buFont typeface="Roboto"/>
              <a:buAutoNum type="arabicPeriod"/>
            </a:pPr>
            <a:r>
              <a:rPr lang="en-US" dirty="0"/>
              <a:t>Focus on the task on hand, don’t go wandering.</a:t>
            </a:r>
          </a:p>
          <a:p>
            <a:pPr>
              <a:buFont typeface="Roboto"/>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a:buFont typeface="Roboto"/>
              <a:buAutoNum type="arabicPeriod"/>
            </a:pPr>
            <a:r>
              <a:rPr lang="en-US" dirty="0"/>
              <a:t>No cheating on exams.</a:t>
            </a:r>
          </a:p>
          <a:p>
            <a:pPr>
              <a:buFont typeface="Roboto"/>
              <a:buAutoNum type="arabicPeriod"/>
            </a:pPr>
            <a:r>
              <a:rPr lang="en-US" dirty="0"/>
              <a:t>Complete the final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Events</a:t>
            </a:r>
            <a:endParaRPr/>
          </a:p>
        </p:txBody>
      </p:sp>
      <p:sp>
        <p:nvSpPr>
          <p:cNvPr id="87" name="Google Shape;87;p17"/>
          <p:cNvSpPr txBox="1">
            <a:spLocks noGrp="1"/>
          </p:cNvSpPr>
          <p:nvPr>
            <p:ph type="body" idx="1"/>
          </p:nvPr>
        </p:nvSpPr>
        <p:spPr>
          <a:xfrm>
            <a:off x="387900" y="1261225"/>
            <a:ext cx="8368200" cy="36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Before we talk about the hooks and modifying state, let's talk about react events and how they relate to javascript events.</a:t>
            </a:r>
            <a:endParaRPr sz="1400" dirty="0"/>
          </a:p>
          <a:p>
            <a:pPr marL="0" lvl="0" indent="0" algn="l" rtl="0">
              <a:spcBef>
                <a:spcPts val="1600"/>
              </a:spcBef>
              <a:spcAft>
                <a:spcPts val="0"/>
              </a:spcAft>
              <a:buNone/>
            </a:pPr>
            <a:r>
              <a:rPr lang="en" sz="1400" dirty="0"/>
              <a:t>In html you have the attributes "onclick", and "onkeyup" as well as any of the other events that you have in javascript except for "on" in front of it. ex. </a:t>
            </a:r>
            <a:endParaRPr sz="1400" dirty="0"/>
          </a:p>
          <a:p>
            <a:pPr marL="0" lvl="0" indent="0" algn="l" rtl="0">
              <a:spcBef>
                <a:spcPts val="1600"/>
              </a:spcBef>
              <a:spcAft>
                <a:spcPts val="0"/>
              </a:spcAft>
              <a:buNone/>
            </a:pPr>
            <a:endParaRPr sz="1400" dirty="0"/>
          </a:p>
          <a:p>
            <a:pPr marL="0" lvl="0" indent="0" algn="l" rtl="0">
              <a:spcBef>
                <a:spcPts val="1600"/>
              </a:spcBef>
              <a:spcAft>
                <a:spcPts val="1600"/>
              </a:spcAft>
              <a:buNone/>
            </a:pPr>
            <a:r>
              <a:rPr lang="en" sz="1400" dirty="0"/>
              <a:t>In react it's pretty similar but you use Reacts event system to create use it, as well the syntax is using camel case which triggers reacts event system.</a:t>
            </a:r>
            <a:br>
              <a:rPr lang="en" sz="1400" dirty="0"/>
            </a:br>
            <a:br>
              <a:rPr lang="en" sz="1400" dirty="0"/>
            </a:br>
            <a:br>
              <a:rPr lang="en" sz="1400" dirty="0"/>
            </a:br>
            <a:endParaRPr sz="1400" dirty="0"/>
          </a:p>
        </p:txBody>
      </p:sp>
      <p:sp>
        <p:nvSpPr>
          <p:cNvPr id="88" name="Google Shape;88;p17"/>
          <p:cNvSpPr txBox="1"/>
          <p:nvPr/>
        </p:nvSpPr>
        <p:spPr>
          <a:xfrm>
            <a:off x="932475" y="2626725"/>
            <a:ext cx="6342300" cy="4515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&lt;button onclick=</a:t>
            </a:r>
            <a:r>
              <a:rPr lang="en" sz="1150">
                <a:solidFill>
                  <a:srgbClr val="9CCC65"/>
                </a:solidFill>
                <a:latin typeface="Roboto Mono"/>
                <a:ea typeface="Roboto Mono"/>
                <a:cs typeface="Roboto Mono"/>
                <a:sym typeface="Roboto Mono"/>
              </a:rPr>
              <a:t>"someJSFunction()"</a:t>
            </a:r>
            <a:r>
              <a:rPr lang="en" sz="1150">
                <a:solidFill>
                  <a:srgbClr val="ECEFF1"/>
                </a:solidFill>
                <a:latin typeface="Roboto Mono"/>
                <a:ea typeface="Roboto Mono"/>
                <a:cs typeface="Roboto Mono"/>
                <a:sym typeface="Roboto Mono"/>
              </a:rPr>
              <a:t>&gt;</a:t>
            </a:r>
            <a:r>
              <a:rPr lang="en" sz="1150">
                <a:solidFill>
                  <a:srgbClr val="CE93D8"/>
                </a:solidFill>
                <a:latin typeface="Roboto Mono"/>
                <a:ea typeface="Roboto Mono"/>
                <a:cs typeface="Roboto Mono"/>
                <a:sym typeface="Roboto Mono"/>
              </a:rPr>
              <a:t>Clicker</a:t>
            </a:r>
            <a:r>
              <a:rPr lang="en" sz="1150">
                <a:solidFill>
                  <a:srgbClr val="ECEFF1"/>
                </a:solidFill>
                <a:latin typeface="Roboto Mono"/>
                <a:ea typeface="Roboto Mono"/>
                <a:cs typeface="Roboto Mono"/>
                <a:sym typeface="Roboto Mono"/>
              </a:rPr>
              <a:t>&lt;/button&gt;</a:t>
            </a:r>
            <a:endParaRPr sz="1150">
              <a:solidFill>
                <a:srgbClr val="ECEFF1"/>
              </a:solidFill>
              <a:latin typeface="Roboto Mono"/>
              <a:ea typeface="Roboto Mono"/>
              <a:cs typeface="Roboto Mono"/>
              <a:sym typeface="Roboto Mono"/>
            </a:endParaRPr>
          </a:p>
        </p:txBody>
      </p:sp>
      <p:sp>
        <p:nvSpPr>
          <p:cNvPr id="89" name="Google Shape;89;p17"/>
          <p:cNvSpPr txBox="1"/>
          <p:nvPr/>
        </p:nvSpPr>
        <p:spPr>
          <a:xfrm>
            <a:off x="932475" y="3715150"/>
            <a:ext cx="6705000" cy="5106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&lt;button onClick={someJSFunction}&gt;</a:t>
            </a:r>
            <a:r>
              <a:rPr lang="en" sz="1150">
                <a:solidFill>
                  <a:srgbClr val="CE93D8"/>
                </a:solidFill>
                <a:latin typeface="Roboto Mono"/>
                <a:ea typeface="Roboto Mono"/>
                <a:cs typeface="Roboto Mono"/>
                <a:sym typeface="Roboto Mono"/>
              </a:rPr>
              <a:t>Clicker</a:t>
            </a:r>
            <a:r>
              <a:rPr lang="en" sz="1150">
                <a:solidFill>
                  <a:srgbClr val="ECEFF1"/>
                </a:solidFill>
                <a:latin typeface="Roboto Mono"/>
                <a:ea typeface="Roboto Mono"/>
                <a:cs typeface="Roboto Mono"/>
                <a:sym typeface="Roboto Mono"/>
              </a:rPr>
              <a:t>&lt;/button&gt;</a:t>
            </a:r>
            <a:endParaRPr sz="1150">
              <a:solidFill>
                <a:srgbClr val="ECEFF1"/>
              </a:solidFill>
              <a:latin typeface="Roboto Mono"/>
              <a:ea typeface="Roboto Mono"/>
              <a:cs typeface="Roboto Mono"/>
              <a:sym typeface="Roboto Mono"/>
            </a:endParaRPr>
          </a:p>
        </p:txBody>
      </p:sp>
      <p:sp>
        <p:nvSpPr>
          <p:cNvPr id="90" name="Google Shape;90;p17"/>
          <p:cNvSpPr txBox="1">
            <a:spLocks noGrp="1"/>
          </p:cNvSpPr>
          <p:nvPr>
            <p:ph type="body" idx="1"/>
          </p:nvPr>
        </p:nvSpPr>
        <p:spPr>
          <a:xfrm>
            <a:off x="5631950" y="3963550"/>
            <a:ext cx="3276600" cy="1028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a:t>Documentation:</a:t>
            </a:r>
            <a:br>
              <a:rPr lang="en" sz="1400"/>
            </a:br>
            <a:r>
              <a:rPr lang="en" sz="1400" u="sng">
                <a:solidFill>
                  <a:schemeClr val="hlink"/>
                </a:solidFill>
                <a:hlinkClick r:id="rId3"/>
              </a:rPr>
              <a:t>Handling Events in React</a:t>
            </a:r>
            <a:br>
              <a:rPr lang="en" sz="1400"/>
            </a:br>
            <a:r>
              <a:rPr lang="en" sz="1400" u="sng">
                <a:solidFill>
                  <a:schemeClr val="hlink"/>
                </a:solidFill>
                <a:hlinkClick r:id="rId4"/>
              </a:rPr>
              <a:t>Events Documentation in React</a:t>
            </a:r>
            <a:br>
              <a:rPr lang="en" sz="1400"/>
            </a:b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Events Examples</a:t>
            </a:r>
            <a:endParaRPr/>
          </a:p>
        </p:txBody>
      </p:sp>
      <p:sp>
        <p:nvSpPr>
          <p:cNvPr id="96" name="Google Shape;96;p18"/>
          <p:cNvSpPr txBox="1">
            <a:spLocks noGrp="1"/>
          </p:cNvSpPr>
          <p:nvPr>
            <p:ph type="body" idx="1"/>
          </p:nvPr>
        </p:nvSpPr>
        <p:spPr>
          <a:xfrm>
            <a:off x="458850" y="1365900"/>
            <a:ext cx="3276600" cy="36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u="sng">
                <a:solidFill>
                  <a:schemeClr val="hlink"/>
                </a:solidFill>
                <a:hlinkClick r:id="rId3"/>
              </a:rPr>
              <a:t>Example 1: Listening to Keys</a:t>
            </a:r>
            <a:br>
              <a:rPr lang="en" sz="1400" u="sng">
                <a:solidFill>
                  <a:schemeClr val="hlink"/>
                </a:solidFill>
                <a:hlinkClick r:id="rId3"/>
              </a:rPr>
            </a:br>
            <a:endParaRPr sz="1400"/>
          </a:p>
        </p:txBody>
      </p:sp>
      <p:sp>
        <p:nvSpPr>
          <p:cNvPr id="97" name="Google Shape;97;p18"/>
          <p:cNvSpPr txBox="1"/>
          <p:nvPr/>
        </p:nvSpPr>
        <p:spPr>
          <a:xfrm>
            <a:off x="498925" y="1735800"/>
            <a:ext cx="3371700" cy="234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changeHandler = (event) =&gt;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console.log(event.target.value);</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App</a:t>
            </a:r>
            <a:r>
              <a:rPr lang="en" sz="1150" dirty="0">
                <a:solidFill>
                  <a:srgbClr val="ECEFF1"/>
                </a:solidFill>
                <a:latin typeface="Roboto Mono"/>
                <a:ea typeface="Roboto Mono"/>
                <a:cs typeface="Roboto Mono"/>
                <a:sym typeface="Roboto Mono"/>
              </a:rPr>
              <a:t> = () =&gt;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return</a:t>
            </a:r>
            <a:r>
              <a:rPr lang="en" sz="1150" dirty="0">
                <a:solidFill>
                  <a:srgbClr val="ECEFF1"/>
                </a:solidFill>
                <a:latin typeface="Roboto Mono"/>
                <a:ea typeface="Roboto Mono"/>
                <a:cs typeface="Roboto Mono"/>
                <a:sym typeface="Roboto Mono"/>
              </a:rPr>
              <a:t> (&lt;div&gt;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&lt;h1&gt;</a:t>
            </a:r>
            <a:r>
              <a:rPr lang="en" sz="1150" dirty="0">
                <a:solidFill>
                  <a:srgbClr val="CE93D8"/>
                </a:solidFill>
                <a:latin typeface="Roboto Mono"/>
                <a:ea typeface="Roboto Mono"/>
                <a:cs typeface="Roboto Mono"/>
                <a:sym typeface="Roboto Mono"/>
              </a:rPr>
              <a:t>Second</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Example</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Event</a:t>
            </a:r>
            <a:r>
              <a:rPr lang="en" sz="1150" dirty="0">
                <a:solidFill>
                  <a:srgbClr val="ECEFF1"/>
                </a:solidFill>
                <a:latin typeface="Roboto Mono"/>
                <a:ea typeface="Roboto Mono"/>
                <a:cs typeface="Roboto Mono"/>
                <a:sym typeface="Roboto Mono"/>
              </a:rPr>
              <a:t>&lt;/h1&gt;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&lt;input</a:t>
            </a:r>
            <a:endParaRPr sz="1150" dirty="0">
              <a:solidFill>
                <a:srgbClr val="ECEFF1"/>
              </a:solidFill>
              <a:latin typeface="Roboto Mono"/>
              <a:ea typeface="Roboto Mono"/>
              <a:cs typeface="Roboto Mono"/>
              <a:sym typeface="Roboto Mono"/>
            </a:endParaRPr>
          </a:p>
          <a:p>
            <a:pPr lvl="0"/>
            <a:r>
              <a:rPr lang="en" sz="1150" dirty="0">
                <a:solidFill>
                  <a:srgbClr val="ECEFF1"/>
                </a:solidFill>
                <a:latin typeface="Roboto Mono"/>
                <a:ea typeface="Roboto Mono"/>
                <a:cs typeface="Roboto Mono"/>
                <a:sym typeface="Roboto Mono"/>
              </a:rPr>
              <a:t>      onChange={changeHandler}</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type=</a:t>
            </a:r>
            <a:r>
              <a:rPr lang="en" sz="1150" dirty="0">
                <a:solidFill>
                  <a:srgbClr val="9CCC65"/>
                </a:solidFill>
                <a:latin typeface="Roboto Mono"/>
                <a:ea typeface="Roboto Mono"/>
                <a:cs typeface="Roboto Mono"/>
                <a:sym typeface="Roboto Mono"/>
              </a:rPr>
              <a:t>"text"</a:t>
            </a:r>
            <a:r>
              <a:rPr lang="en" sz="1150" dirty="0">
                <a:solidFill>
                  <a:srgbClr val="ECEFF1"/>
                </a:solidFill>
                <a:latin typeface="Roboto Mono"/>
                <a:ea typeface="Roboto Mono"/>
                <a:cs typeface="Roboto Mono"/>
                <a:sym typeface="Roboto Mono"/>
              </a:rPr>
              <a:t>/&gt;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&lt;/div&gt;);</a:t>
            </a:r>
            <a:endParaRPr sz="1150" dirty="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p:txBody>
      </p:sp>
      <p:sp>
        <p:nvSpPr>
          <p:cNvPr id="98" name="Google Shape;98;p18"/>
          <p:cNvSpPr txBox="1">
            <a:spLocks noGrp="1"/>
          </p:cNvSpPr>
          <p:nvPr>
            <p:ph type="body" idx="1"/>
          </p:nvPr>
        </p:nvSpPr>
        <p:spPr>
          <a:xfrm>
            <a:off x="4399200" y="1365900"/>
            <a:ext cx="3276600" cy="36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u="sng">
                <a:solidFill>
                  <a:schemeClr val="hlink"/>
                </a:solidFill>
                <a:hlinkClick r:id="rId4"/>
              </a:rPr>
              <a:t>Example 2: Listening to clicks</a:t>
            </a:r>
            <a:endParaRPr sz="1400"/>
          </a:p>
        </p:txBody>
      </p:sp>
      <p:sp>
        <p:nvSpPr>
          <p:cNvPr id="99" name="Google Shape;99;p18"/>
          <p:cNvSpPr txBox="1"/>
          <p:nvPr/>
        </p:nvSpPr>
        <p:spPr>
          <a:xfrm>
            <a:off x="4325200" y="1735800"/>
            <a:ext cx="46191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linkClickHandler = (event)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F06292"/>
                </a:solidFill>
                <a:latin typeface="Roboto Mono"/>
                <a:ea typeface="Roboto Mono"/>
                <a:cs typeface="Roboto Mono"/>
                <a:sym typeface="Roboto Mono"/>
              </a:rPr>
              <a:t>// some event methods stay the same!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event.preventDefault();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event.stopPropagation();</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console.log(</a:t>
            </a:r>
            <a:r>
              <a:rPr lang="en" sz="1150">
                <a:solidFill>
                  <a:srgbClr val="9CCC65"/>
                </a:solidFill>
                <a:latin typeface="Roboto Mono"/>
                <a:ea typeface="Roboto Mono"/>
                <a:cs typeface="Roboto Mono"/>
                <a:sym typeface="Roboto Mono"/>
              </a:rPr>
              <a:t>"link clicked!"</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 = ()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&lt;h1&gt;</a:t>
            </a:r>
            <a:r>
              <a:rPr lang="en" sz="1150">
                <a:solidFill>
                  <a:srgbClr val="CE93D8"/>
                </a:solidFill>
                <a:latin typeface="Roboto Mono"/>
                <a:ea typeface="Roboto Mono"/>
                <a:cs typeface="Roboto Mono"/>
                <a:sym typeface="Roboto Mono"/>
              </a:rPr>
              <a:t>Example</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Click</a:t>
            </a:r>
            <a:r>
              <a:rPr lang="en" sz="1150">
                <a:solidFill>
                  <a:srgbClr val="ECEFF1"/>
                </a:solidFill>
                <a:latin typeface="Roboto Mono"/>
                <a:ea typeface="Roboto Mono"/>
                <a:cs typeface="Roboto Mono"/>
                <a:sym typeface="Roboto Mono"/>
              </a:rPr>
              <a:t> events&lt;/h1&gt;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&lt;a onClick={(event) =&gt; linkClickHandler(event)}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href=</a:t>
            </a:r>
            <a:r>
              <a:rPr lang="en" sz="1150">
                <a:solidFill>
                  <a:srgbClr val="9CCC65"/>
                </a:solidFill>
                <a:latin typeface="Roboto Mono"/>
                <a:ea typeface="Roboto Mono"/>
                <a:cs typeface="Roboto Mono"/>
                <a:sym typeface="Roboto Mono"/>
              </a:rPr>
              <a:t>"https://www.nhl.com"</a:t>
            </a:r>
            <a:r>
              <a:rPr lang="en" sz="1150">
                <a:solidFill>
                  <a:srgbClr val="ECEFF1"/>
                </a:solidFill>
                <a:latin typeface="Roboto Mono"/>
                <a:ea typeface="Roboto Mono"/>
                <a:cs typeface="Roboto Mono"/>
                <a:sym typeface="Roboto Mono"/>
              </a:rPr>
              <a:t>&gt;</a:t>
            </a:r>
            <a:r>
              <a:rPr lang="en" sz="1150">
                <a:solidFill>
                  <a:srgbClr val="CE93D8"/>
                </a:solidFill>
                <a:latin typeface="Roboto Mono"/>
                <a:ea typeface="Roboto Mono"/>
                <a:cs typeface="Roboto Mono"/>
                <a:sym typeface="Roboto Mono"/>
              </a:rPr>
              <a:t>External</a:t>
            </a:r>
            <a:r>
              <a:rPr lang="en" sz="1150">
                <a:solidFill>
                  <a:srgbClr val="ECEFF1"/>
                </a:solidFill>
                <a:latin typeface="Roboto Mono"/>
                <a:ea typeface="Roboto Mono"/>
                <a:cs typeface="Roboto Mono"/>
                <a:sym typeface="Roboto Mono"/>
              </a:rPr>
              <a:t> </a:t>
            </a:r>
            <a:r>
              <a:rPr lang="en" sz="1150">
                <a:solidFill>
                  <a:srgbClr val="CE93D8"/>
                </a:solidFill>
                <a:latin typeface="Roboto Mono"/>
                <a:ea typeface="Roboto Mono"/>
                <a:cs typeface="Roboto Mono"/>
                <a:sym typeface="Roboto Mono"/>
              </a:rPr>
              <a:t>Link</a:t>
            </a:r>
            <a:r>
              <a:rPr lang="en" sz="1150">
                <a:solidFill>
                  <a:srgbClr val="ECEFF1"/>
                </a:solidFill>
                <a:latin typeface="Roboto Mono"/>
                <a:ea typeface="Roboto Mono"/>
                <a:cs typeface="Roboto Mono"/>
                <a:sym typeface="Roboto Mono"/>
              </a:rPr>
              <a:t>&lt;/a&gt;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 What is that?</a:t>
            </a:r>
            <a:endParaRPr/>
          </a:p>
        </p:txBody>
      </p:sp>
      <p:sp>
        <p:nvSpPr>
          <p:cNvPr id="105" name="Google Shape;105;p19"/>
          <p:cNvSpPr txBox="1">
            <a:spLocks noGrp="1"/>
          </p:cNvSpPr>
          <p:nvPr>
            <p:ph type="body" idx="1"/>
          </p:nvPr>
        </p:nvSpPr>
        <p:spPr>
          <a:xfrm>
            <a:off x="387900" y="11850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So far we've rendered elements (say for component App) on our user interface (UI) basically the same way for all of our apps so far. Just like this:</a:t>
            </a:r>
            <a:br>
              <a:rPr lang="en" sz="1400" dirty="0"/>
            </a:br>
            <a:br>
              <a:rPr lang="en" sz="1400" dirty="0"/>
            </a:br>
            <a:br>
              <a:rPr lang="en" sz="1400" dirty="0"/>
            </a:br>
            <a:br>
              <a:rPr lang="en" sz="1400" dirty="0"/>
            </a:br>
            <a:r>
              <a:rPr lang="en" sz="1400" dirty="0"/>
              <a:t>With this we render a static UI on a page which is great, but isn't what we want to do all the time because not all pages are static. This means that we are going to be making pages “stateful” by modifying its’ state by changing what’s rendered on the page.</a:t>
            </a:r>
            <a:endParaRPr sz="1400" dirty="0"/>
          </a:p>
          <a:p>
            <a:pPr marL="0" lvl="0" indent="0" algn="l" rtl="0">
              <a:spcBef>
                <a:spcPts val="1600"/>
              </a:spcBef>
              <a:spcAft>
                <a:spcPts val="0"/>
              </a:spcAft>
              <a:buNone/>
            </a:pPr>
            <a:r>
              <a:rPr lang="en" sz="1400" dirty="0"/>
              <a:t>We want things to change on our UI and rerender our changes if we:</a:t>
            </a:r>
            <a:endParaRPr sz="1400" dirty="0"/>
          </a:p>
          <a:p>
            <a:pPr marL="457200" lvl="0" indent="-317500" algn="l" rtl="0">
              <a:spcBef>
                <a:spcPts val="1600"/>
              </a:spcBef>
              <a:spcAft>
                <a:spcPts val="0"/>
              </a:spcAft>
              <a:buSzPts val="1400"/>
              <a:buChar char="●"/>
            </a:pPr>
            <a:r>
              <a:rPr lang="en" sz="1400" dirty="0"/>
              <a:t>make a request to a server</a:t>
            </a:r>
            <a:endParaRPr sz="1400" dirty="0"/>
          </a:p>
          <a:p>
            <a:pPr marL="457200" lvl="0" indent="-317500" algn="l" rtl="0">
              <a:spcBef>
                <a:spcPts val="0"/>
              </a:spcBef>
              <a:spcAft>
                <a:spcPts val="0"/>
              </a:spcAft>
              <a:buSzPts val="1400"/>
              <a:buChar char="●"/>
            </a:pPr>
            <a:r>
              <a:rPr lang="en" sz="1400" dirty="0"/>
              <a:t>handle an event (Which we just looked at.)</a:t>
            </a:r>
            <a:endParaRPr sz="1400" dirty="0"/>
          </a:p>
          <a:p>
            <a:pPr marL="457200" lvl="0" indent="-317500" algn="l" rtl="0">
              <a:spcBef>
                <a:spcPts val="0"/>
              </a:spcBef>
              <a:spcAft>
                <a:spcPts val="0"/>
              </a:spcAft>
              <a:buSzPts val="1400"/>
              <a:buChar char="●"/>
            </a:pPr>
            <a:r>
              <a:rPr lang="en" sz="1400" dirty="0"/>
              <a:t>data (shared between components) that changes from another component re-renders our current component (we'll talk about this in the future.)</a:t>
            </a:r>
            <a:endParaRPr sz="1400" dirty="0"/>
          </a:p>
          <a:p>
            <a:pPr marL="0" lvl="0" indent="0" algn="l" rtl="0">
              <a:spcBef>
                <a:spcPts val="1600"/>
              </a:spcBef>
              <a:spcAft>
                <a:spcPts val="0"/>
              </a:spcAft>
              <a:buNone/>
            </a:pPr>
            <a:endParaRPr sz="1400" dirty="0"/>
          </a:p>
          <a:p>
            <a:pPr marL="0" lvl="0" indent="0" algn="l" rtl="0">
              <a:spcBef>
                <a:spcPts val="1600"/>
              </a:spcBef>
              <a:spcAft>
                <a:spcPts val="0"/>
              </a:spcAft>
              <a:buNone/>
            </a:pPr>
            <a:endParaRPr sz="1400" dirty="0"/>
          </a:p>
          <a:p>
            <a:pPr marL="0" lvl="0" indent="0" algn="l" rtl="0">
              <a:spcBef>
                <a:spcPts val="1600"/>
              </a:spcBef>
              <a:spcAft>
                <a:spcPts val="1600"/>
              </a:spcAft>
              <a:buNone/>
            </a:pPr>
            <a:endParaRPr sz="1400" dirty="0"/>
          </a:p>
        </p:txBody>
      </p:sp>
      <p:sp>
        <p:nvSpPr>
          <p:cNvPr id="106" name="Google Shape;106;p19"/>
          <p:cNvSpPr txBox="1"/>
          <p:nvPr/>
        </p:nvSpPr>
        <p:spPr>
          <a:xfrm>
            <a:off x="821475" y="1764375"/>
            <a:ext cx="7104600" cy="55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domContainer = document.querySelector(</a:t>
            </a:r>
            <a:r>
              <a:rPr lang="en" sz="1150">
                <a:solidFill>
                  <a:srgbClr val="9CCC65"/>
                </a:solidFill>
                <a:latin typeface="Roboto Mono"/>
                <a:ea typeface="Roboto Mono"/>
                <a:cs typeface="Roboto Mono"/>
                <a:sym typeface="Roboto Mono"/>
              </a:rPr>
              <a:t>"#react-container"</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CE93D8"/>
                </a:solidFill>
                <a:latin typeface="Roboto Mono"/>
                <a:ea typeface="Roboto Mono"/>
                <a:cs typeface="Roboto Mono"/>
                <a:sym typeface="Roboto Mono"/>
              </a:rPr>
              <a:t>ReactDOM</a:t>
            </a:r>
            <a:r>
              <a:rPr lang="en" sz="1150">
                <a:solidFill>
                  <a:srgbClr val="ECEFF1"/>
                </a:solidFill>
                <a:latin typeface="Roboto Mono"/>
                <a:ea typeface="Roboto Mono"/>
                <a:cs typeface="Roboto Mono"/>
                <a:sym typeface="Roboto Mono"/>
              </a:rPr>
              <a:t>.render(&lt;</a:t>
            </a:r>
            <a:r>
              <a:rPr lang="en" sz="1150">
                <a:solidFill>
                  <a:srgbClr val="CE93D8"/>
                </a:solidFill>
                <a:latin typeface="Roboto Mono"/>
                <a:ea typeface="Roboto Mono"/>
                <a:cs typeface="Roboto Mono"/>
                <a:sym typeface="Roboto Mono"/>
              </a:rPr>
              <a:t>App</a:t>
            </a:r>
            <a:r>
              <a:rPr lang="en" sz="1150">
                <a:solidFill>
                  <a:srgbClr val="ECEFF1"/>
                </a:solidFill>
                <a:latin typeface="Roboto Mono"/>
                <a:ea typeface="Roboto Mono"/>
                <a:cs typeface="Roboto Mono"/>
                <a:sym typeface="Roboto Mono"/>
              </a:rPr>
              <a:t>/&gt;, domContainer);</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 Hooks and how they Work.</a:t>
            </a:r>
            <a:endParaRPr/>
          </a:p>
        </p:txBody>
      </p:sp>
      <p:sp>
        <p:nvSpPr>
          <p:cNvPr id="112" name="Google Shape;112;p20"/>
          <p:cNvSpPr txBox="1">
            <a:spLocks noGrp="1"/>
          </p:cNvSpPr>
          <p:nvPr>
            <p:ph type="body" idx="1"/>
          </p:nvPr>
        </p:nvSpPr>
        <p:spPr>
          <a:xfrm>
            <a:off x="387900" y="1270775"/>
            <a:ext cx="8553600" cy="290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Before we just created static function based components. With use State you can create a stateful components so they will have values that update the UI.</a:t>
            </a:r>
            <a:endParaRPr sz="1200"/>
          </a:p>
          <a:p>
            <a:pPr marL="0" lvl="0" indent="0" algn="l" rtl="0">
              <a:spcBef>
                <a:spcPts val="1600"/>
              </a:spcBef>
              <a:spcAft>
                <a:spcPts val="0"/>
              </a:spcAft>
              <a:buNone/>
            </a:pPr>
            <a:r>
              <a:rPr lang="en" sz="1200"/>
              <a:t>What do they look like? All useState values will look like the following.</a:t>
            </a:r>
            <a:endParaRPr sz="1200"/>
          </a:p>
          <a:p>
            <a:pPr marL="0" lvl="0" indent="0" algn="l" rtl="0">
              <a:spcBef>
                <a:spcPts val="1600"/>
              </a:spcBef>
              <a:spcAft>
                <a:spcPts val="0"/>
              </a:spcAft>
              <a:buNone/>
            </a:pPr>
            <a:endParaRPr sz="1200"/>
          </a:p>
          <a:p>
            <a:pPr marL="457200" lvl="0" indent="-304800" algn="l" rtl="0">
              <a:spcBef>
                <a:spcPts val="1600"/>
              </a:spcBef>
              <a:spcAft>
                <a:spcPts val="0"/>
              </a:spcAft>
              <a:buSzPts val="1200"/>
              <a:buChar char="●"/>
            </a:pPr>
            <a:r>
              <a:rPr lang="en" sz="1200">
                <a:solidFill>
                  <a:srgbClr val="ECEFF1"/>
                </a:solidFill>
                <a:latin typeface="Roboto Mono"/>
                <a:ea typeface="Roboto Mono"/>
                <a:cs typeface="Roboto Mono"/>
                <a:sym typeface="Roboto Mono"/>
              </a:rPr>
              <a:t>inputValue</a:t>
            </a:r>
            <a:r>
              <a:rPr lang="en" sz="1200"/>
              <a:t> is the value that you're making "stateful"</a:t>
            </a:r>
            <a:endParaRPr sz="1200"/>
          </a:p>
          <a:p>
            <a:pPr marL="457200" lvl="0" indent="-304800" algn="l" rtl="0">
              <a:spcBef>
                <a:spcPts val="0"/>
              </a:spcBef>
              <a:spcAft>
                <a:spcPts val="0"/>
              </a:spcAft>
              <a:buSzPts val="1200"/>
              <a:buChar char="●"/>
            </a:pPr>
            <a:r>
              <a:rPr lang="en" sz="1200">
                <a:solidFill>
                  <a:srgbClr val="ECEFF1"/>
                </a:solidFill>
                <a:latin typeface="Roboto Mono"/>
                <a:ea typeface="Roboto Mono"/>
                <a:cs typeface="Roboto Mono"/>
                <a:sym typeface="Roboto Mono"/>
              </a:rPr>
              <a:t>setInputValue</a:t>
            </a:r>
            <a:r>
              <a:rPr lang="en" sz="1200"/>
              <a:t> is a function that allows you to set the inputValue to a new value, and how you trigger the state change.</a:t>
            </a:r>
            <a:endParaRPr sz="1200"/>
          </a:p>
          <a:p>
            <a:pPr marL="457200" lvl="0" indent="-304800" algn="l" rtl="0">
              <a:spcBef>
                <a:spcPts val="0"/>
              </a:spcBef>
              <a:spcAft>
                <a:spcPts val="0"/>
              </a:spcAft>
              <a:buSzPts val="1200"/>
              <a:buChar char="●"/>
            </a:pPr>
            <a:r>
              <a:rPr lang="en" sz="1200">
                <a:solidFill>
                  <a:srgbClr val="CE93D8"/>
                </a:solidFill>
                <a:latin typeface="Roboto Mono"/>
                <a:ea typeface="Roboto Mono"/>
                <a:cs typeface="Roboto Mono"/>
                <a:sym typeface="Roboto Mono"/>
              </a:rPr>
              <a:t>React</a:t>
            </a:r>
            <a:r>
              <a:rPr lang="en" sz="1200">
                <a:solidFill>
                  <a:srgbClr val="ECEFF1"/>
                </a:solidFill>
                <a:latin typeface="Roboto Mono"/>
                <a:ea typeface="Roboto Mono"/>
                <a:cs typeface="Roboto Mono"/>
                <a:sym typeface="Roboto Mono"/>
              </a:rPr>
              <a:t>.useState</a:t>
            </a:r>
            <a:r>
              <a:rPr lang="en" sz="1200"/>
              <a:t> (or just useState once we import it from React from ES6 classes) takes in one parameter, which is the initial value. In this example it’s: </a:t>
            </a:r>
            <a:r>
              <a:rPr lang="en" sz="1200">
                <a:solidFill>
                  <a:srgbClr val="9CCC65"/>
                </a:solidFill>
                <a:latin typeface="Roboto Mono"/>
                <a:ea typeface="Roboto Mono"/>
                <a:cs typeface="Roboto Mono"/>
                <a:sym typeface="Roboto Mono"/>
              </a:rPr>
              <a:t>"&lt;Initial Value&gt;"</a:t>
            </a:r>
            <a:r>
              <a:rPr lang="en" sz="1200"/>
              <a:t> </a:t>
            </a:r>
            <a:endParaRPr sz="1200"/>
          </a:p>
          <a:p>
            <a:pPr marL="0" lvl="0" indent="0" algn="l" rtl="0">
              <a:spcBef>
                <a:spcPts val="1600"/>
              </a:spcBef>
              <a:spcAft>
                <a:spcPts val="0"/>
              </a:spcAft>
              <a:buNone/>
            </a:pPr>
            <a:r>
              <a:rPr lang="en" sz="1200"/>
              <a:t>Rules of useState:</a:t>
            </a:r>
            <a:endParaRPr sz="1200"/>
          </a:p>
          <a:p>
            <a:pPr marL="457200" lvl="0" indent="-304800" algn="l" rtl="0">
              <a:spcBef>
                <a:spcPts val="1600"/>
              </a:spcBef>
              <a:spcAft>
                <a:spcPts val="0"/>
              </a:spcAft>
              <a:buSzPts val="1200"/>
              <a:buAutoNum type="arabicPeriod"/>
            </a:pPr>
            <a:r>
              <a:rPr lang="en" sz="1200"/>
              <a:t>You need to call </a:t>
            </a:r>
            <a:r>
              <a:rPr lang="en" sz="1200">
                <a:solidFill>
                  <a:srgbClr val="ECEFF1"/>
                </a:solidFill>
                <a:latin typeface="Roboto Mono"/>
                <a:ea typeface="Roboto Mono"/>
                <a:cs typeface="Roboto Mono"/>
                <a:sym typeface="Roboto Mono"/>
              </a:rPr>
              <a:t>useState</a:t>
            </a:r>
            <a:r>
              <a:rPr lang="en" sz="1200"/>
              <a:t> in root of the function. IE. you can't create them within a funciton or event handler.</a:t>
            </a:r>
            <a:endParaRPr sz="1200"/>
          </a:p>
          <a:p>
            <a:pPr marL="457200" lvl="0" indent="-304800" algn="l" rtl="0">
              <a:spcBef>
                <a:spcPts val="0"/>
              </a:spcBef>
              <a:spcAft>
                <a:spcPts val="0"/>
              </a:spcAft>
              <a:buSzPts val="1200"/>
              <a:buAutoNum type="arabicPeriod"/>
            </a:pPr>
            <a:r>
              <a:rPr lang="en" sz="1200"/>
              <a:t>using the "</a:t>
            </a:r>
            <a:r>
              <a:rPr lang="en" sz="1150">
                <a:solidFill>
                  <a:srgbClr val="ECEFF1"/>
                </a:solidFill>
                <a:latin typeface="Roboto Mono"/>
                <a:ea typeface="Roboto Mono"/>
                <a:cs typeface="Roboto Mono"/>
                <a:sym typeface="Roboto Mono"/>
              </a:rPr>
              <a:t>setInputValue</a:t>
            </a:r>
            <a:r>
              <a:rPr lang="en" sz="1200"/>
              <a:t>" is what you would call in your functions, event handlers, and Promises within functions.</a:t>
            </a:r>
            <a:endParaRPr sz="1200"/>
          </a:p>
          <a:p>
            <a:pPr marL="0" lvl="0" indent="0" algn="l" rtl="0">
              <a:spcBef>
                <a:spcPts val="1600"/>
              </a:spcBef>
              <a:spcAft>
                <a:spcPts val="1600"/>
              </a:spcAft>
              <a:buNone/>
            </a:pPr>
            <a:endParaRPr sz="1200"/>
          </a:p>
        </p:txBody>
      </p:sp>
      <p:sp>
        <p:nvSpPr>
          <p:cNvPr id="113" name="Google Shape;113;p20"/>
          <p:cNvSpPr txBox="1"/>
          <p:nvPr/>
        </p:nvSpPr>
        <p:spPr>
          <a:xfrm>
            <a:off x="458600" y="2233400"/>
            <a:ext cx="6584400" cy="3315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[inputValue, setInputValue] = </a:t>
            </a:r>
            <a:r>
              <a:rPr lang="en" sz="1150">
                <a:solidFill>
                  <a:srgbClr val="CE93D8"/>
                </a:solidFill>
                <a:latin typeface="Roboto Mono"/>
                <a:ea typeface="Roboto Mono"/>
                <a:cs typeface="Roboto Mono"/>
                <a:sym typeface="Roboto Mono"/>
              </a:rPr>
              <a:t>React</a:t>
            </a:r>
            <a:r>
              <a:rPr lang="en" sz="1150">
                <a:solidFill>
                  <a:srgbClr val="ECEFF1"/>
                </a:solidFill>
                <a:latin typeface="Roboto Mono"/>
                <a:ea typeface="Roboto Mono"/>
                <a:cs typeface="Roboto Mono"/>
                <a:sym typeface="Roboto Mono"/>
              </a:rPr>
              <a:t>.useState(</a:t>
            </a:r>
            <a:r>
              <a:rPr lang="en" sz="1150">
                <a:solidFill>
                  <a:srgbClr val="9CCC65"/>
                </a:solidFill>
                <a:latin typeface="Roboto Mono"/>
                <a:ea typeface="Roboto Mono"/>
                <a:cs typeface="Roboto Mono"/>
                <a:sym typeface="Roboto Mono"/>
              </a:rPr>
              <a:t>"&lt;Initial Value&gt;"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 Hook Examples 1</a:t>
            </a:r>
            <a:endParaRPr/>
          </a:p>
        </p:txBody>
      </p:sp>
      <p:sp>
        <p:nvSpPr>
          <p:cNvPr id="119" name="Google Shape;119;p21"/>
          <p:cNvSpPr txBox="1"/>
          <p:nvPr/>
        </p:nvSpPr>
        <p:spPr>
          <a:xfrm>
            <a:off x="782500" y="1736775"/>
            <a:ext cx="5305800" cy="251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App</a:t>
            </a:r>
            <a:r>
              <a:rPr lang="en" sz="1150" dirty="0">
                <a:solidFill>
                  <a:srgbClr val="ECEFF1"/>
                </a:solidFill>
                <a:latin typeface="Roboto Mono"/>
                <a:ea typeface="Roboto Mono"/>
                <a:cs typeface="Roboto Mono"/>
                <a:sym typeface="Roboto Mono"/>
              </a:rPr>
              <a:t> = () =&gt;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  const</a:t>
            </a:r>
            <a:r>
              <a:rPr lang="en" sz="1150" dirty="0">
                <a:solidFill>
                  <a:srgbClr val="ECEFF1"/>
                </a:solidFill>
                <a:latin typeface="Roboto Mono"/>
                <a:ea typeface="Roboto Mono"/>
                <a:cs typeface="Roboto Mono"/>
                <a:sym typeface="Roboto Mono"/>
              </a:rPr>
              <a:t> [inputValue, setInputValue] = </a:t>
            </a:r>
            <a:r>
              <a:rPr lang="en" sz="1150" dirty="0">
                <a:solidFill>
                  <a:srgbClr val="CE93D8"/>
                </a:solidFill>
                <a:latin typeface="Roboto Mono"/>
                <a:ea typeface="Roboto Mono"/>
                <a:cs typeface="Roboto Mono"/>
                <a:sym typeface="Roboto Mono"/>
              </a:rPr>
              <a:t>React</a:t>
            </a:r>
            <a:r>
              <a:rPr lang="en" sz="1150" dirty="0">
                <a:solidFill>
                  <a:srgbClr val="ECEFF1"/>
                </a:solidFill>
                <a:latin typeface="Roboto Mono"/>
                <a:ea typeface="Roboto Mono"/>
                <a:cs typeface="Roboto Mono"/>
                <a:sym typeface="Roboto Mono"/>
              </a:rPr>
              <a:t>.useState(</a:t>
            </a:r>
            <a:r>
              <a:rPr lang="en" sz="1150" dirty="0">
                <a:solidFill>
                  <a:srgbClr val="9CCC65"/>
                </a:solidFill>
                <a:latin typeface="Roboto Mono"/>
                <a:ea typeface="Roboto Mono"/>
                <a:cs typeface="Roboto Mono"/>
                <a:sym typeface="Roboto Mono"/>
              </a:rPr>
              <a:t>""</a:t>
            </a: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keyUpHandler = (event) =&gt;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setInputValue(event.target.value);</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return</a:t>
            </a:r>
            <a:r>
              <a:rPr lang="en" sz="1150" dirty="0">
                <a:solidFill>
                  <a:srgbClr val="ECEFF1"/>
                </a:solidFill>
                <a:latin typeface="Roboto Mono"/>
                <a:ea typeface="Roboto Mono"/>
                <a:cs typeface="Roboto Mono"/>
                <a:sym typeface="Roboto Mono"/>
              </a:rPr>
              <a:t> (&lt;div&gt;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&lt;h1&gt;</a:t>
            </a:r>
            <a:r>
              <a:rPr lang="en" sz="1150" dirty="0">
                <a:solidFill>
                  <a:srgbClr val="CE93D8"/>
                </a:solidFill>
                <a:latin typeface="Roboto Mono"/>
                <a:ea typeface="Roboto Mono"/>
                <a:cs typeface="Roboto Mono"/>
                <a:sym typeface="Roboto Mono"/>
              </a:rPr>
              <a:t>Second</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Example</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Event</a:t>
            </a:r>
            <a:r>
              <a:rPr lang="en" sz="1150" dirty="0">
                <a:solidFill>
                  <a:srgbClr val="ECEFF1"/>
                </a:solidFill>
                <a:latin typeface="Roboto Mono"/>
                <a:ea typeface="Roboto Mono"/>
                <a:cs typeface="Roboto Mono"/>
                <a:sym typeface="Roboto Mono"/>
              </a:rPr>
              <a:t>&lt;/h1&gt;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&lt;input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onChange={keyUpHandler}</a:t>
            </a:r>
            <a:br>
              <a:rPr lang="en" sz="1150" dirty="0">
                <a:solidFill>
                  <a:srgbClr val="ECEFF1"/>
                </a:solidFill>
                <a:latin typeface="Roboto Mono"/>
                <a:ea typeface="Roboto Mono"/>
                <a:cs typeface="Roboto Mono"/>
                <a:sym typeface="Roboto Mono"/>
              </a:rPr>
            </a:br>
            <a:r>
              <a:rPr lang="en" sz="1150" dirty="0">
                <a:solidFill>
                  <a:srgbClr val="ECEFF1"/>
                </a:solidFill>
                <a:latin typeface="Roboto Mono"/>
                <a:ea typeface="Roboto Mono"/>
                <a:cs typeface="Roboto Mono"/>
                <a:sym typeface="Roboto Mono"/>
              </a:rPr>
              <a:t>      value={inputValue}</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type=</a:t>
            </a:r>
            <a:r>
              <a:rPr lang="en" sz="1150" dirty="0">
                <a:solidFill>
                  <a:srgbClr val="9CCC65"/>
                </a:solidFill>
                <a:latin typeface="Roboto Mono"/>
                <a:ea typeface="Roboto Mono"/>
                <a:cs typeface="Roboto Mono"/>
                <a:sym typeface="Roboto Mono"/>
              </a:rPr>
              <a:t>"text"</a:t>
            </a:r>
            <a:r>
              <a:rPr lang="en" sz="1150" dirty="0">
                <a:solidFill>
                  <a:srgbClr val="ECEFF1"/>
                </a:solidFill>
                <a:latin typeface="Roboto Mono"/>
                <a:ea typeface="Roboto Mono"/>
                <a:cs typeface="Roboto Mono"/>
                <a:sym typeface="Roboto Mono"/>
              </a:rPr>
              <a:t>/&gt;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&lt;p&gt;</a:t>
            </a:r>
            <a:r>
              <a:rPr lang="en" sz="1150" dirty="0">
                <a:solidFill>
                  <a:srgbClr val="CE93D8"/>
                </a:solidFill>
                <a:latin typeface="Roboto Mono"/>
                <a:ea typeface="Roboto Mono"/>
                <a:cs typeface="Roboto Mono"/>
                <a:sym typeface="Roboto Mono"/>
              </a:rPr>
              <a:t>The</a:t>
            </a:r>
            <a:r>
              <a:rPr lang="en" sz="1150" dirty="0">
                <a:solidFill>
                  <a:srgbClr val="ECEFF1"/>
                </a:solidFill>
                <a:latin typeface="Roboto Mono"/>
                <a:ea typeface="Roboto Mono"/>
                <a:cs typeface="Roboto Mono"/>
                <a:sym typeface="Roboto Mono"/>
              </a:rPr>
              <a:t> text is: {inputValue}&lt;/p&gt;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&lt;/div&gt;);</a:t>
            </a:r>
            <a:endParaRPr sz="1150" dirty="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p:txBody>
      </p:sp>
      <p:sp>
        <p:nvSpPr>
          <p:cNvPr id="120" name="Google Shape;120;p21"/>
          <p:cNvSpPr txBox="1"/>
          <p:nvPr/>
        </p:nvSpPr>
        <p:spPr>
          <a:xfrm>
            <a:off x="706150" y="1345575"/>
            <a:ext cx="3000000" cy="3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FFFF"/>
                </a:solidFill>
              </a:rPr>
              <a:t>Example 1: (</a:t>
            </a:r>
            <a:r>
              <a:rPr lang="en" u="sng">
                <a:solidFill>
                  <a:schemeClr val="hlink"/>
                </a:solidFill>
                <a:hlinkClick r:id="rId3"/>
              </a:rPr>
              <a:t>live demo</a:t>
            </a:r>
            <a:r>
              <a:rPr lang="en">
                <a:solidFill>
                  <a:srgbClr val="FFFFFF"/>
                </a:solidFill>
              </a:rPr>
              <a:t>)</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87900" y="467550"/>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 Hook Examples 2</a:t>
            </a:r>
            <a:endParaRPr/>
          </a:p>
        </p:txBody>
      </p:sp>
      <p:sp>
        <p:nvSpPr>
          <p:cNvPr id="126" name="Google Shape;126;p22"/>
          <p:cNvSpPr txBox="1"/>
          <p:nvPr/>
        </p:nvSpPr>
        <p:spPr>
          <a:xfrm>
            <a:off x="429425" y="1277250"/>
            <a:ext cx="3000000" cy="3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FFFF"/>
                </a:solidFill>
              </a:rPr>
              <a:t>Example 2: (In Class Demo)</a:t>
            </a:r>
            <a:endParaRPr dirty="0">
              <a:solidFill>
                <a:srgbClr val="FFFFFF"/>
              </a:solidFill>
            </a:endParaRPr>
          </a:p>
        </p:txBody>
      </p:sp>
      <p:sp>
        <p:nvSpPr>
          <p:cNvPr id="127" name="Google Shape;127;p22"/>
          <p:cNvSpPr txBox="1"/>
          <p:nvPr/>
        </p:nvSpPr>
        <p:spPr>
          <a:xfrm>
            <a:off x="429425" y="1668450"/>
            <a:ext cx="64785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App</a:t>
            </a:r>
            <a:r>
              <a:rPr lang="en" sz="1150" dirty="0">
                <a:solidFill>
                  <a:srgbClr val="ECEFF1"/>
                </a:solidFill>
                <a:latin typeface="Roboto Mono"/>
                <a:ea typeface="Roboto Mono"/>
                <a:cs typeface="Roboto Mono"/>
                <a:sym typeface="Roboto Mono"/>
              </a:rPr>
              <a:t> = () =&gt;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[clicked, setClicked] = </a:t>
            </a:r>
            <a:r>
              <a:rPr lang="en" sz="1150" dirty="0">
                <a:solidFill>
                  <a:srgbClr val="CE93D8"/>
                </a:solidFill>
                <a:latin typeface="Roboto Mono"/>
                <a:ea typeface="Roboto Mono"/>
                <a:cs typeface="Roboto Mono"/>
                <a:sym typeface="Roboto Mono"/>
              </a:rPr>
              <a:t>React</a:t>
            </a:r>
            <a:r>
              <a:rPr lang="en" sz="1150" dirty="0">
                <a:solidFill>
                  <a:srgbClr val="ECEFF1"/>
                </a:solidFill>
                <a:latin typeface="Roboto Mono"/>
                <a:ea typeface="Roboto Mono"/>
                <a:cs typeface="Roboto Mono"/>
                <a:sym typeface="Roboto Mono"/>
              </a:rPr>
              <a:t>.useState(</a:t>
            </a:r>
            <a:r>
              <a:rPr lang="en" sz="1150" dirty="0">
                <a:solidFill>
                  <a:srgbClr val="FBC02D"/>
                </a:solidFill>
                <a:latin typeface="Roboto Mono"/>
                <a:ea typeface="Roboto Mono"/>
                <a:cs typeface="Roboto Mono"/>
                <a:sym typeface="Roboto Mono"/>
              </a:rPr>
              <a:t>0</a:t>
            </a: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const</a:t>
            </a:r>
            <a:r>
              <a:rPr lang="en" sz="1150" dirty="0">
                <a:solidFill>
                  <a:srgbClr val="ECEFF1"/>
                </a:solidFill>
                <a:latin typeface="Roboto Mono"/>
                <a:ea typeface="Roboto Mono"/>
                <a:cs typeface="Roboto Mono"/>
                <a:sym typeface="Roboto Mono"/>
              </a:rPr>
              <a:t> clickHandler = (event) =&gt;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let</a:t>
            </a:r>
            <a:r>
              <a:rPr lang="en" sz="1150" dirty="0">
                <a:solidFill>
                  <a:srgbClr val="ECEFF1"/>
                </a:solidFill>
                <a:latin typeface="Roboto Mono"/>
                <a:ea typeface="Roboto Mono"/>
                <a:cs typeface="Roboto Mono"/>
                <a:sym typeface="Roboto Mono"/>
              </a:rPr>
              <a:t> newClickedValue = clicked + </a:t>
            </a:r>
            <a:r>
              <a:rPr lang="en" sz="1150" dirty="0">
                <a:solidFill>
                  <a:srgbClr val="FBC02D"/>
                </a:solidFill>
                <a:latin typeface="Roboto Mono"/>
                <a:ea typeface="Roboto Mono"/>
                <a:cs typeface="Roboto Mono"/>
                <a:sym typeface="Roboto Mono"/>
              </a:rPr>
              <a:t>1</a:t>
            </a: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setClicked(newClickedValue);</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4DD0E1"/>
                </a:solidFill>
                <a:latin typeface="Roboto Mono"/>
                <a:ea typeface="Roboto Mono"/>
                <a:cs typeface="Roboto Mono"/>
                <a:sym typeface="Roboto Mono"/>
              </a:rPr>
              <a:t>return</a:t>
            </a:r>
            <a:r>
              <a:rPr lang="en" sz="1150" dirty="0">
                <a:solidFill>
                  <a:srgbClr val="ECEFF1"/>
                </a:solidFill>
                <a:latin typeface="Roboto Mono"/>
                <a:ea typeface="Roboto Mono"/>
                <a:cs typeface="Roboto Mono"/>
                <a:sym typeface="Roboto Mono"/>
              </a:rPr>
              <a:t> (&lt;div&gt;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&lt;p&gt;clicked {clicked} times &lt;/p&gt;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&lt;button</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onClick={(event)=&gt; clickHandler(event)}&gt;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Ultimate</a:t>
            </a:r>
            <a:r>
              <a:rPr lang="en" sz="1150" dirty="0">
                <a:solidFill>
                  <a:srgbClr val="ECEFF1"/>
                </a:solidFill>
                <a:latin typeface="Roboto Mono"/>
                <a:ea typeface="Roboto Mono"/>
                <a:cs typeface="Roboto Mono"/>
                <a:sym typeface="Roboto Mono"/>
              </a:rPr>
              <a:t> </a:t>
            </a:r>
            <a:r>
              <a:rPr lang="en" sz="1150" dirty="0">
                <a:solidFill>
                  <a:srgbClr val="CE93D8"/>
                </a:solidFill>
                <a:latin typeface="Roboto Mono"/>
                <a:ea typeface="Roboto Mono"/>
                <a:cs typeface="Roboto Mono"/>
                <a:sym typeface="Roboto Mono"/>
              </a:rPr>
              <a:t>Clicker</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&lt;/button&gt;</a:t>
            </a:r>
            <a:endParaRPr sz="11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dirty="0">
                <a:solidFill>
                  <a:srgbClr val="ECEFF1"/>
                </a:solidFill>
                <a:latin typeface="Roboto Mono"/>
                <a:ea typeface="Roboto Mono"/>
                <a:cs typeface="Roboto Mono"/>
                <a:sym typeface="Roboto Mono"/>
              </a:rPr>
              <a:t>    &lt;/div&gt;);</a:t>
            </a:r>
            <a:endParaRPr sz="1150" dirty="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dirty="0">
                <a:solidFill>
                  <a:srgbClr val="ECEFF1"/>
                </a:solidFill>
                <a:latin typeface="Roboto Mono"/>
                <a:ea typeface="Roboto Mono"/>
                <a:cs typeface="Roboto Mono"/>
                <a:sym typeface="Roboto Mono"/>
              </a:rPr>
              <a:t>}</a:t>
            </a:r>
            <a:endParaRPr sz="1150" dirty="0">
              <a:solidFill>
                <a:srgbClr val="ECEFF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JSX Conditionals - Ternary Operators</a:t>
            </a:r>
            <a:endParaRPr/>
          </a:p>
        </p:txBody>
      </p:sp>
      <p:sp>
        <p:nvSpPr>
          <p:cNvPr id="133" name="Google Shape;133;p23"/>
          <p:cNvSpPr txBox="1">
            <a:spLocks noGrp="1"/>
          </p:cNvSpPr>
          <p:nvPr>
            <p:ph type="body" idx="1"/>
          </p:nvPr>
        </p:nvSpPr>
        <p:spPr>
          <a:xfrm>
            <a:off x="387900" y="12612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dirty="0"/>
              <a:t>A lot of the time you want to display different things depending on a certain condition or value, and you can use ternary values to do this. Let’s take  look at an example on the right.</a:t>
            </a:r>
            <a:endParaRPr sz="1100" dirty="0"/>
          </a:p>
          <a:p>
            <a:pPr marL="0" lvl="0" indent="0" algn="l" rtl="0">
              <a:spcBef>
                <a:spcPts val="1600"/>
              </a:spcBef>
              <a:spcAft>
                <a:spcPts val="0"/>
              </a:spcAft>
              <a:buNone/>
            </a:pPr>
            <a:r>
              <a:rPr lang="en" sz="1100" dirty="0"/>
              <a:t>First we observe that we have a stateful variable “</a:t>
            </a:r>
            <a:r>
              <a:rPr lang="en" sz="950" dirty="0">
                <a:solidFill>
                  <a:srgbClr val="ECEFF1"/>
                </a:solidFill>
                <a:latin typeface="Roboto Mono"/>
                <a:ea typeface="Roboto Mono"/>
                <a:cs typeface="Roboto Mono"/>
                <a:sym typeface="Roboto Mono"/>
              </a:rPr>
              <a:t>on</a:t>
            </a:r>
            <a:r>
              <a:rPr lang="en" sz="1100" dirty="0"/>
              <a:t>” that is a boolean.</a:t>
            </a:r>
            <a:endParaRPr sz="1100" dirty="0"/>
          </a:p>
          <a:p>
            <a:pPr marL="0" lvl="0" indent="0" algn="l" rtl="0">
              <a:spcBef>
                <a:spcPts val="1600"/>
              </a:spcBef>
              <a:spcAft>
                <a:spcPts val="0"/>
              </a:spcAft>
              <a:buNone/>
            </a:pPr>
            <a:r>
              <a:rPr lang="en" sz="1100" dirty="0"/>
              <a:t>In the JSX under the button we have “</a:t>
            </a:r>
            <a:r>
              <a:rPr lang="en" sz="950" dirty="0">
                <a:solidFill>
                  <a:srgbClr val="ECEFF1"/>
                </a:solidFill>
                <a:latin typeface="Roboto Mono"/>
                <a:ea typeface="Roboto Mono"/>
                <a:cs typeface="Roboto Mono"/>
                <a:sym typeface="Roboto Mono"/>
              </a:rPr>
              <a:t>on ?</a:t>
            </a:r>
            <a:r>
              <a:rPr lang="en" sz="1100" dirty="0"/>
              <a:t>” indicating we’re using a ternary that is evaluating whether the condition “</a:t>
            </a:r>
            <a:r>
              <a:rPr lang="en" sz="950" dirty="0">
                <a:solidFill>
                  <a:srgbClr val="ECEFF1"/>
                </a:solidFill>
                <a:latin typeface="Roboto Mono"/>
                <a:ea typeface="Roboto Mono"/>
                <a:cs typeface="Roboto Mono"/>
                <a:sym typeface="Roboto Mono"/>
              </a:rPr>
              <a:t>on</a:t>
            </a:r>
            <a:r>
              <a:rPr lang="en" sz="1100" dirty="0"/>
              <a:t>” is true or false.</a:t>
            </a:r>
            <a:endParaRPr sz="1100" dirty="0"/>
          </a:p>
          <a:p>
            <a:pPr marL="0" lvl="0" indent="0" algn="l" rtl="0">
              <a:spcBef>
                <a:spcPts val="1600"/>
              </a:spcBef>
              <a:spcAft>
                <a:spcPts val="1600"/>
              </a:spcAft>
              <a:buNone/>
            </a:pPr>
            <a:r>
              <a:rPr lang="en" sz="1100" dirty="0"/>
              <a:t>After the ternary we have the conditions to display “</a:t>
            </a:r>
            <a:r>
              <a:rPr lang="en" sz="950" dirty="0">
                <a:solidFill>
                  <a:srgbClr val="ECEFF1"/>
                </a:solidFill>
                <a:latin typeface="Roboto Mono"/>
                <a:ea typeface="Roboto Mono"/>
                <a:cs typeface="Roboto Mono"/>
                <a:sym typeface="Roboto Mono"/>
              </a:rPr>
              <a:t>&lt;p&gt;value of on is "true"&lt;/p&gt; : &lt;p&gt;value of on is "false"&lt;/p&gt;</a:t>
            </a:r>
            <a:r>
              <a:rPr lang="en" sz="1100" dirty="0"/>
              <a:t>“. Before the colon “</a:t>
            </a:r>
            <a:r>
              <a:rPr lang="en" sz="950" dirty="0">
                <a:solidFill>
                  <a:srgbClr val="ECEFF1"/>
                </a:solidFill>
                <a:latin typeface="Roboto Mono"/>
                <a:ea typeface="Roboto Mono"/>
                <a:cs typeface="Roboto Mono"/>
                <a:sym typeface="Roboto Mono"/>
              </a:rPr>
              <a:t>:</a:t>
            </a:r>
            <a:r>
              <a:rPr lang="en" sz="1100" dirty="0"/>
              <a:t>” is the what will be displayed when “</a:t>
            </a:r>
            <a:r>
              <a:rPr lang="en" sz="950" dirty="0">
                <a:solidFill>
                  <a:srgbClr val="ECEFF1"/>
                </a:solidFill>
                <a:latin typeface="Roboto Mono"/>
                <a:ea typeface="Roboto Mono"/>
                <a:cs typeface="Roboto Mono"/>
                <a:sym typeface="Roboto Mono"/>
              </a:rPr>
              <a:t>on</a:t>
            </a:r>
            <a:r>
              <a:rPr lang="en" sz="1100" dirty="0"/>
              <a:t>” is true. After the colon “</a:t>
            </a:r>
            <a:r>
              <a:rPr lang="en" sz="950" dirty="0">
                <a:solidFill>
                  <a:srgbClr val="ECEFF1"/>
                </a:solidFill>
                <a:latin typeface="Roboto Mono"/>
                <a:ea typeface="Roboto Mono"/>
                <a:cs typeface="Roboto Mono"/>
                <a:sym typeface="Roboto Mono"/>
              </a:rPr>
              <a:t>:</a:t>
            </a:r>
            <a:r>
              <a:rPr lang="en" sz="1100" dirty="0"/>
              <a:t>”  is what will be displayed if “</a:t>
            </a:r>
            <a:r>
              <a:rPr lang="en" sz="950" dirty="0">
                <a:solidFill>
                  <a:srgbClr val="ECEFF1"/>
                </a:solidFill>
                <a:latin typeface="Roboto Mono"/>
                <a:ea typeface="Roboto Mono"/>
                <a:cs typeface="Roboto Mono"/>
                <a:sym typeface="Roboto Mono"/>
              </a:rPr>
              <a:t>on</a:t>
            </a:r>
            <a:r>
              <a:rPr lang="en" sz="1100" dirty="0"/>
              <a:t>” is false.</a:t>
            </a:r>
            <a:endParaRPr sz="1100" dirty="0"/>
          </a:p>
        </p:txBody>
      </p:sp>
      <p:sp>
        <p:nvSpPr>
          <p:cNvPr id="134" name="Google Shape;134;p23"/>
          <p:cNvSpPr txBox="1">
            <a:spLocks noGrp="1"/>
          </p:cNvSpPr>
          <p:nvPr>
            <p:ph type="body" idx="2"/>
          </p:nvPr>
        </p:nvSpPr>
        <p:spPr>
          <a:xfrm>
            <a:off x="4861625" y="1117825"/>
            <a:ext cx="2174100" cy="372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 of </a:t>
            </a:r>
            <a:r>
              <a:rPr lang="en" u="sng">
                <a:solidFill>
                  <a:schemeClr val="hlink"/>
                </a:solidFill>
                <a:hlinkClick r:id="rId3"/>
              </a:rPr>
              <a:t>JSX Ternary</a:t>
            </a:r>
            <a:endParaRPr/>
          </a:p>
        </p:txBody>
      </p:sp>
      <p:sp>
        <p:nvSpPr>
          <p:cNvPr id="135" name="Google Shape;135;p23"/>
          <p:cNvSpPr txBox="1"/>
          <p:nvPr/>
        </p:nvSpPr>
        <p:spPr>
          <a:xfrm>
            <a:off x="4861625" y="1516125"/>
            <a:ext cx="4387800" cy="341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4DD0E1"/>
                </a:solidFill>
                <a:latin typeface="Roboto Mono"/>
                <a:ea typeface="Roboto Mono"/>
                <a:cs typeface="Roboto Mono"/>
                <a:sym typeface="Roboto Mono"/>
              </a:rPr>
              <a:t>import</a:t>
            </a:r>
            <a:r>
              <a:rPr lang="en" sz="1050" dirty="0">
                <a:solidFill>
                  <a:srgbClr val="ECEFF1"/>
                </a:solidFill>
                <a:latin typeface="Roboto Mono"/>
                <a:ea typeface="Roboto Mono"/>
                <a:cs typeface="Roboto Mono"/>
                <a:sym typeface="Roboto Mono"/>
              </a:rPr>
              <a:t> { useState } </a:t>
            </a:r>
            <a:r>
              <a:rPr lang="en" sz="1050" dirty="0">
                <a:solidFill>
                  <a:srgbClr val="4DD0E1"/>
                </a:solidFill>
                <a:latin typeface="Roboto Mono"/>
                <a:ea typeface="Roboto Mono"/>
                <a:cs typeface="Roboto Mono"/>
                <a:sym typeface="Roboto Mono"/>
              </a:rPr>
              <a:t>from</a:t>
            </a:r>
            <a:r>
              <a:rPr lang="en" sz="1050" dirty="0">
                <a:solidFill>
                  <a:srgbClr val="ECEFF1"/>
                </a:solidFill>
                <a:latin typeface="Roboto Mono"/>
                <a:ea typeface="Roboto Mono"/>
                <a:cs typeface="Roboto Mono"/>
                <a:sym typeface="Roboto Mono"/>
              </a:rPr>
              <a:t> </a:t>
            </a:r>
            <a:r>
              <a:rPr lang="en" sz="1050" dirty="0">
                <a:solidFill>
                  <a:srgbClr val="9CCC65"/>
                </a:solidFill>
                <a:latin typeface="Roboto Mono"/>
                <a:ea typeface="Roboto Mono"/>
                <a:cs typeface="Roboto Mono"/>
                <a:sym typeface="Roboto Mono"/>
              </a:rPr>
              <a:t>"react"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App = () =&gt;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[on, setOn] = useState(</a:t>
            </a:r>
            <a:r>
              <a:rPr lang="en" sz="1050" dirty="0">
                <a:solidFill>
                  <a:srgbClr val="4DD0E1"/>
                </a:solidFill>
                <a:latin typeface="Roboto Mono"/>
                <a:ea typeface="Roboto Mono"/>
                <a:cs typeface="Roboto Mono"/>
                <a:sym typeface="Roboto Mono"/>
              </a:rPr>
              <a:t>false</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toggleMessage = (event) =&gt;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setOn(!on);</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return</a:t>
            </a:r>
            <a:r>
              <a:rPr lang="en" sz="1050" dirty="0">
                <a:solidFill>
                  <a:srgbClr val="ECEFF1"/>
                </a:solidFill>
                <a:latin typeface="Roboto Mono"/>
                <a:ea typeface="Roboto Mono"/>
                <a:cs typeface="Roboto Mono"/>
                <a:sym typeface="Roboto Mono"/>
              </a:rPr>
              <a:t> &lt;div&gt;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&lt;button onClick={toggleMessage}&gt;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Toggle</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&lt;/button&gt;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 on ?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&lt;p&gt;value of on is "true"&lt;/p&gt;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&lt;p&gt;value of on is "false"&lt;/p&gt;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&lt;/div&gt;;</a:t>
            </a:r>
            <a:endParaRPr sz="1050" dirty="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p:txBody>
      </p:sp>
      <p:sp>
        <p:nvSpPr>
          <p:cNvPr id="136" name="Google Shape;136;p23"/>
          <p:cNvSpPr txBox="1"/>
          <p:nvPr/>
        </p:nvSpPr>
        <p:spPr>
          <a:xfrm>
            <a:off x="152400" y="152400"/>
            <a:ext cx="36954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50">
              <a:solidFill>
                <a:srgbClr val="ECEFF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JSX Conditionals - Short Circuits</a:t>
            </a:r>
            <a:endParaRPr/>
          </a:p>
        </p:txBody>
      </p:sp>
      <p:sp>
        <p:nvSpPr>
          <p:cNvPr id="142" name="Google Shape;142;p24"/>
          <p:cNvSpPr txBox="1">
            <a:spLocks noGrp="1"/>
          </p:cNvSpPr>
          <p:nvPr>
            <p:ph type="body" idx="1"/>
          </p:nvPr>
        </p:nvSpPr>
        <p:spPr>
          <a:xfrm>
            <a:off x="387900" y="12612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dirty="0"/>
              <a:t>In your the JSX of your components many times you just want to display something based a certain condition and nothing if the condition is not met. You could do this with the ternary of the last slide, but it’s a bit nicer to use “short circuits” to do so.</a:t>
            </a:r>
            <a:endParaRPr sz="1100" dirty="0"/>
          </a:p>
          <a:p>
            <a:pPr marL="0" lvl="0" indent="0" algn="l" rtl="0">
              <a:spcBef>
                <a:spcPts val="1600"/>
              </a:spcBef>
              <a:spcAft>
                <a:spcPts val="0"/>
              </a:spcAft>
              <a:buNone/>
            </a:pPr>
            <a:r>
              <a:rPr lang="en" sz="1100" dirty="0"/>
              <a:t>Let’s take a look at the example on the right, first we have a boolean stateful variable named “</a:t>
            </a:r>
            <a:r>
              <a:rPr lang="en" sz="1050" dirty="0">
                <a:solidFill>
                  <a:srgbClr val="ECEFF1"/>
                </a:solidFill>
                <a:latin typeface="Roboto Mono"/>
                <a:ea typeface="Roboto Mono"/>
                <a:cs typeface="Roboto Mono"/>
                <a:sym typeface="Roboto Mono"/>
              </a:rPr>
              <a:t>hideMessage</a:t>
            </a:r>
            <a:r>
              <a:rPr lang="en" sz="1100" dirty="0"/>
              <a:t>” that we toggle on or off in the “</a:t>
            </a:r>
            <a:r>
              <a:rPr lang="en" sz="1050" dirty="0">
                <a:solidFill>
                  <a:srgbClr val="ECEFF1"/>
                </a:solidFill>
                <a:latin typeface="Roboto Mono"/>
                <a:ea typeface="Roboto Mono"/>
                <a:cs typeface="Roboto Mono"/>
                <a:sym typeface="Roboto Mono"/>
              </a:rPr>
              <a:t>toggleMessage</a:t>
            </a:r>
            <a:r>
              <a:rPr lang="en" sz="1100" dirty="0"/>
              <a:t>”</a:t>
            </a:r>
            <a:endParaRPr sz="1100" dirty="0"/>
          </a:p>
          <a:p>
            <a:pPr marL="0" lvl="0" indent="0" algn="l" rtl="0">
              <a:spcBef>
                <a:spcPts val="1600"/>
              </a:spcBef>
              <a:spcAft>
                <a:spcPts val="0"/>
              </a:spcAft>
              <a:buNone/>
            </a:pPr>
            <a:r>
              <a:rPr lang="en" sz="1100" dirty="0"/>
              <a:t>We want to display the message only if the  ”</a:t>
            </a:r>
            <a:r>
              <a:rPr lang="en" sz="1050" dirty="0">
                <a:solidFill>
                  <a:srgbClr val="ECEFF1"/>
                </a:solidFill>
                <a:latin typeface="Roboto Mono"/>
                <a:ea typeface="Roboto Mono"/>
                <a:cs typeface="Roboto Mono"/>
                <a:sym typeface="Roboto Mono"/>
              </a:rPr>
              <a:t>hideMessage</a:t>
            </a:r>
            <a:r>
              <a:rPr lang="en" sz="1100" dirty="0"/>
              <a:t>” is true. We use the condition and short circuit like so </a:t>
            </a:r>
            <a:br>
              <a:rPr lang="en" sz="1100" dirty="0"/>
            </a:br>
            <a:r>
              <a:rPr lang="en" sz="1100" dirty="0"/>
              <a:t>“</a:t>
            </a:r>
            <a:r>
              <a:rPr lang="en" sz="1050" dirty="0">
                <a:solidFill>
                  <a:srgbClr val="ECEFF1"/>
                </a:solidFill>
                <a:latin typeface="Roboto Mono"/>
                <a:ea typeface="Roboto Mono"/>
                <a:cs typeface="Roboto Mono"/>
                <a:sym typeface="Roboto Mono"/>
              </a:rPr>
              <a:t>hideMessage &amp;&amp; </a:t>
            </a:r>
            <a:r>
              <a:rPr lang="en" sz="1100" dirty="0"/>
              <a:t>” so that we display what’s on the right of the “</a:t>
            </a:r>
            <a:r>
              <a:rPr lang="en" sz="1050" dirty="0">
                <a:solidFill>
                  <a:srgbClr val="ECEFF1"/>
                </a:solidFill>
                <a:latin typeface="Roboto Mono"/>
                <a:ea typeface="Roboto Mono"/>
                <a:cs typeface="Roboto Mono"/>
                <a:sym typeface="Roboto Mono"/>
              </a:rPr>
              <a:t>&amp;&amp;</a:t>
            </a:r>
            <a:r>
              <a:rPr lang="en" sz="1100" dirty="0"/>
              <a:t>” which is the “</a:t>
            </a:r>
            <a:r>
              <a:rPr lang="en" sz="1050" dirty="0">
                <a:solidFill>
                  <a:srgbClr val="ECEFF1"/>
                </a:solidFill>
                <a:latin typeface="Roboto Mono"/>
                <a:ea typeface="Roboto Mono"/>
                <a:cs typeface="Roboto Mono"/>
                <a:sym typeface="Roboto Mono"/>
              </a:rPr>
              <a:t>&lt;p&gt;The secret message!&lt;/p&gt;</a:t>
            </a:r>
            <a:r>
              <a:rPr lang="en" sz="1100" dirty="0"/>
              <a:t>”</a:t>
            </a:r>
            <a:endParaRPr sz="1100" dirty="0"/>
          </a:p>
          <a:p>
            <a:pPr marL="0" lvl="0" indent="0" algn="l" rtl="0">
              <a:spcBef>
                <a:spcPts val="1600"/>
              </a:spcBef>
              <a:spcAft>
                <a:spcPts val="1600"/>
              </a:spcAft>
              <a:buNone/>
            </a:pPr>
            <a:r>
              <a:rPr lang="en" sz="1100" dirty="0"/>
              <a:t>Take a look at the linked example to see how this works.</a:t>
            </a:r>
            <a:endParaRPr sz="1100" dirty="0"/>
          </a:p>
        </p:txBody>
      </p:sp>
      <p:sp>
        <p:nvSpPr>
          <p:cNvPr id="143" name="Google Shape;143;p24"/>
          <p:cNvSpPr txBox="1">
            <a:spLocks noGrp="1"/>
          </p:cNvSpPr>
          <p:nvPr>
            <p:ph type="body" idx="2"/>
          </p:nvPr>
        </p:nvSpPr>
        <p:spPr>
          <a:xfrm>
            <a:off x="4475875" y="1144125"/>
            <a:ext cx="3259200" cy="372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 of </a:t>
            </a:r>
            <a:r>
              <a:rPr lang="en" u="sng">
                <a:solidFill>
                  <a:schemeClr val="hlink"/>
                </a:solidFill>
                <a:hlinkClick r:id="rId3"/>
              </a:rPr>
              <a:t>JSX Short Circuits</a:t>
            </a:r>
            <a:endParaRPr/>
          </a:p>
        </p:txBody>
      </p:sp>
      <p:sp>
        <p:nvSpPr>
          <p:cNvPr id="144" name="Google Shape;144;p24"/>
          <p:cNvSpPr txBox="1"/>
          <p:nvPr/>
        </p:nvSpPr>
        <p:spPr>
          <a:xfrm>
            <a:off x="152400" y="152400"/>
            <a:ext cx="3695400" cy="34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50">
              <a:solidFill>
                <a:srgbClr val="ECEFF1"/>
              </a:solidFill>
              <a:latin typeface="Roboto Mono"/>
              <a:ea typeface="Roboto Mono"/>
              <a:cs typeface="Roboto Mono"/>
              <a:sym typeface="Roboto Mono"/>
            </a:endParaRPr>
          </a:p>
        </p:txBody>
      </p:sp>
      <p:sp>
        <p:nvSpPr>
          <p:cNvPr id="145" name="Google Shape;145;p24"/>
          <p:cNvSpPr txBox="1"/>
          <p:nvPr/>
        </p:nvSpPr>
        <p:spPr>
          <a:xfrm>
            <a:off x="4387800" y="1516125"/>
            <a:ext cx="6152400" cy="31690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4DD0E1"/>
                </a:solidFill>
                <a:latin typeface="Roboto Mono"/>
                <a:ea typeface="Roboto Mono"/>
                <a:cs typeface="Roboto Mono"/>
                <a:sym typeface="Roboto Mono"/>
              </a:rPr>
              <a:t>import</a:t>
            </a:r>
            <a:r>
              <a:rPr lang="en" sz="1050" dirty="0">
                <a:solidFill>
                  <a:srgbClr val="ECEFF1"/>
                </a:solidFill>
                <a:latin typeface="Roboto Mono"/>
                <a:ea typeface="Roboto Mono"/>
                <a:cs typeface="Roboto Mono"/>
                <a:sym typeface="Roboto Mono"/>
              </a:rPr>
              <a:t> { useState } </a:t>
            </a:r>
            <a:r>
              <a:rPr lang="en" sz="1050" dirty="0">
                <a:solidFill>
                  <a:srgbClr val="4DD0E1"/>
                </a:solidFill>
                <a:latin typeface="Roboto Mono"/>
                <a:ea typeface="Roboto Mono"/>
                <a:cs typeface="Roboto Mono"/>
                <a:sym typeface="Roboto Mono"/>
              </a:rPr>
              <a:t>from</a:t>
            </a:r>
            <a:r>
              <a:rPr lang="en" sz="1050" dirty="0">
                <a:solidFill>
                  <a:srgbClr val="ECEFF1"/>
                </a:solidFill>
                <a:latin typeface="Roboto Mono"/>
                <a:ea typeface="Roboto Mono"/>
                <a:cs typeface="Roboto Mono"/>
                <a:sym typeface="Roboto Mono"/>
              </a:rPr>
              <a:t> </a:t>
            </a:r>
            <a:r>
              <a:rPr lang="en" sz="1050" dirty="0">
                <a:solidFill>
                  <a:srgbClr val="9CCC65"/>
                </a:solidFill>
                <a:latin typeface="Roboto Mono"/>
                <a:ea typeface="Roboto Mono"/>
                <a:cs typeface="Roboto Mono"/>
                <a:sym typeface="Roboto Mono"/>
              </a:rPr>
              <a:t>'react'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App = () =&gt;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[hideMessage, setHideMessage] = useState(</a:t>
            </a:r>
            <a:r>
              <a:rPr lang="en" sz="1050" dirty="0">
                <a:solidFill>
                  <a:srgbClr val="4DD0E1"/>
                </a:solidFill>
                <a:latin typeface="Roboto Mono"/>
                <a:ea typeface="Roboto Mono"/>
                <a:cs typeface="Roboto Mono"/>
                <a:sym typeface="Roboto Mono"/>
              </a:rPr>
              <a:t>false</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const</a:t>
            </a:r>
            <a:r>
              <a:rPr lang="en" sz="1050" dirty="0">
                <a:solidFill>
                  <a:srgbClr val="ECEFF1"/>
                </a:solidFill>
                <a:latin typeface="Roboto Mono"/>
                <a:ea typeface="Roboto Mono"/>
                <a:cs typeface="Roboto Mono"/>
                <a:sym typeface="Roboto Mono"/>
              </a:rPr>
              <a:t> toggleMessage = (event) =&gt;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setHideMessage(!hideMessage);</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r>
              <a:rPr lang="en" sz="1050" dirty="0">
                <a:solidFill>
                  <a:srgbClr val="4DD0E1"/>
                </a:solidFill>
                <a:latin typeface="Roboto Mono"/>
                <a:ea typeface="Roboto Mono"/>
                <a:cs typeface="Roboto Mono"/>
                <a:sym typeface="Roboto Mono"/>
              </a:rPr>
              <a:t>return</a:t>
            </a:r>
            <a:r>
              <a:rPr lang="en" sz="1050" dirty="0">
                <a:solidFill>
                  <a:srgbClr val="ECEFF1"/>
                </a:solidFill>
                <a:latin typeface="Roboto Mono"/>
                <a:ea typeface="Roboto Mono"/>
                <a:cs typeface="Roboto Mono"/>
                <a:sym typeface="Roboto Mono"/>
              </a:rPr>
              <a:t> (&lt;div&gt;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&lt;button onClick={toggleMessage}&gt;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 hideMessage ? </a:t>
            </a:r>
            <a:r>
              <a:rPr lang="en" sz="1050" dirty="0">
                <a:solidFill>
                  <a:srgbClr val="9CCC65"/>
                </a:solidFill>
                <a:latin typeface="Roboto Mono"/>
                <a:ea typeface="Roboto Mono"/>
                <a:cs typeface="Roboto Mono"/>
                <a:sym typeface="Roboto Mono"/>
              </a:rPr>
              <a:t>"Hide Message"</a:t>
            </a:r>
            <a:r>
              <a:rPr lang="en" sz="1050" dirty="0">
                <a:solidFill>
                  <a:srgbClr val="ECEFF1"/>
                </a:solidFill>
                <a:latin typeface="Roboto Mono"/>
                <a:ea typeface="Roboto Mono"/>
                <a:cs typeface="Roboto Mono"/>
                <a:sym typeface="Roboto Mono"/>
              </a:rPr>
              <a:t>: </a:t>
            </a:r>
            <a:r>
              <a:rPr lang="en" sz="1050" dirty="0">
                <a:solidFill>
                  <a:srgbClr val="9CCC65"/>
                </a:solidFill>
                <a:latin typeface="Roboto Mono"/>
                <a:ea typeface="Roboto Mono"/>
                <a:cs typeface="Roboto Mono"/>
                <a:sym typeface="Roboto Mono"/>
              </a:rPr>
              <a:t>"Show Message"</a:t>
            </a: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&lt;/button&gt;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 hideMessage &amp;&amp;</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&lt;p&gt;The secret message!&lt;/p&gt;</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a:t>
            </a:r>
            <a:endParaRPr sz="105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050" dirty="0">
                <a:solidFill>
                  <a:srgbClr val="ECEFF1"/>
                </a:solidFill>
                <a:latin typeface="Roboto Mono"/>
                <a:ea typeface="Roboto Mono"/>
                <a:cs typeface="Roboto Mono"/>
                <a:sym typeface="Roboto Mono"/>
              </a:rPr>
              <a:t>    &lt;/div&gt;);</a:t>
            </a:r>
            <a:endParaRPr sz="1050" dirty="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050" dirty="0">
                <a:solidFill>
                  <a:srgbClr val="ECEFF1"/>
                </a:solidFill>
                <a:latin typeface="Roboto Mono"/>
                <a:ea typeface="Roboto Mono"/>
                <a:cs typeface="Roboto Mono"/>
                <a:sym typeface="Roboto Mono"/>
              </a:rPr>
              <a:t>}</a:t>
            </a:r>
            <a:endParaRPr sz="1050" dirty="0">
              <a:solidFill>
                <a:srgbClr val="ECEFF1"/>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Reading/Resources</a:t>
            </a:r>
            <a:endParaRPr/>
          </a:p>
        </p:txBody>
      </p:sp>
      <p:sp>
        <p:nvSpPr>
          <p:cNvPr id="156" name="Google Shape;156;p26"/>
          <p:cNvSpPr txBox="1">
            <a:spLocks noGrp="1"/>
          </p:cNvSpPr>
          <p:nvPr>
            <p:ph type="body" idx="1"/>
          </p:nvPr>
        </p:nvSpPr>
        <p:spPr>
          <a:xfrm>
            <a:off x="387900" y="1289999"/>
            <a:ext cx="8368200" cy="30789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sz="1100"/>
              <a:t>useState.</a:t>
            </a:r>
            <a:endParaRPr sz="1100"/>
          </a:p>
          <a:p>
            <a:pPr marL="914400" lvl="1" indent="-298450" algn="l" rtl="0">
              <a:spcBef>
                <a:spcPts val="0"/>
              </a:spcBef>
              <a:spcAft>
                <a:spcPts val="0"/>
              </a:spcAft>
              <a:buSzPts val="1100"/>
              <a:buChar char="○"/>
            </a:pPr>
            <a:r>
              <a:rPr lang="en" sz="1100" u="sng">
                <a:solidFill>
                  <a:schemeClr val="hlink"/>
                </a:solidFill>
                <a:latin typeface="Arial"/>
                <a:ea typeface="Arial"/>
                <a:cs typeface="Arial"/>
                <a:sym typeface="Arial"/>
                <a:hlinkClick r:id="rId3"/>
              </a:rPr>
              <a:t>https://reactjs.org/docs/hooks-state.html</a:t>
            </a:r>
            <a:endParaRPr sz="1100"/>
          </a:p>
          <a:p>
            <a:pPr marL="457200" lvl="0" indent="-298450" algn="l" rtl="0">
              <a:spcBef>
                <a:spcPts val="0"/>
              </a:spcBef>
              <a:spcAft>
                <a:spcPts val="0"/>
              </a:spcAft>
              <a:buSzPts val="1100"/>
              <a:buChar char="●"/>
            </a:pPr>
            <a:r>
              <a:rPr lang="en" sz="1100"/>
              <a:t>Hooks Introduction</a:t>
            </a:r>
            <a:endParaRPr sz="1100"/>
          </a:p>
          <a:p>
            <a:pPr marL="914400" lvl="1" indent="-298450" algn="l" rtl="0">
              <a:spcBef>
                <a:spcPts val="0"/>
              </a:spcBef>
              <a:spcAft>
                <a:spcPts val="0"/>
              </a:spcAft>
              <a:buSzPts val="1100"/>
              <a:buChar char="○"/>
            </a:pPr>
            <a:r>
              <a:rPr lang="en" sz="1100" u="sng">
                <a:solidFill>
                  <a:schemeClr val="hlink"/>
                </a:solidFill>
                <a:hlinkClick r:id="rId4"/>
              </a:rPr>
              <a:t>https://reactjs.org/docs/hooks-intro.html</a:t>
            </a:r>
            <a:r>
              <a:rPr lang="en" sz="1100"/>
              <a:t> </a:t>
            </a:r>
            <a:endParaRPr sz="1100"/>
          </a:p>
          <a:p>
            <a:pPr marL="457200" lvl="0" indent="-298450" algn="l" rtl="0">
              <a:spcBef>
                <a:spcPts val="0"/>
              </a:spcBef>
              <a:spcAft>
                <a:spcPts val="0"/>
              </a:spcAft>
              <a:buSzPts val="1100"/>
              <a:buChar char="●"/>
            </a:pPr>
            <a:r>
              <a:rPr lang="en" sz="1100"/>
              <a:t>Class Lifecycle</a:t>
            </a:r>
            <a:endParaRPr sz="1100"/>
          </a:p>
          <a:p>
            <a:pPr marL="914400" lvl="1" indent="-298450" algn="l" rtl="0">
              <a:spcBef>
                <a:spcPts val="0"/>
              </a:spcBef>
              <a:spcAft>
                <a:spcPts val="0"/>
              </a:spcAft>
              <a:buSzPts val="1100"/>
              <a:buChar char="○"/>
            </a:pPr>
            <a:r>
              <a:rPr lang="en" sz="1100" u="sng">
                <a:solidFill>
                  <a:schemeClr val="hlink"/>
                </a:solidFill>
                <a:hlinkClick r:id="rId5"/>
              </a:rPr>
              <a:t>https://reactjs.org/docs/state-and-lifecycle.html</a:t>
            </a:r>
            <a:r>
              <a:rPr lang="en" sz="1100"/>
              <a:t> </a:t>
            </a:r>
            <a:endParaRPr sz="1100"/>
          </a:p>
          <a:p>
            <a:pPr marL="457200" lvl="0" indent="-298450" algn="l" rtl="0">
              <a:spcBef>
                <a:spcPts val="0"/>
              </a:spcBef>
              <a:spcAft>
                <a:spcPts val="0"/>
              </a:spcAft>
              <a:buSzPts val="1100"/>
              <a:buChar char="●"/>
            </a:pPr>
            <a:r>
              <a:rPr lang="en" sz="1100"/>
              <a:t>Handling Events in React:</a:t>
            </a:r>
            <a:endParaRPr sz="1100"/>
          </a:p>
          <a:p>
            <a:pPr marL="914400" lvl="1" indent="-298450" algn="l" rtl="0">
              <a:spcBef>
                <a:spcPts val="0"/>
              </a:spcBef>
              <a:spcAft>
                <a:spcPts val="0"/>
              </a:spcAft>
              <a:buSzPts val="1100"/>
              <a:buChar char="○"/>
            </a:pPr>
            <a:r>
              <a:rPr lang="en" sz="1100" u="sng">
                <a:solidFill>
                  <a:schemeClr val="hlink"/>
                </a:solidFill>
                <a:hlinkClick r:id="rId6"/>
              </a:rPr>
              <a:t>https://reactjs.org/docs/handling-events.html</a:t>
            </a:r>
            <a:r>
              <a:rPr lang="en" sz="1100"/>
              <a:t> </a:t>
            </a:r>
            <a:endParaRPr sz="1100"/>
          </a:p>
          <a:p>
            <a:pPr marL="457200" lvl="0" indent="-298450" algn="l" rtl="0">
              <a:spcBef>
                <a:spcPts val="0"/>
              </a:spcBef>
              <a:spcAft>
                <a:spcPts val="0"/>
              </a:spcAft>
              <a:buSzPts val="1100"/>
              <a:buChar char="●"/>
            </a:pPr>
            <a:r>
              <a:rPr lang="en" sz="1100"/>
              <a:t>Events Documentation in React:</a:t>
            </a:r>
            <a:endParaRPr sz="1100"/>
          </a:p>
          <a:p>
            <a:pPr marL="914400" lvl="1" indent="-298450" algn="l" rtl="0">
              <a:spcBef>
                <a:spcPts val="0"/>
              </a:spcBef>
              <a:spcAft>
                <a:spcPts val="0"/>
              </a:spcAft>
              <a:buSzPts val="1100"/>
              <a:buChar char="○"/>
            </a:pPr>
            <a:r>
              <a:rPr lang="en" sz="1100" u="sng">
                <a:solidFill>
                  <a:schemeClr val="hlink"/>
                </a:solidFill>
                <a:hlinkClick r:id="rId7"/>
              </a:rPr>
              <a:t>https://reactjs.org/docs/events.html</a:t>
            </a:r>
            <a:r>
              <a:rPr lang="en" sz="1100"/>
              <a:t> </a:t>
            </a:r>
            <a:endParaRPr sz="1100"/>
          </a:p>
          <a:p>
            <a:pPr marL="0" lvl="0" indent="0" algn="l" rtl="0">
              <a:spcBef>
                <a:spcPts val="1600"/>
              </a:spcBef>
              <a:spcAft>
                <a:spcPts val="1600"/>
              </a:spcAft>
              <a:buNone/>
            </a:pPr>
            <a:endParaRPr sz="110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1656</Words>
  <Application>Microsoft Office PowerPoint</Application>
  <PresentationFormat>On-screen Show (16:9)</PresentationFormat>
  <Paragraphs>193</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Roboto Mono</vt:lpstr>
      <vt:lpstr>Roboto Slab</vt:lpstr>
      <vt:lpstr>Arial</vt:lpstr>
      <vt:lpstr>Roboto</vt:lpstr>
      <vt:lpstr>Marina</vt:lpstr>
      <vt:lpstr>Events and React State Fundamentals</vt:lpstr>
      <vt:lpstr>Announcements</vt:lpstr>
      <vt:lpstr>Where are we?</vt:lpstr>
      <vt:lpstr>Expectations - What I expect from you</vt:lpstr>
      <vt:lpstr>Events</vt:lpstr>
      <vt:lpstr>Events Examples</vt:lpstr>
      <vt:lpstr>State What is that?</vt:lpstr>
      <vt:lpstr>State Hooks and how they Work.</vt:lpstr>
      <vt:lpstr>State Hook Examples 1</vt:lpstr>
      <vt:lpstr>State Hook Examples 2</vt:lpstr>
      <vt:lpstr>JSX Conditionals - Ternary Operators</vt:lpstr>
      <vt:lpstr>JSX Conditionals - Short Circuits</vt:lpstr>
      <vt:lpstr>Example</vt:lpstr>
      <vt:lpstr>Reading/Resources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Jhimlie Eustaquio</dc:creator>
  <cp:lastModifiedBy>Jhimlie Eustaquio</cp:lastModifiedBy>
  <cp:revision>2</cp:revision>
  <dcterms:modified xsi:type="dcterms:W3CDTF">2026-10-05T17:23:34Z</dcterms:modified>
</cp:coreProperties>
</file>