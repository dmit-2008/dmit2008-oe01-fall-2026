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8" r:id="rId3"/>
    <p:sldId id="259" r:id="rId4"/>
    <p:sldId id="271" r:id="rId5"/>
    <p:sldId id="260" r:id="rId6"/>
    <p:sldId id="261" r:id="rId7"/>
    <p:sldId id="262" r:id="rId8"/>
    <p:sldId id="263" r:id="rId9"/>
    <p:sldId id="264" r:id="rId10"/>
    <p:sldId id="265" r:id="rId11"/>
    <p:sldId id="266" r:id="rId12"/>
    <p:sldId id="267" r:id="rId13"/>
    <p:sldId id="268" r:id="rId14"/>
    <p:sldId id="277" r:id="rId15"/>
    <p:sldId id="278" r:id="rId16"/>
    <p:sldId id="279" r:id="rId17"/>
    <p:sldId id="275" r:id="rId18"/>
    <p:sldId id="276" r:id="rId19"/>
    <p:sldId id="269" r:id="rId20"/>
    <p:sldId id="270" r:id="rId21"/>
  </p:sldIdLst>
  <p:sldSz cx="9144000" cy="5143500" type="screen16x9"/>
  <p:notesSz cx="6858000" cy="9144000"/>
  <p:embeddedFontLst>
    <p:embeddedFont>
      <p:font typeface="Consolas" panose="020B0609020204030204" pitchFamily="49" charset="0"/>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Mono" panose="00000009000000000000" pitchFamily="49" charset="0"/>
      <p:regular r:id="rId31"/>
      <p:bold r:id="rId32"/>
      <p:italic r:id="rId33"/>
      <p:boldItalic r:id="rId34"/>
    </p:embeddedFont>
    <p:embeddedFont>
      <p:font typeface="Roboto Slab" pitchFamily="2"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817" autoAdjust="0"/>
  </p:normalViewPr>
  <p:slideViewPr>
    <p:cSldViewPr snapToGrid="0">
      <p:cViewPr varScale="1">
        <p:scale>
          <a:sx n="82" d="100"/>
          <a:sy n="82" d="100"/>
        </p:scale>
        <p:origin x="14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imlie Eustaquio" userId="056709674e28ecbe" providerId="LiveId" clId="{EE34A1E4-FB65-4281-8752-43B6C66EB902}"/>
    <pc:docChg chg="undo custSel modSld">
      <pc:chgData name="Jhimlie Eustaquio" userId="056709674e28ecbe" providerId="LiveId" clId="{EE34A1E4-FB65-4281-8752-43B6C66EB902}" dt="2026-09-02T17:48:16.457" v="14" actId="5793"/>
      <pc:docMkLst>
        <pc:docMk/>
      </pc:docMkLst>
      <pc:sldChg chg="modSp mod">
        <pc:chgData name="Jhimlie Eustaquio" userId="056709674e28ecbe" providerId="LiveId" clId="{EE34A1E4-FB65-4281-8752-43B6C66EB902}" dt="2026-09-02T17:48:16.457" v="14" actId="5793"/>
        <pc:sldMkLst>
          <pc:docMk/>
          <pc:sldMk cId="0" sldId="270"/>
        </pc:sldMkLst>
        <pc:spChg chg="mod">
          <ac:chgData name="Jhimlie Eustaquio" userId="056709674e28ecbe" providerId="LiveId" clId="{EE34A1E4-FB65-4281-8752-43B6C66EB902}" dt="2026-09-02T17:47:59.777" v="7" actId="20577"/>
          <ac:spMkLst>
            <pc:docMk/>
            <pc:sldMk cId="0" sldId="270"/>
            <ac:spMk id="156" creationId="{00000000-0000-0000-0000-000000000000}"/>
          </ac:spMkLst>
        </pc:spChg>
        <pc:spChg chg="mod">
          <ac:chgData name="Jhimlie Eustaquio" userId="056709674e28ecbe" providerId="LiveId" clId="{EE34A1E4-FB65-4281-8752-43B6C66EB902}" dt="2026-09-02T17:48:16.457" v="14" actId="5793"/>
          <ac:spMkLst>
            <pc:docMk/>
            <pc:sldMk cId="0" sldId="270"/>
            <ac:spMk id="15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CA"/>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developer.mozilla.org/en-US/docs/Glossary/Method" TargetMode="External"/><Relationship Id="rId13" Type="http://schemas.openxmlformats.org/officeDocument/2006/relationships/hyperlink" Target="https://developer.mozilla.org/en-US/docs/Web/JavaScript/Reference/Operators/yield" TargetMode="External"/><Relationship Id="rId3" Type="http://schemas.openxmlformats.org/officeDocument/2006/relationships/hyperlink" Target="https://developer.mozilla.org/en-US/docs/Web/JavaScript/Reference/Operators/function" TargetMode="External"/><Relationship Id="rId7" Type="http://schemas.openxmlformats.org/officeDocument/2006/relationships/hyperlink" Target="https://developer.mozilla.org/en-US/docs/Web/JavaScript/Reference/Operators/super" TargetMode="External"/><Relationship Id="rId12" Type="http://schemas.openxmlformats.org/officeDocument/2006/relationships/hyperlink" Target="https://developer.mozilla.org/en-US/docs/Web/JavaScript/Reference/Operators/new.target"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developer.mozilla.org/en-US/docs/Web/JavaScript/Reference/Functions/arguments" TargetMode="External"/><Relationship Id="rId11" Type="http://schemas.openxmlformats.org/officeDocument/2006/relationships/hyperlink" Target="https://developer.mozilla.org/en-US/docs/Web/JavaScript/Reference/Global_Objects/TypeError" TargetMode="External"/><Relationship Id="rId5" Type="http://schemas.openxmlformats.org/officeDocument/2006/relationships/hyperlink" Target="https://developer.mozilla.org/en-US/docs/Web/JavaScript/Reference/Operators/this" TargetMode="External"/><Relationship Id="rId10" Type="http://schemas.openxmlformats.org/officeDocument/2006/relationships/hyperlink" Target="https://developer.mozilla.org/en-US/docs/Web/JavaScript/Reference/Operators/new" TargetMode="External"/><Relationship Id="rId4" Type="http://schemas.openxmlformats.org/officeDocument/2006/relationships/hyperlink" Target="https://developer.mozilla.org/en-US/docs/Glossary/Binding" TargetMode="External"/><Relationship Id="rId9" Type="http://schemas.openxmlformats.org/officeDocument/2006/relationships/hyperlink" Target="https://developer.mozilla.org/en-US/docs/Glossary/Constructor"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Download and install Node  - latest LTS (Long Term Support) version.</a:t>
            </a:r>
          </a:p>
          <a:p>
            <a:pPr marL="0" lvl="0" indent="0" algn="l" rtl="0">
              <a:spcBef>
                <a:spcPts val="0"/>
              </a:spcBef>
              <a:spcAft>
                <a:spcPts val="0"/>
              </a:spcAft>
              <a:buNone/>
            </a:pPr>
            <a:r>
              <a:rPr lang="en-CA" dirty="0"/>
              <a:t>https://nodejs.org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7c259f0d05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78" name="Google Shape;78;g7c259f0d0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ED2CCB25-E090-3EA6-B191-6F2CBAB4FD3C}"/>
            </a:ext>
          </a:extLst>
        </p:cNvPr>
        <p:cNvGrpSpPr/>
        <p:nvPr/>
      </p:nvGrpSpPr>
      <p:grpSpPr>
        <a:xfrm>
          <a:off x="0" y="0"/>
          <a:ext cx="0" cy="0"/>
          <a:chOff x="0" y="0"/>
          <a:chExt cx="0" cy="0"/>
        </a:xfrm>
      </p:grpSpPr>
      <p:sp>
        <p:nvSpPr>
          <p:cNvPr id="71" name="Google Shape;71;g4c141908b7_0_54:notes">
            <a:extLst>
              <a:ext uri="{FF2B5EF4-FFF2-40B4-BE49-F238E27FC236}">
                <a16:creationId xmlns:a16="http://schemas.microsoft.com/office/drawing/2014/main" id="{10E8E149-A38D-B7BD-EB16-3AA9CD7FA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72" name="Google Shape;72;g4c141908b7_0_54:notes">
            <a:extLst>
              <a:ext uri="{FF2B5EF4-FFF2-40B4-BE49-F238E27FC236}">
                <a16:creationId xmlns:a16="http://schemas.microsoft.com/office/drawing/2014/main" id="{6AD064FB-54D0-425F-041B-D7E65AE46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5054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7c259f0d05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84" name="Google Shape;84;g7c259f0d0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7c259f0d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90" name="Google Shape;90;g7c259f0d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7c259f0d0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96" name="Google Shape;96;g7c259f0d0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baseline="0" dirty="0">
                <a:solidFill>
                  <a:srgbClr val="000000"/>
                </a:solidFill>
                <a:latin typeface="Arial"/>
                <a:ea typeface="Arial"/>
                <a:cs typeface="Arial"/>
                <a:sym typeface="Arial"/>
              </a:rPr>
              <a:t>Read more about let : https://developer.mozilla.org/en-US/docs/Web/JavaScript/Reference/Statements/let</a:t>
            </a:r>
          </a:p>
          <a:p>
            <a:pPr marL="158750" indent="0">
              <a:buNone/>
            </a:pPr>
            <a:r>
              <a:rPr lang="en-US" sz="1100" b="0" i="0" u="none" strike="noStrike" cap="none" baseline="0" dirty="0">
                <a:solidFill>
                  <a:srgbClr val="000000"/>
                </a:solidFill>
                <a:latin typeface="Arial"/>
                <a:ea typeface="Arial"/>
                <a:cs typeface="Arial"/>
                <a:sym typeface="Arial"/>
              </a:rPr>
              <a:t>Read more about const : https://developer.mozilla.org/en-US/docs/Web/JavaScript/Reference/Statements/const</a:t>
            </a:r>
          </a:p>
          <a:p>
            <a:pPr marL="158750" indent="0">
              <a:buNone/>
            </a:pPr>
            <a:endParaRPr lang="en-US" sz="1100" b="0" i="0" u="none" strike="noStrike" cap="none" baseline="0" dirty="0">
              <a:solidFill>
                <a:srgbClr val="000000"/>
              </a:solidFill>
              <a:latin typeface="Arial"/>
              <a:cs typeface="Arial"/>
              <a:sym typeface="Arial"/>
            </a:endParaRPr>
          </a:p>
          <a:p>
            <a:pPr marL="158750" indent="0">
              <a:buNone/>
            </a:pPr>
            <a:r>
              <a:rPr lang="en-US" sz="1100" b="0" i="0" u="none" strike="noStrike" cap="none" baseline="0" dirty="0">
                <a:solidFill>
                  <a:srgbClr val="000000"/>
                </a:solidFill>
                <a:latin typeface="Arial"/>
                <a:ea typeface="Arial"/>
                <a:cs typeface="Arial"/>
                <a:sym typeface="Arial"/>
              </a:rPr>
              <a:t>let and const basically replace var . </a:t>
            </a:r>
          </a:p>
          <a:p>
            <a:pPr marL="158750" indent="0">
              <a:buNone/>
            </a:pPr>
            <a:r>
              <a:rPr lang="en-US" sz="1100" b="0" i="0" u="none" strike="noStrike" cap="none" baseline="0" dirty="0">
                <a:solidFill>
                  <a:srgbClr val="000000"/>
                </a:solidFill>
                <a:latin typeface="Arial"/>
                <a:ea typeface="Arial"/>
                <a:cs typeface="Arial"/>
                <a:sym typeface="Arial"/>
              </a:rPr>
              <a:t>You use let instead of var and const instead of var if you plan on never re-assigning this "variable" (effectively turning it into a </a:t>
            </a:r>
            <a:r>
              <a:rPr lang="en-CA" sz="1100" b="0" i="0" u="none" strike="noStrike" cap="none" baseline="0" dirty="0">
                <a:solidFill>
                  <a:srgbClr val="000000"/>
                </a:solidFill>
                <a:latin typeface="Arial"/>
                <a:ea typeface="Arial"/>
                <a:cs typeface="Arial"/>
                <a:sym typeface="Arial"/>
              </a:rPr>
              <a:t>constant therefore).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2e7155068d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04" name="Google Shape;104;g12e7155068d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baseline="0" dirty="0">
                <a:solidFill>
                  <a:srgbClr val="000000"/>
                </a:solidFill>
                <a:latin typeface="Arial"/>
                <a:ea typeface="Arial"/>
                <a:cs typeface="Arial"/>
                <a:sym typeface="Arial"/>
              </a:rPr>
              <a:t>Read more: https://developer.mozilla.org/en-US/docs/Web/JavaScript/Reference/Functions/Arrow_functions</a:t>
            </a:r>
          </a:p>
          <a:p>
            <a:pPr marL="158750" indent="0">
              <a:buNone/>
            </a:pPr>
            <a:endParaRPr lang="en-US" sz="1100" b="0" i="0" u="none" strike="noStrike" cap="none" baseline="0" dirty="0">
              <a:solidFill>
                <a:srgbClr val="000000"/>
              </a:solidFill>
              <a:latin typeface="Arial"/>
              <a:cs typeface="Arial"/>
              <a:sym typeface="Arial"/>
            </a:endParaRPr>
          </a:p>
          <a:p>
            <a:r>
              <a:rPr lang="en-CA" sz="1100" b="0" i="0" u="none" strike="noStrike" cap="none" dirty="0">
                <a:solidFill>
                  <a:srgbClr val="000000"/>
                </a:solidFill>
                <a:effectLst/>
                <a:latin typeface="Arial"/>
                <a:ea typeface="Arial"/>
                <a:cs typeface="Arial"/>
                <a:sym typeface="Arial"/>
              </a:rPr>
              <a:t>An </a:t>
            </a:r>
            <a:r>
              <a:rPr lang="en-CA" sz="1100" b="1" i="0" u="none" strike="noStrike" cap="none" dirty="0">
                <a:solidFill>
                  <a:srgbClr val="000000"/>
                </a:solidFill>
                <a:effectLst/>
                <a:latin typeface="Arial"/>
                <a:ea typeface="Arial"/>
                <a:cs typeface="Arial"/>
                <a:sym typeface="Arial"/>
              </a:rPr>
              <a:t>arrow function expression</a:t>
            </a:r>
            <a:r>
              <a:rPr lang="en-CA" sz="1100" b="0" i="0" u="none" strike="noStrike" cap="none" dirty="0">
                <a:solidFill>
                  <a:srgbClr val="000000"/>
                </a:solidFill>
                <a:effectLst/>
                <a:latin typeface="Arial"/>
                <a:ea typeface="Arial"/>
                <a:cs typeface="Arial"/>
                <a:sym typeface="Arial"/>
              </a:rPr>
              <a:t> is a compact alternative to a traditional </a:t>
            </a:r>
            <a:r>
              <a:rPr lang="en-CA" sz="1100" b="0" i="0" u="sng" strike="noStrike" cap="none" dirty="0">
                <a:solidFill>
                  <a:srgbClr val="000000"/>
                </a:solidFill>
                <a:effectLst/>
                <a:latin typeface="Arial"/>
                <a:ea typeface="Arial"/>
                <a:cs typeface="Arial"/>
                <a:sym typeface="Arial"/>
                <a:hlinkClick r:id="rId3"/>
              </a:rPr>
              <a:t>function expression</a:t>
            </a:r>
            <a:r>
              <a:rPr lang="en-CA" sz="1100" b="0" i="0" u="none" strike="noStrike" cap="none" dirty="0">
                <a:solidFill>
                  <a:srgbClr val="000000"/>
                </a:solidFill>
                <a:effectLst/>
                <a:latin typeface="Arial"/>
                <a:ea typeface="Arial"/>
                <a:cs typeface="Arial"/>
                <a:sym typeface="Arial"/>
              </a:rPr>
              <a:t>, with some semantic differences and deliberate limitations in usage:</a:t>
            </a:r>
          </a:p>
          <a:p>
            <a:pPr lvl="0"/>
            <a:r>
              <a:rPr lang="en-CA" sz="1100" b="0" i="0" u="none" strike="noStrike" cap="none" dirty="0">
                <a:solidFill>
                  <a:srgbClr val="000000"/>
                </a:solidFill>
                <a:effectLst/>
                <a:latin typeface="Arial"/>
                <a:ea typeface="Arial"/>
                <a:cs typeface="Arial"/>
                <a:sym typeface="Arial"/>
              </a:rPr>
              <a:t>Arrow functions don't have their own </a:t>
            </a:r>
            <a:r>
              <a:rPr lang="en-CA" sz="1100" b="0" i="0" u="sng" strike="noStrike" cap="none" dirty="0">
                <a:solidFill>
                  <a:srgbClr val="000000"/>
                </a:solidFill>
                <a:effectLst/>
                <a:latin typeface="Arial"/>
                <a:ea typeface="Arial"/>
                <a:cs typeface="Arial"/>
                <a:sym typeface="Arial"/>
                <a:hlinkClick r:id="rId4"/>
              </a:rPr>
              <a:t>bindings</a:t>
            </a:r>
            <a:r>
              <a:rPr lang="en-CA" sz="1100" b="0" i="0" u="none" strike="noStrike" cap="none" dirty="0">
                <a:solidFill>
                  <a:srgbClr val="000000"/>
                </a:solidFill>
                <a:effectLst/>
                <a:latin typeface="Arial"/>
                <a:ea typeface="Arial"/>
                <a:cs typeface="Arial"/>
                <a:sym typeface="Arial"/>
              </a:rPr>
              <a:t> to </a:t>
            </a:r>
            <a:r>
              <a:rPr lang="en-CA" sz="1100" b="0" i="0" u="sng" strike="noStrike" cap="none" dirty="0">
                <a:solidFill>
                  <a:srgbClr val="000000"/>
                </a:solidFill>
                <a:effectLst/>
                <a:latin typeface="Arial"/>
                <a:ea typeface="Arial"/>
                <a:cs typeface="Arial"/>
                <a:sym typeface="Arial"/>
                <a:hlinkClick r:id="rId5"/>
              </a:rPr>
              <a:t>this</a:t>
            </a:r>
            <a:r>
              <a:rPr lang="en-CA" sz="1100" b="0" i="0" u="none" strike="noStrike" cap="none" dirty="0">
                <a:solidFill>
                  <a:srgbClr val="000000"/>
                </a:solidFill>
                <a:effectLst/>
                <a:latin typeface="Arial"/>
                <a:ea typeface="Arial"/>
                <a:cs typeface="Arial"/>
                <a:sym typeface="Arial"/>
              </a:rPr>
              <a:t>, </a:t>
            </a:r>
            <a:r>
              <a:rPr lang="en-CA" sz="1100" b="0" i="0" u="sng" strike="noStrike" cap="none" dirty="0">
                <a:solidFill>
                  <a:srgbClr val="000000"/>
                </a:solidFill>
                <a:effectLst/>
                <a:latin typeface="Arial"/>
                <a:ea typeface="Arial"/>
                <a:cs typeface="Arial"/>
                <a:sym typeface="Arial"/>
                <a:hlinkClick r:id="rId6"/>
              </a:rPr>
              <a:t>arguments</a:t>
            </a:r>
            <a:r>
              <a:rPr lang="en-CA" sz="1100" b="0" i="0" u="none" strike="noStrike" cap="none" dirty="0">
                <a:solidFill>
                  <a:srgbClr val="000000"/>
                </a:solidFill>
                <a:effectLst/>
                <a:latin typeface="Arial"/>
                <a:ea typeface="Arial"/>
                <a:cs typeface="Arial"/>
                <a:sym typeface="Arial"/>
              </a:rPr>
              <a:t>, or </a:t>
            </a:r>
            <a:r>
              <a:rPr lang="en-CA" sz="1100" b="0" i="0" u="sng" strike="noStrike" cap="none" dirty="0">
                <a:solidFill>
                  <a:srgbClr val="000000"/>
                </a:solidFill>
                <a:effectLst/>
                <a:latin typeface="Arial"/>
                <a:ea typeface="Arial"/>
                <a:cs typeface="Arial"/>
                <a:sym typeface="Arial"/>
                <a:hlinkClick r:id="rId7"/>
              </a:rPr>
              <a:t>super</a:t>
            </a:r>
            <a:r>
              <a:rPr lang="en-CA" sz="1100" b="0" i="0" u="none" strike="noStrike" cap="none" dirty="0">
                <a:solidFill>
                  <a:srgbClr val="000000"/>
                </a:solidFill>
                <a:effectLst/>
                <a:latin typeface="Arial"/>
                <a:ea typeface="Arial"/>
                <a:cs typeface="Arial"/>
                <a:sym typeface="Arial"/>
              </a:rPr>
              <a:t>, and should not be used as </a:t>
            </a:r>
            <a:r>
              <a:rPr lang="en-CA" sz="1100" b="0" i="0" u="sng" strike="noStrike" cap="none" dirty="0">
                <a:solidFill>
                  <a:srgbClr val="000000"/>
                </a:solidFill>
                <a:effectLst/>
                <a:latin typeface="Arial"/>
                <a:ea typeface="Arial"/>
                <a:cs typeface="Arial"/>
                <a:sym typeface="Arial"/>
                <a:hlinkClick r:id="rId8"/>
              </a:rPr>
              <a:t>methods</a:t>
            </a:r>
            <a:r>
              <a:rPr lang="en-CA" sz="1100" b="0" i="0" u="none" strike="noStrike" cap="none" dirty="0">
                <a:solidFill>
                  <a:srgbClr val="000000"/>
                </a:solidFill>
                <a:effectLst/>
                <a:latin typeface="Arial"/>
                <a:ea typeface="Arial"/>
                <a:cs typeface="Arial"/>
                <a:sym typeface="Arial"/>
              </a:rPr>
              <a:t>.</a:t>
            </a:r>
          </a:p>
          <a:p>
            <a:pPr lvl="0"/>
            <a:r>
              <a:rPr lang="en-CA" sz="1100" b="0" i="0" u="none" strike="noStrike" cap="none" dirty="0">
                <a:solidFill>
                  <a:srgbClr val="000000"/>
                </a:solidFill>
                <a:effectLst/>
                <a:latin typeface="Arial"/>
                <a:ea typeface="Arial"/>
                <a:cs typeface="Arial"/>
                <a:sym typeface="Arial"/>
              </a:rPr>
              <a:t>Arrow functions cannot be used as </a:t>
            </a:r>
            <a:r>
              <a:rPr lang="en-CA" sz="1100" b="0" i="0" u="sng" strike="noStrike" cap="none" dirty="0">
                <a:solidFill>
                  <a:srgbClr val="000000"/>
                </a:solidFill>
                <a:effectLst/>
                <a:latin typeface="Arial"/>
                <a:ea typeface="Arial"/>
                <a:cs typeface="Arial"/>
                <a:sym typeface="Arial"/>
                <a:hlinkClick r:id="rId9"/>
              </a:rPr>
              <a:t>constructors</a:t>
            </a:r>
            <a:r>
              <a:rPr lang="en-CA" sz="1100" b="0" i="0" u="none" strike="noStrike" cap="none" dirty="0">
                <a:solidFill>
                  <a:srgbClr val="000000"/>
                </a:solidFill>
                <a:effectLst/>
                <a:latin typeface="Arial"/>
                <a:ea typeface="Arial"/>
                <a:cs typeface="Arial"/>
                <a:sym typeface="Arial"/>
              </a:rPr>
              <a:t>. Calling them with </a:t>
            </a:r>
            <a:r>
              <a:rPr lang="en-CA" sz="1100" b="0" i="0" u="sng" strike="noStrike" cap="none" dirty="0">
                <a:solidFill>
                  <a:srgbClr val="000000"/>
                </a:solidFill>
                <a:effectLst/>
                <a:latin typeface="Arial"/>
                <a:ea typeface="Arial"/>
                <a:cs typeface="Arial"/>
                <a:sym typeface="Arial"/>
                <a:hlinkClick r:id="rId10"/>
              </a:rPr>
              <a:t>new</a:t>
            </a:r>
            <a:r>
              <a:rPr lang="en-CA" sz="1100" b="0" i="0" u="none" strike="noStrike" cap="none" dirty="0">
                <a:solidFill>
                  <a:srgbClr val="000000"/>
                </a:solidFill>
                <a:effectLst/>
                <a:latin typeface="Arial"/>
                <a:ea typeface="Arial"/>
                <a:cs typeface="Arial"/>
                <a:sym typeface="Arial"/>
              </a:rPr>
              <a:t> throws a </a:t>
            </a:r>
            <a:r>
              <a:rPr lang="en-CA" sz="1100" b="0" i="0" u="sng" strike="noStrike" cap="none" dirty="0" err="1">
                <a:solidFill>
                  <a:srgbClr val="000000"/>
                </a:solidFill>
                <a:effectLst/>
                <a:latin typeface="Arial"/>
                <a:ea typeface="Arial"/>
                <a:cs typeface="Arial"/>
                <a:sym typeface="Arial"/>
                <a:hlinkClick r:id="rId11"/>
              </a:rPr>
              <a:t>TypeError</a:t>
            </a:r>
            <a:r>
              <a:rPr lang="en-CA" sz="1100" b="0" i="0" u="none" strike="noStrike" cap="none" dirty="0">
                <a:solidFill>
                  <a:srgbClr val="000000"/>
                </a:solidFill>
                <a:effectLst/>
                <a:latin typeface="Arial"/>
                <a:ea typeface="Arial"/>
                <a:cs typeface="Arial"/>
                <a:sym typeface="Arial"/>
              </a:rPr>
              <a:t>. They also don't have access to the </a:t>
            </a:r>
            <a:r>
              <a:rPr lang="en-CA" sz="1100" b="0" i="0" u="sng" strike="noStrike" cap="none" dirty="0" err="1">
                <a:solidFill>
                  <a:srgbClr val="000000"/>
                </a:solidFill>
                <a:effectLst/>
                <a:latin typeface="Arial"/>
                <a:ea typeface="Arial"/>
                <a:cs typeface="Arial"/>
                <a:sym typeface="Arial"/>
                <a:hlinkClick r:id="rId12"/>
              </a:rPr>
              <a:t>new.target</a:t>
            </a:r>
            <a:r>
              <a:rPr lang="en-CA" sz="1100" b="0" i="0" u="none" strike="noStrike" cap="none" dirty="0">
                <a:solidFill>
                  <a:srgbClr val="000000"/>
                </a:solidFill>
                <a:effectLst/>
                <a:latin typeface="Arial"/>
                <a:ea typeface="Arial"/>
                <a:cs typeface="Arial"/>
                <a:sym typeface="Arial"/>
              </a:rPr>
              <a:t> keyword.</a:t>
            </a:r>
          </a:p>
          <a:p>
            <a:pPr lvl="0"/>
            <a:r>
              <a:rPr lang="en-CA" sz="1100" b="0" i="0" u="none" strike="noStrike" cap="none" dirty="0">
                <a:solidFill>
                  <a:srgbClr val="000000"/>
                </a:solidFill>
                <a:effectLst/>
                <a:latin typeface="Arial"/>
                <a:ea typeface="Arial"/>
                <a:cs typeface="Arial"/>
                <a:sym typeface="Arial"/>
              </a:rPr>
              <a:t>Arrow functions cannot use </a:t>
            </a:r>
            <a:r>
              <a:rPr lang="en-CA" sz="1100" b="0" i="0" u="sng" strike="noStrike" cap="none" dirty="0">
                <a:solidFill>
                  <a:srgbClr val="000000"/>
                </a:solidFill>
                <a:effectLst/>
                <a:latin typeface="Arial"/>
                <a:ea typeface="Arial"/>
                <a:cs typeface="Arial"/>
                <a:sym typeface="Arial"/>
                <a:hlinkClick r:id="rId13"/>
              </a:rPr>
              <a:t>yield</a:t>
            </a:r>
            <a:r>
              <a:rPr lang="en-CA" sz="1100" b="0" i="0" u="none" strike="noStrike" cap="none" dirty="0">
                <a:solidFill>
                  <a:srgbClr val="000000"/>
                </a:solidFill>
                <a:effectLst/>
                <a:latin typeface="Arial"/>
                <a:ea typeface="Arial"/>
                <a:cs typeface="Arial"/>
                <a:sym typeface="Arial"/>
              </a:rPr>
              <a:t> within their body and cannot be created as generator functions.</a:t>
            </a:r>
          </a:p>
          <a:p>
            <a:pPr marL="158750" indent="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2e7155068d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11" name="Google Shape;111;g12e7155068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2e7155068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18" name="Google Shape;118;g12e7155068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e7155068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26" name="Google Shape;126;g12e7155068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2e7155068d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34" name="Google Shape;134;g12e7155068d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7c259f0d05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41" name="Google Shape;141;g7c259f0d05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An </a:t>
            </a:r>
            <a:r>
              <a:rPr lang="en-CA" sz="1100" b="0" i="0" u="none" strike="noStrike" cap="none" dirty="0">
                <a:solidFill>
                  <a:srgbClr val="000000"/>
                </a:solidFill>
                <a:effectLst/>
                <a:latin typeface="Arial"/>
                <a:ea typeface="Arial"/>
                <a:cs typeface="Arial"/>
                <a:sym typeface="Arial"/>
              </a:rPr>
              <a:t>IIFE</a:t>
            </a:r>
            <a:r>
              <a:rPr lang="en-CA" dirty="0"/>
              <a:t> (Immediately Invoked Function Expression) is a JavaScript function that runs as soon as it is defined.</a:t>
            </a:r>
          </a:p>
          <a:p>
            <a:pPr marL="0" lvl="0" indent="0" algn="l" rtl="0">
              <a:spcBef>
                <a:spcPts val="0"/>
              </a:spcBef>
              <a:spcAft>
                <a:spcPts val="0"/>
              </a:spcAft>
              <a:buNone/>
            </a:pPr>
            <a:r>
              <a:rPr lang="en-CA" dirty="0"/>
              <a:t>In ES6 (ECMAScript 2015), you can write an IIFE cleanly using block scopes, arrow functions, and modern syntax.</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7c3c4c95f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7c3c4c95f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indent="0">
              <a:buNone/>
            </a:pPr>
            <a:r>
              <a:rPr lang="en-US" dirty="0"/>
              <a:t>The spread operator syntax: ...</a:t>
            </a:r>
          </a:p>
          <a:p>
            <a:pPr marL="139700" indent="0">
              <a:buNone/>
            </a:pPr>
            <a:endParaRPr lang="en-US" dirty="0"/>
          </a:p>
          <a:p>
            <a:pPr marL="139700" indent="0">
              <a:buNone/>
            </a:pPr>
            <a:r>
              <a:rPr lang="en-US" dirty="0"/>
              <a:t>Yes, that is the operator - just three dots.</a:t>
            </a:r>
          </a:p>
          <a:p>
            <a:pPr marL="139700" indent="0">
              <a:buNone/>
            </a:pPr>
            <a:endParaRPr lang="en-US" dirty="0"/>
          </a:p>
          <a:p>
            <a:pPr marL="139700" indent="0">
              <a:buNone/>
            </a:pPr>
            <a:r>
              <a:rPr lang="en-US" b="1" dirty="0"/>
              <a:t>Using the Spread Operator:</a:t>
            </a:r>
          </a:p>
          <a:p>
            <a:pPr marL="139700" indent="0">
              <a:buNone/>
            </a:pPr>
            <a:r>
              <a:rPr lang="en-US" dirty="0"/>
              <a:t>The spread operator allows you to pull elements out of an array (split the array into a list of its elements) or pull the properties out of an object. </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7c3c4c95ff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7c3c4c95f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baseline="0" dirty="0">
                <a:solidFill>
                  <a:srgbClr val="000000"/>
                </a:solidFill>
                <a:latin typeface="Arial"/>
                <a:ea typeface="Arial"/>
                <a:cs typeface="Arial"/>
                <a:sym typeface="Arial"/>
              </a:rPr>
              <a:t>The spread operator is extremely useful for cloning arrays </a:t>
            </a:r>
            <a:r>
              <a:rPr lang="en-CA" sz="1100" b="0" i="0" u="none" strike="noStrike" cap="none" baseline="0" dirty="0">
                <a:solidFill>
                  <a:srgbClr val="000000"/>
                </a:solidFill>
                <a:latin typeface="Arial"/>
                <a:ea typeface="Arial"/>
                <a:cs typeface="Arial"/>
                <a:sym typeface="Arial"/>
              </a:rPr>
              <a:t>and objects. </a:t>
            </a:r>
            <a:r>
              <a:rPr lang="en-US" sz="1100" b="0" i="0" u="none" strike="noStrike" cap="none" baseline="0" dirty="0">
                <a:solidFill>
                  <a:srgbClr val="000000"/>
                </a:solidFill>
                <a:latin typeface="Arial"/>
                <a:ea typeface="Arial"/>
                <a:cs typeface="Arial"/>
                <a:sym typeface="Arial"/>
              </a:rPr>
              <a:t>Since both are reference types (and not primitives), copying them safely (i.e. preventing future mutation of the copied original) can be tricky. With the spread operator you have an easy way of creating a (shallow!) clone of the object or array.</a:t>
            </a:r>
            <a:endParaRPr lang="en-CA" dirty="0"/>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7b7feda192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7b7feda19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Destructuring allows you to easily access the values of arrays or objects and assign them to variables.</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3492F433-046E-BD3D-1AD9-3A1C56D80FDC}"/>
            </a:ext>
          </a:extLst>
        </p:cNvPr>
        <p:cNvGrpSpPr/>
        <p:nvPr/>
      </p:nvGrpSpPr>
      <p:grpSpPr>
        <a:xfrm>
          <a:off x="0" y="0"/>
          <a:ext cx="0" cy="0"/>
          <a:chOff x="0" y="0"/>
          <a:chExt cx="0" cy="0"/>
        </a:xfrm>
      </p:grpSpPr>
      <p:sp>
        <p:nvSpPr>
          <p:cNvPr id="140" name="Google Shape;140;g7c259f0d05_0_125:notes">
            <a:extLst>
              <a:ext uri="{FF2B5EF4-FFF2-40B4-BE49-F238E27FC236}">
                <a16:creationId xmlns:a16="http://schemas.microsoft.com/office/drawing/2014/main" id="{384455FC-1CAE-F42C-7845-96710E03C6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41" name="Google Shape;141;g7c259f0d05_0_125:notes">
            <a:extLst>
              <a:ext uri="{FF2B5EF4-FFF2-40B4-BE49-F238E27FC236}">
                <a16:creationId xmlns:a16="http://schemas.microsoft.com/office/drawing/2014/main" id="{50E0BCDE-EA66-C5C8-3BA9-4DD15BF530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baseline="0" dirty="0">
                <a:solidFill>
                  <a:srgbClr val="000000"/>
                </a:solidFill>
                <a:latin typeface="Arial"/>
                <a:ea typeface="Arial"/>
                <a:cs typeface="Arial"/>
                <a:sym typeface="Arial"/>
              </a:rPr>
              <a:t>We get the same result, but we save some code.</a:t>
            </a:r>
          </a:p>
          <a:p>
            <a:pPr marL="158750" indent="0">
              <a:buNone/>
            </a:pPr>
            <a:r>
              <a:rPr lang="en-US" sz="1100" b="0" i="0" u="none" strike="noStrike" cap="none" baseline="0" dirty="0">
                <a:solidFill>
                  <a:srgbClr val="000000"/>
                </a:solidFill>
                <a:latin typeface="Arial"/>
                <a:ea typeface="Arial"/>
                <a:cs typeface="Arial"/>
                <a:sym typeface="Arial"/>
              </a:rPr>
              <a:t>By </a:t>
            </a:r>
            <a:r>
              <a:rPr lang="en-US" sz="1100" b="0" i="0" u="none" strike="noStrike" cap="none" baseline="0" dirty="0" err="1">
                <a:solidFill>
                  <a:srgbClr val="000000"/>
                </a:solidFill>
                <a:latin typeface="Arial"/>
                <a:ea typeface="Arial"/>
                <a:cs typeface="Arial"/>
                <a:sym typeface="Arial"/>
              </a:rPr>
              <a:t>destructuring</a:t>
            </a:r>
            <a:r>
              <a:rPr lang="en-US" sz="1100" b="0" i="0" u="none" strike="noStrike" cap="none" baseline="0" dirty="0">
                <a:solidFill>
                  <a:srgbClr val="000000"/>
                </a:solidFill>
                <a:latin typeface="Arial"/>
                <a:ea typeface="Arial"/>
                <a:cs typeface="Arial"/>
                <a:sym typeface="Arial"/>
              </a:rPr>
              <a:t>, we simply pull out the name property and store it in a variable/ argument named name which we then can use in the function body.</a:t>
            </a:r>
            <a:endParaRPr lang="en-CA" dirty="0"/>
          </a:p>
        </p:txBody>
      </p:sp>
    </p:spTree>
    <p:extLst>
      <p:ext uri="{BB962C8B-B14F-4D97-AF65-F5344CB8AC3E}">
        <p14:creationId xmlns:p14="http://schemas.microsoft.com/office/powerpoint/2010/main" val="2955975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A69EA6E7-7169-70D6-006B-98D0A658A95A}"/>
            </a:ext>
          </a:extLst>
        </p:cNvPr>
        <p:cNvGrpSpPr/>
        <p:nvPr/>
      </p:nvGrpSpPr>
      <p:grpSpPr>
        <a:xfrm>
          <a:off x="0" y="0"/>
          <a:ext cx="0" cy="0"/>
          <a:chOff x="0" y="0"/>
          <a:chExt cx="0" cy="0"/>
        </a:xfrm>
      </p:grpSpPr>
      <p:sp>
        <p:nvSpPr>
          <p:cNvPr id="140" name="Google Shape;140;g7c259f0d05_0_125:notes">
            <a:extLst>
              <a:ext uri="{FF2B5EF4-FFF2-40B4-BE49-F238E27FC236}">
                <a16:creationId xmlns:a16="http://schemas.microsoft.com/office/drawing/2014/main" id="{FABF2332-767F-A9D3-BF68-46A0BA6673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41" name="Google Shape;141;g7c259f0d05_0_125:notes">
            <a:extLst>
              <a:ext uri="{FF2B5EF4-FFF2-40B4-BE49-F238E27FC236}">
                <a16:creationId xmlns:a16="http://schemas.microsoft.com/office/drawing/2014/main" id="{F3186763-86ED-4EB7-A440-A636A210CD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baseline="0" dirty="0">
                <a:solidFill>
                  <a:srgbClr val="000000"/>
                </a:solidFill>
                <a:latin typeface="Arial"/>
                <a:ea typeface="Arial"/>
                <a:cs typeface="Arial"/>
                <a:sym typeface="Arial"/>
              </a:rPr>
              <a:t>A file can only contain one default and an unlimited amount of named exports. You can also mix the one default with any amount of named exports in one and the same file.</a:t>
            </a:r>
          </a:p>
          <a:p>
            <a:pPr marL="158750" indent="0">
              <a:buNone/>
            </a:pPr>
            <a:endParaRPr lang="en-US" sz="1100" b="0" i="0" u="none" strike="noStrike" cap="none" baseline="0" dirty="0">
              <a:solidFill>
                <a:srgbClr val="000000"/>
              </a:solidFill>
              <a:latin typeface="Arial"/>
              <a:ea typeface="Arial"/>
              <a:cs typeface="Arial"/>
              <a:sym typeface="Arial"/>
            </a:endParaRPr>
          </a:p>
          <a:p>
            <a:pPr marL="158750" indent="0">
              <a:buNone/>
            </a:pPr>
            <a:r>
              <a:rPr lang="en-US" sz="1100" b="0" i="0" u="none" strike="noStrike" cap="none" baseline="0" dirty="0">
                <a:solidFill>
                  <a:srgbClr val="000000"/>
                </a:solidFill>
                <a:latin typeface="Arial"/>
                <a:ea typeface="Arial"/>
                <a:cs typeface="Arial"/>
                <a:sym typeface="Arial"/>
              </a:rPr>
              <a:t>When importing </a:t>
            </a:r>
            <a:r>
              <a:rPr lang="en-US" sz="1100" b="1" i="0" u="none" strike="noStrike" cap="none" baseline="0" dirty="0">
                <a:solidFill>
                  <a:srgbClr val="000000"/>
                </a:solidFill>
                <a:latin typeface="Arial"/>
                <a:ea typeface="Arial"/>
                <a:cs typeface="Arial"/>
                <a:sym typeface="Arial"/>
              </a:rPr>
              <a:t>named exports</a:t>
            </a:r>
            <a:r>
              <a:rPr lang="en-US" sz="1100" b="0" i="0" u="none" strike="noStrike" cap="none" baseline="0" dirty="0">
                <a:solidFill>
                  <a:srgbClr val="000000"/>
                </a:solidFill>
                <a:latin typeface="Arial"/>
                <a:ea typeface="Arial"/>
                <a:cs typeface="Arial"/>
                <a:sym typeface="Arial"/>
              </a:rPr>
              <a:t>, you can also import all named exports at once with the following syntax: </a:t>
            </a:r>
          </a:p>
          <a:p>
            <a:pPr marL="158750" indent="0">
              <a:buNone/>
            </a:pPr>
            <a:r>
              <a:rPr lang="en-US" sz="1100" b="0" i="0" u="none" strike="noStrike" cap="none" baseline="0" dirty="0">
                <a:solidFill>
                  <a:srgbClr val="000000"/>
                </a:solidFill>
                <a:latin typeface="Arial"/>
                <a:ea typeface="Arial"/>
                <a:cs typeface="Arial"/>
                <a:sym typeface="Arial"/>
              </a:rPr>
              <a:t>import * as </a:t>
            </a:r>
            <a:r>
              <a:rPr lang="en-US" sz="1100" b="0" i="0" u="none" strike="noStrike" cap="none" baseline="0" dirty="0" err="1">
                <a:solidFill>
                  <a:srgbClr val="000000"/>
                </a:solidFill>
                <a:latin typeface="Arial"/>
                <a:ea typeface="Arial"/>
                <a:cs typeface="Arial"/>
                <a:sym typeface="Arial"/>
              </a:rPr>
              <a:t>upToYou</a:t>
            </a:r>
            <a:r>
              <a:rPr lang="en-US" sz="1100" b="0" i="0" u="none" strike="noStrike" cap="none" baseline="0" dirty="0">
                <a:solidFill>
                  <a:srgbClr val="000000"/>
                </a:solidFill>
                <a:latin typeface="Arial"/>
                <a:ea typeface="Arial"/>
                <a:cs typeface="Arial"/>
                <a:sym typeface="Arial"/>
              </a:rPr>
              <a:t> from './path/to/file.js’;</a:t>
            </a:r>
          </a:p>
          <a:p>
            <a:pPr marL="158750" indent="0">
              <a:buNone/>
            </a:pPr>
            <a:endParaRPr lang="en-US" sz="1100" b="0" i="0" u="none" strike="noStrike" cap="none" baseline="0" dirty="0">
              <a:solidFill>
                <a:srgbClr val="000000"/>
              </a:solidFill>
              <a:latin typeface="Arial"/>
              <a:cs typeface="Arial"/>
              <a:sym typeface="Arial"/>
            </a:endParaRPr>
          </a:p>
          <a:p>
            <a:pPr marL="158750" indent="0">
              <a:buNone/>
            </a:pPr>
            <a:r>
              <a:rPr lang="en-US" sz="1100" b="0" i="0" u="none" strike="noStrike" cap="none" baseline="0" dirty="0" err="1">
                <a:solidFill>
                  <a:srgbClr val="000000"/>
                </a:solidFill>
                <a:latin typeface="Arial"/>
                <a:ea typeface="Arial"/>
                <a:cs typeface="Arial"/>
                <a:sym typeface="Arial"/>
              </a:rPr>
              <a:t>upToYou</a:t>
            </a:r>
            <a:r>
              <a:rPr lang="en-US" sz="1100" b="0" i="0" u="none" strike="noStrike" cap="none" baseline="0" dirty="0">
                <a:solidFill>
                  <a:srgbClr val="000000"/>
                </a:solidFill>
                <a:latin typeface="Arial"/>
                <a:ea typeface="Arial"/>
                <a:cs typeface="Arial"/>
                <a:sym typeface="Arial"/>
              </a:rPr>
              <a:t> is - well - up to you and simply bundles all exported variables/functions in one JavaScript object. For example, if you export const </a:t>
            </a:r>
            <a:r>
              <a:rPr lang="en-US" sz="1100" b="0" i="0" u="none" strike="noStrike" cap="none" baseline="0" dirty="0" err="1">
                <a:solidFill>
                  <a:srgbClr val="000000"/>
                </a:solidFill>
                <a:latin typeface="Arial"/>
                <a:ea typeface="Arial"/>
                <a:cs typeface="Arial"/>
                <a:sym typeface="Arial"/>
              </a:rPr>
              <a:t>someData</a:t>
            </a:r>
            <a:r>
              <a:rPr lang="en-US" sz="1100" b="0" i="0" u="none" strike="noStrike" cap="none" baseline="0" dirty="0">
                <a:solidFill>
                  <a:srgbClr val="000000"/>
                </a:solidFill>
                <a:latin typeface="Arial"/>
                <a:ea typeface="Arial"/>
                <a:cs typeface="Arial"/>
                <a:sym typeface="Arial"/>
              </a:rPr>
              <a:t> = ... (/path/to/file.js ) you can access it on </a:t>
            </a:r>
            <a:r>
              <a:rPr lang="en-US" sz="1100" b="0" i="0" u="none" strike="noStrike" cap="none" baseline="0" dirty="0" err="1">
                <a:solidFill>
                  <a:srgbClr val="000000"/>
                </a:solidFill>
                <a:latin typeface="Arial"/>
                <a:ea typeface="Arial"/>
                <a:cs typeface="Arial"/>
                <a:sym typeface="Arial"/>
              </a:rPr>
              <a:t>upToYou</a:t>
            </a:r>
            <a:r>
              <a:rPr lang="en-US" sz="1100" b="0" i="0" u="none" strike="noStrike" cap="none" baseline="0" dirty="0">
                <a:solidFill>
                  <a:srgbClr val="000000"/>
                </a:solidFill>
                <a:latin typeface="Arial"/>
                <a:ea typeface="Arial"/>
                <a:cs typeface="Arial"/>
                <a:sym typeface="Arial"/>
              </a:rPr>
              <a:t> like </a:t>
            </a:r>
            <a:r>
              <a:rPr lang="en-CA" sz="1100" b="0" i="0" u="none" strike="noStrike" cap="none" baseline="0" dirty="0">
                <a:solidFill>
                  <a:srgbClr val="000000"/>
                </a:solidFill>
                <a:latin typeface="Arial"/>
                <a:ea typeface="Arial"/>
                <a:cs typeface="Arial"/>
                <a:sym typeface="Arial"/>
              </a:rPr>
              <a:t>this: </a:t>
            </a:r>
            <a:r>
              <a:rPr lang="en-CA" sz="1100" b="0" i="0" u="none" strike="noStrike" cap="none" baseline="0" dirty="0" err="1">
                <a:solidFill>
                  <a:srgbClr val="000000"/>
                </a:solidFill>
                <a:latin typeface="Arial"/>
                <a:ea typeface="Arial"/>
                <a:cs typeface="Arial"/>
                <a:sym typeface="Arial"/>
              </a:rPr>
              <a:t>upToYou.someData</a:t>
            </a:r>
            <a:r>
              <a:rPr lang="en-CA" sz="1100" b="0" i="0" u="none" strike="noStrike" cap="none" baseline="0" dirty="0">
                <a:solidFill>
                  <a:srgbClr val="000000"/>
                </a:solidFill>
                <a:latin typeface="Arial"/>
                <a:ea typeface="Arial"/>
                <a:cs typeface="Arial"/>
                <a:sym typeface="Arial"/>
              </a:rPr>
              <a:t> .</a:t>
            </a:r>
            <a:endParaRPr lang="en-CA" dirty="0"/>
          </a:p>
        </p:txBody>
      </p:sp>
    </p:spTree>
    <p:extLst>
      <p:ext uri="{BB962C8B-B14F-4D97-AF65-F5344CB8AC3E}">
        <p14:creationId xmlns:p14="http://schemas.microsoft.com/office/powerpoint/2010/main" val="717753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7b72d3eb4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49" name="Google Shape;149;g7b72d3eb4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7b72d3eb4f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CA"/>
          </a:p>
        </p:txBody>
      </p:sp>
      <p:sp>
        <p:nvSpPr>
          <p:cNvPr id="154" name="Google Shape;154;g7b72d3eb4f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A"/>
          </a:p>
        </p:txBody>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txBody>
          <a:bodyPr/>
          <a:lstStyle/>
          <a:p>
            <a:endParaRPr lang="en-CA"/>
          </a:p>
        </p:txBody>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ECMAScrip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jsbin.com/vamulax/1/edit?js,console"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developer.mozilla.org/en-US/docs/Web/JavaScript/Guide/Expressions_and_Operators#comparison_operator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jsbin.com/jizecax/edit?js,consol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flukeout.github.io/"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jsbin.com/ziwopol/edit?js,console"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jsbin.com/pakefox/edit?js,console"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jsbin.com/tokubodise/1/edit?js,consol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jsbin.com/lutohaf/14/edit?js,console"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jsbin.com/gahulod/6/edit?js,console"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Promis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developer.mozilla.org/en-US/docs/Web/API/Fetch_AP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Advanced Javascript</a:t>
            </a:r>
            <a:endParaRPr/>
          </a:p>
          <a:p>
            <a:pPr marL="0" lvl="0" indent="0" algn="ctr" rtl="0">
              <a:spcBef>
                <a:spcPts val="0"/>
              </a:spcBef>
              <a:spcAft>
                <a:spcPts val="0"/>
              </a:spcAft>
              <a:buNone/>
            </a:pPr>
            <a:r>
              <a:rPr lang="en"/>
              <a:t>ES5, ES6 and Review</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Previously…</a:t>
            </a:r>
            <a:endParaRPr dirty="0"/>
          </a:p>
        </p:txBody>
      </p:sp>
      <p:sp>
        <p:nvSpPr>
          <p:cNvPr id="75" name="Google Shape;75;p1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dirty="0"/>
              <a:t>Overview of Front-End Frameworks</a:t>
            </a:r>
            <a:endParaRPr dirty="0"/>
          </a:p>
          <a:p>
            <a:pPr marL="457200" lvl="0" indent="-342900" algn="l" rtl="0">
              <a:spcBef>
                <a:spcPts val="0"/>
              </a:spcBef>
              <a:spcAft>
                <a:spcPts val="0"/>
              </a:spcAft>
              <a:buSzPts val="1800"/>
              <a:buAutoNum type="arabicPeriod"/>
            </a:pPr>
            <a:r>
              <a:rPr lang="en" dirty="0"/>
              <a:t>Required Tools</a:t>
            </a:r>
            <a:endParaRPr dirty="0"/>
          </a:p>
          <a:p>
            <a:pPr marL="914400" lvl="1" indent="-317500" algn="l" rtl="0">
              <a:spcBef>
                <a:spcPts val="0"/>
              </a:spcBef>
              <a:spcAft>
                <a:spcPts val="0"/>
              </a:spcAft>
              <a:buSzPts val="1400"/>
              <a:buAutoNum type="alphaLcPeriod"/>
            </a:pPr>
            <a:r>
              <a:rPr lang="en-US" dirty="0"/>
              <a:t>VS Code</a:t>
            </a:r>
            <a:endParaRPr dirty="0"/>
          </a:p>
          <a:p>
            <a:pPr marL="914400" lvl="1" indent="-317500" algn="l" rtl="0">
              <a:spcBef>
                <a:spcPts val="0"/>
              </a:spcBef>
              <a:spcAft>
                <a:spcPts val="0"/>
              </a:spcAft>
              <a:buSzPts val="1400"/>
              <a:buAutoNum type="alphaLcPeriod"/>
            </a:pPr>
            <a:r>
              <a:rPr lang="en" dirty="0"/>
              <a:t>git</a:t>
            </a:r>
            <a:endParaRPr dirty="0"/>
          </a:p>
          <a:p>
            <a:pPr marL="914400" lvl="1" indent="-317500" algn="l" rtl="0">
              <a:spcBef>
                <a:spcPts val="0"/>
              </a:spcBef>
              <a:spcAft>
                <a:spcPts val="0"/>
              </a:spcAft>
              <a:buSzPts val="1400"/>
              <a:buAutoNum type="alphaLcPeriod"/>
            </a:pPr>
            <a:r>
              <a:rPr lang="en-CA" dirty="0"/>
              <a:t>N</a:t>
            </a:r>
            <a:r>
              <a:rPr lang="en" dirty="0"/>
              <a:t>ode (Latest LTS)</a:t>
            </a:r>
            <a:endParaRPr dirty="0"/>
          </a:p>
          <a:p>
            <a:pPr marL="914400" lvl="1" indent="-317500" algn="l" rtl="0">
              <a:spcBef>
                <a:spcPts val="0"/>
              </a:spcBef>
              <a:spcAft>
                <a:spcPts val="0"/>
              </a:spcAft>
              <a:buSzPts val="1400"/>
              <a:buAutoNum type="alphaLcPeriod"/>
            </a:pPr>
            <a:r>
              <a:rPr lang="en" dirty="0"/>
              <a:t>npm</a:t>
            </a:r>
            <a:endParaRPr dirty="0"/>
          </a:p>
          <a:p>
            <a:pPr marL="457200" lvl="0" indent="-342900" algn="l" rtl="0">
              <a:spcBef>
                <a:spcPts val="0"/>
              </a:spcBef>
              <a:spcAft>
                <a:spcPts val="0"/>
              </a:spcAft>
              <a:buSzPts val="1800"/>
              <a:buAutoNum type="arabicPeriod"/>
            </a:pPr>
            <a:r>
              <a:rPr lang="en-US" dirty="0"/>
              <a:t>Grant access on your Student Workbook Git Repo</a:t>
            </a:r>
            <a:endParaRPr dirty="0"/>
          </a:p>
          <a:p>
            <a:pPr marL="457200" lvl="0" indent="0" algn="l" rtl="0">
              <a:spcBef>
                <a:spcPts val="1600"/>
              </a:spcBef>
              <a:spcAft>
                <a:spcPts val="160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81" name="Google Shape;81;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US" dirty="0"/>
              <a:t>Pay Attention and ask questions while on session.</a:t>
            </a:r>
            <a:endParaRPr dirty="0"/>
          </a:p>
          <a:p>
            <a:pPr marL="457200" lvl="0" indent="-342900" algn="l" rtl="0">
              <a:spcBef>
                <a:spcPts val="0"/>
              </a:spcBef>
              <a:spcAft>
                <a:spcPts val="0"/>
              </a:spcAft>
              <a:buSzPts val="1800"/>
              <a:buAutoNum type="arabicPeriod"/>
            </a:pPr>
            <a:r>
              <a:rPr lang="en" dirty="0"/>
              <a:t>Follow along the coding exercises.</a:t>
            </a:r>
            <a:endParaRPr dirty="0"/>
          </a:p>
          <a:p>
            <a:pPr marL="457200" lvl="0" indent="-342900" algn="l" rtl="0">
              <a:spcBef>
                <a:spcPts val="0"/>
              </a:spcBef>
              <a:spcAft>
                <a:spcPts val="0"/>
              </a:spcAft>
              <a:buSzPts val="1800"/>
              <a:buAutoNum type="arabicPeriod"/>
            </a:pPr>
            <a:r>
              <a:rPr lang="en-US" dirty="0"/>
              <a:t>Focus on the task on hand, don’t go wandering.</a:t>
            </a:r>
            <a:endParaRPr dirty="0"/>
          </a:p>
          <a:p>
            <a:pPr marL="457200" lvl="0" indent="-342900" algn="l" rtl="0">
              <a:spcBef>
                <a:spcPts val="0"/>
              </a:spcBef>
              <a:spcAft>
                <a:spcPts val="0"/>
              </a:spcAft>
              <a:buSzPts val="1800"/>
              <a:buAutoNum type="arabicPeriod"/>
            </a:pPr>
            <a:r>
              <a:rPr lang="en" dirty="0"/>
              <a:t>Commit your coding exercises on your Student Workbook for your day-to-day activities.</a:t>
            </a:r>
          </a:p>
          <a:p>
            <a:pPr marL="457200" lvl="0" indent="-342900" algn="l" rtl="0">
              <a:spcBef>
                <a:spcPts val="0"/>
              </a:spcBef>
              <a:spcAft>
                <a:spcPts val="0"/>
              </a:spcAft>
              <a:buSzPts val="1800"/>
              <a:buAutoNum type="arabicPeriod"/>
            </a:pPr>
            <a:r>
              <a:rPr lang="en" dirty="0"/>
              <a:t>No late submission of Assigments.</a:t>
            </a:r>
          </a:p>
          <a:p>
            <a:pPr marL="457200" lvl="0" indent="-342900" algn="l" rtl="0">
              <a:spcBef>
                <a:spcPts val="0"/>
              </a:spcBef>
              <a:spcAft>
                <a:spcPts val="0"/>
              </a:spcAft>
              <a:buSzPts val="1800"/>
              <a:buAutoNum type="arabicPeriod"/>
            </a:pPr>
            <a:r>
              <a:rPr lang="en" dirty="0"/>
              <a:t>No cheating on exams.</a:t>
            </a:r>
          </a:p>
          <a:p>
            <a:pPr marL="457200" lvl="0" indent="-342900" algn="l" rtl="0">
              <a:spcBef>
                <a:spcPts val="0"/>
              </a:spcBef>
              <a:spcAft>
                <a:spcPts val="0"/>
              </a:spcAft>
              <a:buSzPts val="1800"/>
              <a:buAutoNum type="arabicPeriod"/>
            </a:pPr>
            <a:r>
              <a:rPr lang="en" dirty="0"/>
              <a:t>Complete the final project.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4FDD2F65-013D-BB7E-7649-049A0AF37194}"/>
            </a:ext>
          </a:extLst>
        </p:cNvPr>
        <p:cNvGrpSpPr/>
        <p:nvPr/>
      </p:nvGrpSpPr>
      <p:grpSpPr>
        <a:xfrm>
          <a:off x="0" y="0"/>
          <a:ext cx="0" cy="0"/>
          <a:chOff x="0" y="0"/>
          <a:chExt cx="0" cy="0"/>
        </a:xfrm>
      </p:grpSpPr>
      <p:sp>
        <p:nvSpPr>
          <p:cNvPr id="74" name="Google Shape;74;p15">
            <a:extLst>
              <a:ext uri="{FF2B5EF4-FFF2-40B4-BE49-F238E27FC236}">
                <a16:creationId xmlns:a16="http://schemas.microsoft.com/office/drawing/2014/main" id="{C795F52A-508D-CFFA-8474-CE88FEB3230D}"/>
              </a:ext>
            </a:extLst>
          </p:cNvPr>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Where are we?</a:t>
            </a:r>
            <a:endParaRPr dirty="0"/>
          </a:p>
        </p:txBody>
      </p:sp>
      <p:sp>
        <p:nvSpPr>
          <p:cNvPr id="75" name="Google Shape;75;p15">
            <a:extLst>
              <a:ext uri="{FF2B5EF4-FFF2-40B4-BE49-F238E27FC236}">
                <a16:creationId xmlns:a16="http://schemas.microsoft.com/office/drawing/2014/main" id="{4CD9CDE7-B660-EE5F-EB2F-FB5BE573867F}"/>
              </a:ext>
            </a:extLst>
          </p:cNvPr>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AutoNum type="arabicPeriod"/>
            </a:pPr>
            <a:r>
              <a:rPr lang="en" dirty="0"/>
              <a:t>Expectations</a:t>
            </a:r>
            <a:endParaRPr dirty="0"/>
          </a:p>
          <a:p>
            <a:pPr marL="457200" lvl="0" indent="-342900" algn="l" rtl="0">
              <a:spcBef>
                <a:spcPts val="0"/>
              </a:spcBef>
              <a:spcAft>
                <a:spcPts val="0"/>
              </a:spcAft>
              <a:buSzPts val="1800"/>
              <a:buAutoNum type="arabicPeriod"/>
            </a:pPr>
            <a:r>
              <a:rPr lang="en" dirty="0"/>
              <a:t>ES5 vs Newer versions of ECMA Script</a:t>
            </a:r>
            <a:endParaRPr dirty="0"/>
          </a:p>
          <a:p>
            <a:pPr marL="457200" lvl="0" indent="-342900" algn="l" rtl="0">
              <a:spcBef>
                <a:spcPts val="0"/>
              </a:spcBef>
              <a:spcAft>
                <a:spcPts val="0"/>
              </a:spcAft>
              <a:buSzPts val="1800"/>
              <a:buAutoNum type="arabicPeriod"/>
            </a:pPr>
            <a:r>
              <a:rPr lang="en" dirty="0"/>
              <a:t>Review</a:t>
            </a:r>
            <a:endParaRPr dirty="0"/>
          </a:p>
          <a:p>
            <a:pPr marL="914400" lvl="1" indent="-317500" algn="l" rtl="0">
              <a:spcBef>
                <a:spcPts val="0"/>
              </a:spcBef>
              <a:spcAft>
                <a:spcPts val="0"/>
              </a:spcAft>
              <a:buSzPts val="1400"/>
              <a:buAutoNum type="alphaLcPeriod"/>
            </a:pPr>
            <a:r>
              <a:rPr lang="en" dirty="0"/>
              <a:t>Variables and block scoping</a:t>
            </a:r>
            <a:endParaRPr dirty="0"/>
          </a:p>
          <a:p>
            <a:pPr marL="914400" lvl="1" indent="-317500" algn="l" rtl="0">
              <a:spcBef>
                <a:spcPts val="0"/>
              </a:spcBef>
              <a:spcAft>
                <a:spcPts val="0"/>
              </a:spcAft>
              <a:buSzPts val="1400"/>
              <a:buAutoNum type="alphaLcPeriod"/>
            </a:pPr>
            <a:r>
              <a:rPr lang="en" dirty="0"/>
              <a:t>Functions</a:t>
            </a:r>
            <a:endParaRPr dirty="0"/>
          </a:p>
          <a:p>
            <a:pPr marL="914400" lvl="1" indent="-317500" algn="l" rtl="0">
              <a:spcBef>
                <a:spcPts val="0"/>
              </a:spcBef>
              <a:spcAft>
                <a:spcPts val="0"/>
              </a:spcAft>
              <a:buSzPts val="1400"/>
              <a:buAutoNum type="alphaLcPeriod"/>
            </a:pPr>
            <a:r>
              <a:rPr lang="en" dirty="0"/>
              <a:t>If statements</a:t>
            </a:r>
            <a:endParaRPr dirty="0"/>
          </a:p>
          <a:p>
            <a:pPr marL="914400" lvl="1" indent="-317500" algn="l" rtl="0">
              <a:spcBef>
                <a:spcPts val="0"/>
              </a:spcBef>
              <a:spcAft>
                <a:spcPts val="0"/>
              </a:spcAft>
              <a:buSzPts val="1400"/>
              <a:buAutoNum type="alphaLcPeriod"/>
            </a:pPr>
            <a:r>
              <a:rPr lang="en" dirty="0"/>
              <a:t>Dom API</a:t>
            </a:r>
            <a:endParaRPr dirty="0"/>
          </a:p>
          <a:p>
            <a:pPr marL="914400" lvl="1" indent="-317500" algn="l" rtl="0">
              <a:spcBef>
                <a:spcPts val="0"/>
              </a:spcBef>
              <a:spcAft>
                <a:spcPts val="0"/>
              </a:spcAft>
              <a:buSzPts val="1400"/>
              <a:buAutoNum type="alphaLcPeriod"/>
            </a:pPr>
            <a:r>
              <a:rPr lang="en" dirty="0"/>
              <a:t>Events</a:t>
            </a:r>
            <a:endParaRPr dirty="0"/>
          </a:p>
          <a:p>
            <a:pPr marL="914400" lvl="1" indent="-317500" algn="l" rtl="0">
              <a:spcBef>
                <a:spcPts val="0"/>
              </a:spcBef>
              <a:spcAft>
                <a:spcPts val="0"/>
              </a:spcAft>
              <a:buSzPts val="1400"/>
              <a:buAutoNum type="alphaLcPeriod"/>
            </a:pPr>
            <a:r>
              <a:rPr lang="en" dirty="0"/>
              <a:t>Arrays and loops</a:t>
            </a:r>
            <a:endParaRPr dirty="0"/>
          </a:p>
          <a:p>
            <a:pPr marL="457200" lvl="0" indent="-342900" algn="l" rtl="0">
              <a:spcBef>
                <a:spcPts val="0"/>
              </a:spcBef>
              <a:spcAft>
                <a:spcPts val="0"/>
              </a:spcAft>
              <a:buSzPts val="1800"/>
              <a:buAutoNum type="arabicPeriod"/>
            </a:pPr>
            <a:r>
              <a:rPr lang="en" dirty="0"/>
              <a:t>Extra Note - ES6 IIFE</a:t>
            </a:r>
          </a:p>
          <a:p>
            <a:pPr marL="457200" lvl="0" indent="-342900" algn="l" rtl="0">
              <a:spcBef>
                <a:spcPts val="0"/>
              </a:spcBef>
              <a:spcAft>
                <a:spcPts val="0"/>
              </a:spcAft>
              <a:buSzPts val="1800"/>
              <a:buAutoNum type="arabicPeriod"/>
            </a:pPr>
            <a:r>
              <a:rPr lang="en" b="1" dirty="0"/>
              <a:t>Spread Operator</a:t>
            </a:r>
          </a:p>
          <a:p>
            <a:pPr marL="457200" lvl="0" indent="-342900" algn="l" rtl="0">
              <a:spcBef>
                <a:spcPts val="0"/>
              </a:spcBef>
              <a:spcAft>
                <a:spcPts val="0"/>
              </a:spcAft>
              <a:buSzPts val="1800"/>
              <a:buAutoNum type="arabicPeriod"/>
            </a:pPr>
            <a:r>
              <a:rPr lang="en" b="1" dirty="0"/>
              <a:t>Destructuring</a:t>
            </a:r>
          </a:p>
          <a:p>
            <a:pPr lvl="0">
              <a:buAutoNum type="arabicPeriod"/>
            </a:pPr>
            <a:r>
              <a:rPr lang="en-CA" b="1" dirty="0"/>
              <a:t>Exports &amp; Imports</a:t>
            </a:r>
            <a:endParaRPr dirty="0"/>
          </a:p>
          <a:p>
            <a:pPr marL="457200" lvl="0" indent="0" algn="l" rtl="0">
              <a:spcBef>
                <a:spcPts val="1600"/>
              </a:spcBef>
              <a:spcAft>
                <a:spcPts val="1600"/>
              </a:spcAft>
              <a:buNone/>
            </a:pPr>
            <a:endParaRPr dirty="0"/>
          </a:p>
        </p:txBody>
      </p:sp>
    </p:spTree>
    <p:extLst>
      <p:ext uri="{BB962C8B-B14F-4D97-AF65-F5344CB8AC3E}">
        <p14:creationId xmlns:p14="http://schemas.microsoft.com/office/powerpoint/2010/main" val="3453782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ES5 vs Newer versions of ECMAScript </a:t>
            </a:r>
            <a:endParaRPr/>
          </a:p>
        </p:txBody>
      </p:sp>
      <p:sp>
        <p:nvSpPr>
          <p:cNvPr id="87" name="Google Shape;87;p17"/>
          <p:cNvSpPr txBox="1">
            <a:spLocks noGrp="1"/>
          </p:cNvSpPr>
          <p:nvPr>
            <p:ph type="body" idx="1"/>
          </p:nvPr>
        </p:nvSpPr>
        <p:spPr>
          <a:xfrm>
            <a:off x="387900" y="1185024"/>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ES5 is an older version of javascript that has less features that we’ll be using in the Javascript we’ll be writing.</a:t>
            </a:r>
            <a:endParaRPr sz="1400"/>
          </a:p>
          <a:p>
            <a:pPr marL="0" lvl="0" indent="0" algn="l" rtl="0">
              <a:spcBef>
                <a:spcPts val="1600"/>
              </a:spcBef>
              <a:spcAft>
                <a:spcPts val="0"/>
              </a:spcAft>
              <a:buNone/>
            </a:pPr>
            <a:r>
              <a:rPr lang="en" sz="1400"/>
              <a:t>We’ll be using language features and techniques from the newer standard named </a:t>
            </a:r>
            <a:r>
              <a:rPr lang="en" sz="1400" u="sng">
                <a:solidFill>
                  <a:schemeClr val="hlink"/>
                </a:solidFill>
                <a:hlinkClick r:id="rId3"/>
              </a:rPr>
              <a:t>ECMA Script</a:t>
            </a:r>
            <a:r>
              <a:rPr lang="en" sz="1400"/>
              <a:t>, which is the standard that browsers implement so that as a developer you have a consistent way to write JavaScript across browsers.</a:t>
            </a:r>
            <a:endParaRPr sz="1400"/>
          </a:p>
          <a:p>
            <a:pPr marL="0" lvl="0" indent="0" algn="l" rtl="0">
              <a:spcBef>
                <a:spcPts val="1600"/>
              </a:spcBef>
              <a:spcAft>
                <a:spcPts val="0"/>
              </a:spcAft>
              <a:buNone/>
            </a:pPr>
            <a:r>
              <a:rPr lang="en" sz="1400"/>
              <a:t>If you ever hear the terms ES6, ES7 … to ES12 or ES2021 this is exactly what people are referring to.</a:t>
            </a:r>
            <a:endParaRPr sz="1400"/>
          </a:p>
          <a:p>
            <a:pPr marL="0" lvl="0" indent="0" algn="l" rtl="0">
              <a:spcBef>
                <a:spcPts val="1600"/>
              </a:spcBef>
              <a:spcAft>
                <a:spcPts val="0"/>
              </a:spcAft>
              <a:buNone/>
            </a:pPr>
            <a:r>
              <a:rPr lang="en" sz="1400"/>
              <a:t>Let’s take a look at the wiki page linked above to see the newer language features of JavaScript.</a:t>
            </a:r>
            <a:endParaRPr sz="1400"/>
          </a:p>
          <a:p>
            <a:pPr marL="0" lvl="0" indent="0" algn="l" rtl="0">
              <a:spcBef>
                <a:spcPts val="1600"/>
              </a:spcBef>
              <a:spcAft>
                <a:spcPts val="1600"/>
              </a:spcAft>
              <a:buNone/>
            </a:pP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a:t>
            </a:r>
            <a:endParaRPr/>
          </a:p>
        </p:txBody>
      </p:sp>
      <p:sp>
        <p:nvSpPr>
          <p:cNvPr id="93" name="Google Shape;93;p18"/>
          <p:cNvSpPr txBox="1">
            <a:spLocks noGrp="1"/>
          </p:cNvSpPr>
          <p:nvPr>
            <p:ph type="body" idx="1"/>
          </p:nvPr>
        </p:nvSpPr>
        <p:spPr>
          <a:xfrm>
            <a:off x="387900" y="1236499"/>
            <a:ext cx="83682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a:t>This course is going to move fast. We’re going to do review this class and the next but there is an expectation that you will understand how this works, or that you will catch up on these topics.</a:t>
            </a:r>
            <a:endParaRPr sz="1300"/>
          </a:p>
          <a:p>
            <a:pPr marL="457200" lvl="0" indent="-311150" algn="l" rtl="0">
              <a:spcBef>
                <a:spcPts val="1600"/>
              </a:spcBef>
              <a:spcAft>
                <a:spcPts val="0"/>
              </a:spcAft>
              <a:buSzPts val="1300"/>
              <a:buChar char="●"/>
            </a:pPr>
            <a:r>
              <a:rPr lang="en" sz="1300"/>
              <a:t>This class we’ll review</a:t>
            </a:r>
            <a:endParaRPr sz="1300"/>
          </a:p>
          <a:p>
            <a:pPr marL="914400" lvl="1" indent="-311150" algn="l" rtl="0">
              <a:spcBef>
                <a:spcPts val="0"/>
              </a:spcBef>
              <a:spcAft>
                <a:spcPts val="0"/>
              </a:spcAft>
              <a:buSzPts val="1300"/>
              <a:buChar char="○"/>
            </a:pPr>
            <a:r>
              <a:rPr lang="en" sz="1300"/>
              <a:t>Variables and block scoping</a:t>
            </a:r>
            <a:endParaRPr sz="1300"/>
          </a:p>
          <a:p>
            <a:pPr marL="914400" lvl="1" indent="-311150" algn="l" rtl="0">
              <a:spcBef>
                <a:spcPts val="0"/>
              </a:spcBef>
              <a:spcAft>
                <a:spcPts val="0"/>
              </a:spcAft>
              <a:buSzPts val="1300"/>
              <a:buChar char="○"/>
            </a:pPr>
            <a:r>
              <a:rPr lang="en" sz="1300"/>
              <a:t>Functions</a:t>
            </a:r>
            <a:endParaRPr sz="1300"/>
          </a:p>
          <a:p>
            <a:pPr marL="914400" lvl="1" indent="-311150" algn="l" rtl="0">
              <a:spcBef>
                <a:spcPts val="0"/>
              </a:spcBef>
              <a:spcAft>
                <a:spcPts val="0"/>
              </a:spcAft>
              <a:buSzPts val="1300"/>
              <a:buChar char="○"/>
            </a:pPr>
            <a:r>
              <a:rPr lang="en" sz="1300"/>
              <a:t>If statements</a:t>
            </a:r>
            <a:endParaRPr sz="1300"/>
          </a:p>
          <a:p>
            <a:pPr marL="914400" lvl="1" indent="-311150" algn="l" rtl="0">
              <a:spcBef>
                <a:spcPts val="0"/>
              </a:spcBef>
              <a:spcAft>
                <a:spcPts val="0"/>
              </a:spcAft>
              <a:buSzPts val="1300"/>
              <a:buChar char="○"/>
            </a:pPr>
            <a:r>
              <a:rPr lang="en" sz="1300"/>
              <a:t>Dom API</a:t>
            </a:r>
            <a:endParaRPr sz="1300"/>
          </a:p>
          <a:p>
            <a:pPr marL="914400" lvl="1" indent="-311150" algn="l" rtl="0">
              <a:spcBef>
                <a:spcPts val="0"/>
              </a:spcBef>
              <a:spcAft>
                <a:spcPts val="0"/>
              </a:spcAft>
              <a:buSzPts val="1300"/>
              <a:buChar char="○"/>
            </a:pPr>
            <a:r>
              <a:rPr lang="en" sz="1300"/>
              <a:t>Arrays and loops</a:t>
            </a:r>
            <a:endParaRPr sz="1300"/>
          </a:p>
          <a:p>
            <a:pPr marL="457200" lvl="0" indent="-311150" algn="l" rtl="0">
              <a:spcBef>
                <a:spcPts val="0"/>
              </a:spcBef>
              <a:spcAft>
                <a:spcPts val="0"/>
              </a:spcAft>
              <a:buSzPts val="1300"/>
              <a:buChar char="●"/>
            </a:pPr>
            <a:r>
              <a:rPr lang="en" sz="1300"/>
              <a:t>Next Class we’ll review:</a:t>
            </a:r>
            <a:endParaRPr sz="1300"/>
          </a:p>
          <a:p>
            <a:pPr marL="914400" lvl="1" indent="-311150" algn="l" rtl="0">
              <a:spcBef>
                <a:spcPts val="0"/>
              </a:spcBef>
              <a:spcAft>
                <a:spcPts val="0"/>
              </a:spcAft>
              <a:buSzPts val="1300"/>
              <a:buChar char="○"/>
            </a:pPr>
            <a:r>
              <a:rPr lang="en" sz="1300"/>
              <a:t>Js objects</a:t>
            </a:r>
            <a:endParaRPr sz="1300"/>
          </a:p>
          <a:p>
            <a:pPr marL="914400" lvl="1" indent="-311150" algn="l" rtl="0">
              <a:spcBef>
                <a:spcPts val="0"/>
              </a:spcBef>
              <a:spcAft>
                <a:spcPts val="0"/>
              </a:spcAft>
              <a:buSzPts val="1300"/>
              <a:buChar char="○"/>
            </a:pPr>
            <a:r>
              <a:rPr lang="en" sz="1300"/>
              <a:t>Fetch</a:t>
            </a:r>
            <a:endParaRPr sz="1300"/>
          </a:p>
          <a:p>
            <a:pPr marL="914400" lvl="1" indent="-311150" algn="l" rtl="0">
              <a:spcBef>
                <a:spcPts val="0"/>
              </a:spcBef>
              <a:spcAft>
                <a:spcPts val="0"/>
              </a:spcAft>
              <a:buSzPts val="1300"/>
              <a:buChar char="○"/>
            </a:pPr>
            <a:r>
              <a:rPr lang="en" sz="1300"/>
              <a:t>Npm</a:t>
            </a:r>
            <a:endParaRPr sz="1300"/>
          </a:p>
          <a:p>
            <a:pPr marL="914400" lvl="1" indent="-311150" algn="l" rtl="0">
              <a:spcBef>
                <a:spcPts val="0"/>
              </a:spcBef>
              <a:spcAft>
                <a:spcPts val="0"/>
              </a:spcAft>
              <a:buSzPts val="1300"/>
              <a:buChar char="○"/>
            </a:pPr>
            <a:r>
              <a:rPr lang="en" sz="1300"/>
              <a:t>Es Modules</a:t>
            </a:r>
            <a:endParaRPr sz="1300"/>
          </a:p>
          <a:p>
            <a:pPr marL="0" lvl="0" indent="0" algn="l" rtl="0">
              <a:spcBef>
                <a:spcPts val="1600"/>
              </a:spcBef>
              <a:spcAft>
                <a:spcPts val="1600"/>
              </a:spcAft>
              <a:buNone/>
            </a:pPr>
            <a:r>
              <a:rPr lang="en" sz="1300"/>
              <a:t>Let’s get started so that we don’t waste any time!</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Variables and Block Scoping</a:t>
            </a:r>
            <a:endParaRPr/>
          </a:p>
        </p:txBody>
      </p:sp>
      <p:sp>
        <p:nvSpPr>
          <p:cNvPr id="99" name="Google Shape;99;p19"/>
          <p:cNvSpPr txBox="1">
            <a:spLocks noGrp="1"/>
          </p:cNvSpPr>
          <p:nvPr>
            <p:ph type="body" idx="1"/>
          </p:nvPr>
        </p:nvSpPr>
        <p:spPr>
          <a:xfrm>
            <a:off x="387900" y="1221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Block scoping means the part of a program where variables (and other bindings) are visible and accessible.</a:t>
            </a:r>
            <a:endParaRPr/>
          </a:p>
          <a:p>
            <a:pPr marL="0" lvl="0" indent="0" algn="l" rtl="0">
              <a:spcBef>
                <a:spcPts val="1600"/>
              </a:spcBef>
              <a:spcAft>
                <a:spcPts val="0"/>
              </a:spcAft>
              <a:buNone/>
            </a:pPr>
            <a:r>
              <a:rPr lang="en"/>
              <a:t>“</a:t>
            </a:r>
            <a:r>
              <a:rPr lang="en">
                <a:solidFill>
                  <a:srgbClr val="4DD0E1"/>
                </a:solidFill>
                <a:latin typeface="Roboto Mono"/>
                <a:ea typeface="Roboto Mono"/>
                <a:cs typeface="Roboto Mono"/>
                <a:sym typeface="Roboto Mono"/>
              </a:rPr>
              <a:t>let</a:t>
            </a:r>
            <a:r>
              <a:rPr lang="en"/>
              <a:t>” and “</a:t>
            </a:r>
            <a:r>
              <a:rPr lang="en">
                <a:solidFill>
                  <a:srgbClr val="4DD0E1"/>
                </a:solidFill>
                <a:latin typeface="Roboto Mono"/>
                <a:ea typeface="Roboto Mono"/>
                <a:cs typeface="Roboto Mono"/>
                <a:sym typeface="Roboto Mono"/>
              </a:rPr>
              <a:t>const</a:t>
            </a:r>
            <a:r>
              <a:rPr lang="en"/>
              <a:t>” are local to the block that they are defined/declared in. (example, if you create it in a function/if statement/loop) </a:t>
            </a:r>
            <a:endParaRPr/>
          </a:p>
          <a:p>
            <a:pPr marL="0" lvl="0" indent="0" algn="l" rtl="0">
              <a:spcBef>
                <a:spcPts val="1600"/>
              </a:spcBef>
              <a:spcAft>
                <a:spcPts val="0"/>
              </a:spcAft>
              <a:buNone/>
            </a:pPr>
            <a:r>
              <a:rPr lang="en"/>
              <a:t>“</a:t>
            </a:r>
            <a:r>
              <a:rPr lang="en">
                <a:solidFill>
                  <a:srgbClr val="4DD0E1"/>
                </a:solidFill>
                <a:latin typeface="Roboto Mono"/>
                <a:ea typeface="Roboto Mono"/>
                <a:cs typeface="Roboto Mono"/>
                <a:sym typeface="Roboto Mono"/>
              </a:rPr>
              <a:t>var</a:t>
            </a:r>
            <a:r>
              <a:rPr lang="en"/>
              <a:t>” keyword is local to the function they are defined in, or global. This is called function level scope.</a:t>
            </a:r>
            <a:endParaRPr/>
          </a:p>
          <a:p>
            <a:pPr marL="0" lvl="0" indent="0" algn="l" rtl="0">
              <a:spcBef>
                <a:spcPts val="1600"/>
              </a:spcBef>
              <a:spcAft>
                <a:spcPts val="1600"/>
              </a:spcAft>
              <a:buNone/>
            </a:pPr>
            <a:r>
              <a:rPr lang="en"/>
              <a:t>In this course we’ll be using let and const almost exclusively (except when we compile down to es5)</a:t>
            </a:r>
            <a:endParaRPr/>
          </a:p>
        </p:txBody>
      </p:sp>
      <p:sp>
        <p:nvSpPr>
          <p:cNvPr id="100" name="Google Shape;100;p19"/>
          <p:cNvSpPr txBox="1"/>
          <p:nvPr/>
        </p:nvSpPr>
        <p:spPr>
          <a:xfrm>
            <a:off x="4669850" y="1536675"/>
            <a:ext cx="4248000" cy="258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x = </a:t>
            </a:r>
            <a:r>
              <a:rPr lang="en" sz="1150">
                <a:solidFill>
                  <a:srgbClr val="FBC02D"/>
                </a:solidFill>
                <a:latin typeface="Roboto Mono"/>
                <a:ea typeface="Roboto Mono"/>
                <a:cs typeface="Roboto Mono"/>
                <a:sym typeface="Roboto Mono"/>
              </a:rPr>
              <a:t>10</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if</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true</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y = </a:t>
            </a:r>
            <a:r>
              <a:rPr lang="en" sz="1150">
                <a:solidFill>
                  <a:srgbClr val="FBC02D"/>
                </a:solidFill>
                <a:latin typeface="Roboto Mono"/>
                <a:ea typeface="Roboto Mono"/>
                <a:cs typeface="Roboto Mono"/>
                <a:sym typeface="Roboto Mono"/>
              </a:rPr>
              <a:t>20</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var</a:t>
            </a:r>
            <a:r>
              <a:rPr lang="en" sz="1150">
                <a:solidFill>
                  <a:srgbClr val="ECEFF1"/>
                </a:solidFill>
                <a:latin typeface="Roboto Mono"/>
                <a:ea typeface="Roboto Mono"/>
                <a:cs typeface="Roboto Mono"/>
                <a:sym typeface="Roboto Mono"/>
              </a:rPr>
              <a:t> z = </a:t>
            </a:r>
            <a:r>
              <a:rPr lang="en" sz="1150">
                <a:solidFill>
                  <a:srgbClr val="FBC02D"/>
                </a:solidFill>
                <a:latin typeface="Roboto Mono"/>
                <a:ea typeface="Roboto Mono"/>
                <a:cs typeface="Roboto Mono"/>
                <a:sym typeface="Roboto Mono"/>
              </a:rPr>
              <a:t>30</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console.log(x + y + z);</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F06292"/>
                </a:solidFill>
                <a:latin typeface="Roboto Mono"/>
                <a:ea typeface="Roboto Mono"/>
                <a:cs typeface="Roboto Mono"/>
                <a:sym typeface="Roboto Mono"/>
              </a:rPr>
              <a:t>// output: 60</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y is not visible here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console.log(`value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x is: ${x}`);</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10</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console.log(`value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z is: ${z}`);</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30</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console.log(`value </a:t>
            </a:r>
            <a:r>
              <a:rPr lang="en" sz="1150">
                <a:solidFill>
                  <a:srgbClr val="4DD0E1"/>
                </a:solidFill>
                <a:latin typeface="Roboto Mono"/>
                <a:ea typeface="Roboto Mono"/>
                <a:cs typeface="Roboto Mono"/>
                <a:sym typeface="Roboto Mono"/>
              </a:rPr>
              <a:t>of</a:t>
            </a:r>
            <a:r>
              <a:rPr lang="en" sz="1150">
                <a:solidFill>
                  <a:srgbClr val="ECEFF1"/>
                </a:solidFill>
                <a:latin typeface="Roboto Mono"/>
                <a:ea typeface="Roboto Mono"/>
                <a:cs typeface="Roboto Mono"/>
                <a:sym typeface="Roboto Mono"/>
              </a:rPr>
              <a:t> y is: ${y}`);</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Uncaught ReferenceError: y is not defined</a:t>
            </a:r>
            <a:endParaRPr sz="1150">
              <a:solidFill>
                <a:srgbClr val="F06292"/>
              </a:solidFill>
              <a:latin typeface="Roboto Mono"/>
              <a:ea typeface="Roboto Mono"/>
              <a:cs typeface="Roboto Mono"/>
              <a:sym typeface="Roboto Mono"/>
            </a:endParaRPr>
          </a:p>
        </p:txBody>
      </p:sp>
      <p:sp>
        <p:nvSpPr>
          <p:cNvPr id="101" name="Google Shape;101;p19"/>
          <p:cNvSpPr txBox="1"/>
          <p:nvPr/>
        </p:nvSpPr>
        <p:spPr>
          <a:xfrm>
            <a:off x="5756950" y="4225825"/>
            <a:ext cx="1036800" cy="5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latin typeface="Roboto"/>
                <a:ea typeface="Roboto"/>
                <a:cs typeface="Roboto"/>
                <a:sym typeface="Roboto"/>
                <a:hlinkClick r:id="rId3"/>
              </a:rPr>
              <a:t>Live Demo</a:t>
            </a:r>
            <a:endParaRPr>
              <a:solidFill>
                <a:srgbClr val="FFFFFF"/>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Functions</a:t>
            </a:r>
            <a:endParaRPr/>
          </a:p>
        </p:txBody>
      </p:sp>
      <p:sp>
        <p:nvSpPr>
          <p:cNvPr id="107" name="Google Shape;107;p20"/>
          <p:cNvSpPr txBox="1">
            <a:spLocks noGrp="1"/>
          </p:cNvSpPr>
          <p:nvPr>
            <p:ph type="body" idx="1"/>
          </p:nvPr>
        </p:nvSpPr>
        <p:spPr>
          <a:xfrm>
            <a:off x="387900" y="1221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dirty="0"/>
              <a:t>On the right we have different types of function definitions.</a:t>
            </a:r>
            <a:endParaRPr sz="1300" dirty="0"/>
          </a:p>
          <a:p>
            <a:pPr marL="0" lvl="0" indent="0" algn="l" rtl="0">
              <a:spcBef>
                <a:spcPts val="1600"/>
              </a:spcBef>
              <a:spcAft>
                <a:spcPts val="0"/>
              </a:spcAft>
              <a:buNone/>
            </a:pPr>
            <a:r>
              <a:rPr lang="en" sz="1300" dirty="0"/>
              <a:t>You can see that in all examples “</a:t>
            </a:r>
            <a:r>
              <a:rPr lang="en" sz="1100" dirty="0">
                <a:solidFill>
                  <a:srgbClr val="ECEFF1"/>
                </a:solidFill>
                <a:latin typeface="Roboto Mono"/>
                <a:ea typeface="Roboto Mono"/>
                <a:cs typeface="Roboto Mono"/>
                <a:sym typeface="Roboto Mono"/>
              </a:rPr>
              <a:t>name</a:t>
            </a:r>
            <a:r>
              <a:rPr lang="en" sz="1300" dirty="0"/>
              <a:t>” is a parameter and “</a:t>
            </a:r>
            <a:r>
              <a:rPr lang="en" sz="1100" dirty="0">
                <a:solidFill>
                  <a:srgbClr val="ECEFF1"/>
                </a:solidFill>
                <a:latin typeface="Roboto Mono"/>
                <a:ea typeface="Roboto Mono"/>
                <a:cs typeface="Roboto Mono"/>
                <a:sym typeface="Roboto Mono"/>
              </a:rPr>
              <a:t>lovesCats</a:t>
            </a:r>
            <a:r>
              <a:rPr lang="en" sz="1300" dirty="0"/>
              <a:t>” is the function name.</a:t>
            </a:r>
            <a:endParaRPr sz="1300" dirty="0"/>
          </a:p>
          <a:p>
            <a:pPr marL="0" lvl="0" indent="0" algn="l" rtl="0">
              <a:spcBef>
                <a:spcPts val="1600"/>
              </a:spcBef>
              <a:spcAft>
                <a:spcPts val="0"/>
              </a:spcAft>
              <a:buNone/>
            </a:pPr>
            <a:r>
              <a:rPr lang="en" sz="1300" dirty="0"/>
              <a:t>The major difference between using the “</a:t>
            </a:r>
            <a:r>
              <a:rPr lang="en" sz="1100" dirty="0">
                <a:solidFill>
                  <a:srgbClr val="4DD0E1"/>
                </a:solidFill>
                <a:latin typeface="Roboto Mono"/>
                <a:ea typeface="Roboto Mono"/>
                <a:cs typeface="Roboto Mono"/>
                <a:sym typeface="Roboto Mono"/>
              </a:rPr>
              <a:t>function</a:t>
            </a:r>
            <a:r>
              <a:rPr lang="en" sz="1300" dirty="0"/>
              <a:t>” definition and using “</a:t>
            </a:r>
            <a:r>
              <a:rPr lang="en" sz="1100" dirty="0">
                <a:solidFill>
                  <a:srgbClr val="ECEFF1"/>
                </a:solidFill>
                <a:latin typeface="Roboto Mono"/>
                <a:ea typeface="Roboto Mono"/>
                <a:cs typeface="Roboto Mono"/>
                <a:sym typeface="Roboto Mono"/>
              </a:rPr>
              <a:t>=&gt;</a:t>
            </a:r>
            <a:r>
              <a:rPr lang="en" sz="1300" dirty="0"/>
              <a:t>” (arrow function) definition is that arrows functions do not have their own “</a:t>
            </a:r>
            <a:r>
              <a:rPr lang="en" sz="1100" dirty="0">
                <a:solidFill>
                  <a:srgbClr val="4DD0E1"/>
                </a:solidFill>
                <a:latin typeface="Roboto Mono"/>
                <a:ea typeface="Roboto Mono"/>
                <a:cs typeface="Roboto Mono"/>
                <a:sym typeface="Roboto Mono"/>
              </a:rPr>
              <a:t>this</a:t>
            </a:r>
            <a:r>
              <a:rPr lang="en" sz="1300" dirty="0"/>
              <a:t>” (think js objects) which means that we need to use the “</a:t>
            </a:r>
            <a:r>
              <a:rPr lang="en" sz="1100" dirty="0">
                <a:solidFill>
                  <a:srgbClr val="4DD0E1"/>
                </a:solidFill>
                <a:latin typeface="Roboto Mono"/>
                <a:ea typeface="Roboto Mono"/>
                <a:cs typeface="Roboto Mono"/>
                <a:sym typeface="Roboto Mono"/>
              </a:rPr>
              <a:t>function</a:t>
            </a:r>
            <a:r>
              <a:rPr lang="en" sz="1300" dirty="0"/>
              <a:t>” definition in some cases.</a:t>
            </a:r>
            <a:endParaRPr sz="1300" dirty="0"/>
          </a:p>
          <a:p>
            <a:pPr marL="0" lvl="0" indent="0" algn="l" rtl="0">
              <a:spcBef>
                <a:spcPts val="1600"/>
              </a:spcBef>
              <a:spcAft>
                <a:spcPts val="1600"/>
              </a:spcAft>
              <a:buNone/>
            </a:pPr>
            <a:r>
              <a:rPr lang="en" sz="1300" dirty="0"/>
              <a:t>We’ll point out when we need to use  “</a:t>
            </a:r>
            <a:r>
              <a:rPr lang="en" sz="1100" dirty="0">
                <a:solidFill>
                  <a:srgbClr val="4DD0E1"/>
                </a:solidFill>
                <a:latin typeface="Roboto Mono"/>
                <a:ea typeface="Roboto Mono"/>
                <a:cs typeface="Roboto Mono"/>
                <a:sym typeface="Roboto Mono"/>
              </a:rPr>
              <a:t>function</a:t>
            </a:r>
            <a:r>
              <a:rPr lang="en" sz="1300" dirty="0"/>
              <a:t>” definition for our apps. </a:t>
            </a:r>
            <a:endParaRPr sz="1300" dirty="0"/>
          </a:p>
        </p:txBody>
      </p:sp>
      <p:sp>
        <p:nvSpPr>
          <p:cNvPr id="108" name="Google Shape;108;p20"/>
          <p:cNvSpPr txBox="1"/>
          <p:nvPr/>
        </p:nvSpPr>
        <p:spPr>
          <a:xfrm>
            <a:off x="4477475" y="1029125"/>
            <a:ext cx="4397400" cy="3324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rgbClr val="F06292"/>
                </a:solidFill>
                <a:latin typeface="Roboto Mono"/>
                <a:ea typeface="Roboto Mono"/>
                <a:cs typeface="Roboto Mono"/>
                <a:sym typeface="Roboto Mono"/>
              </a:rPr>
              <a:t>// defining functions example</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4DD0E1"/>
                </a:solidFill>
                <a:latin typeface="Roboto Mono"/>
                <a:ea typeface="Roboto Mono"/>
                <a:cs typeface="Roboto Mono"/>
                <a:sym typeface="Roboto Mono"/>
              </a:rPr>
              <a:t>const</a:t>
            </a:r>
            <a:r>
              <a:rPr lang="en" sz="1200" dirty="0">
                <a:solidFill>
                  <a:srgbClr val="ECEFF1"/>
                </a:solidFill>
                <a:latin typeface="Roboto Mono"/>
                <a:ea typeface="Roboto Mono"/>
                <a:cs typeface="Roboto Mono"/>
                <a:sym typeface="Roboto Mono"/>
              </a:rPr>
              <a:t> lovesCats = </a:t>
            </a:r>
            <a:r>
              <a:rPr lang="en" sz="1200" dirty="0">
                <a:solidFill>
                  <a:srgbClr val="4DD0E1"/>
                </a:solidFill>
                <a:latin typeface="Roboto Mono"/>
                <a:ea typeface="Roboto Mono"/>
                <a:cs typeface="Roboto Mono"/>
                <a:sym typeface="Roboto Mono"/>
              </a:rPr>
              <a:t>function</a:t>
            </a:r>
            <a:r>
              <a:rPr lang="en" sz="1200" dirty="0">
                <a:solidFill>
                  <a:srgbClr val="ECEFF1"/>
                </a:solidFill>
                <a:latin typeface="Roboto Mono"/>
                <a:ea typeface="Roboto Mono"/>
                <a:cs typeface="Roboto Mono"/>
                <a:sym typeface="Roboto Mono"/>
              </a:rPr>
              <a:t>(name) {</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  </a:t>
            </a:r>
            <a:r>
              <a:rPr lang="en" sz="1200" dirty="0">
                <a:solidFill>
                  <a:srgbClr val="4DD0E1"/>
                </a:solidFill>
                <a:latin typeface="Roboto Mono"/>
                <a:ea typeface="Roboto Mono"/>
                <a:cs typeface="Roboto Mono"/>
                <a:sym typeface="Roboto Mono"/>
              </a:rPr>
              <a:t>let</a:t>
            </a:r>
            <a:r>
              <a:rPr lang="en" sz="1200" dirty="0">
                <a:solidFill>
                  <a:srgbClr val="ECEFF1"/>
                </a:solidFill>
                <a:latin typeface="Roboto Mono"/>
                <a:ea typeface="Roboto Mono"/>
                <a:cs typeface="Roboto Mono"/>
                <a:sym typeface="Roboto Mono"/>
              </a:rPr>
              <a:t> catLoveStatement = name + </a:t>
            </a:r>
            <a:r>
              <a:rPr lang="en" sz="1200" dirty="0">
                <a:solidFill>
                  <a:srgbClr val="9CCC65"/>
                </a:solidFill>
                <a:latin typeface="Roboto Mono"/>
                <a:ea typeface="Roboto Mono"/>
                <a:cs typeface="Roboto Mono"/>
                <a:sym typeface="Roboto Mono"/>
              </a:rPr>
              <a:t>" loves cats"</a:t>
            </a:r>
            <a:r>
              <a:rPr lang="en" sz="1200" dirty="0">
                <a:solidFill>
                  <a:srgbClr val="ECEFF1"/>
                </a:solidFill>
                <a:latin typeface="Roboto Mono"/>
                <a:ea typeface="Roboto Mono"/>
                <a:cs typeface="Roboto Mono"/>
                <a:sym typeface="Roboto Mono"/>
              </a:rPr>
              <a:t>;</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  </a:t>
            </a:r>
            <a:r>
              <a:rPr lang="en" sz="1200" dirty="0">
                <a:solidFill>
                  <a:srgbClr val="4DD0E1"/>
                </a:solidFill>
                <a:latin typeface="Roboto Mono"/>
                <a:ea typeface="Roboto Mono"/>
                <a:cs typeface="Roboto Mono"/>
                <a:sym typeface="Roboto Mono"/>
              </a:rPr>
              <a:t>return</a:t>
            </a:r>
            <a:r>
              <a:rPr lang="en" sz="1200" dirty="0">
                <a:solidFill>
                  <a:srgbClr val="ECEFF1"/>
                </a:solidFill>
                <a:latin typeface="Roboto Mono"/>
                <a:ea typeface="Roboto Mono"/>
                <a:cs typeface="Roboto Mono"/>
                <a:sym typeface="Roboto Mono"/>
              </a:rPr>
              <a:t> catLoveStatement;</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F06292"/>
                </a:solidFill>
                <a:latin typeface="Roboto Mono"/>
                <a:ea typeface="Roboto Mono"/>
                <a:cs typeface="Roboto Mono"/>
                <a:sym typeface="Roboto Mono"/>
              </a:rPr>
              <a:t>// is the same as</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4DD0E1"/>
                </a:solidFill>
                <a:latin typeface="Roboto Mono"/>
                <a:ea typeface="Roboto Mono"/>
                <a:cs typeface="Roboto Mono"/>
                <a:sym typeface="Roboto Mono"/>
              </a:rPr>
              <a:t>function</a:t>
            </a:r>
            <a:r>
              <a:rPr lang="en" sz="1200" dirty="0">
                <a:solidFill>
                  <a:srgbClr val="ECEFF1"/>
                </a:solidFill>
                <a:latin typeface="Roboto Mono"/>
                <a:ea typeface="Roboto Mono"/>
                <a:cs typeface="Roboto Mono"/>
                <a:sym typeface="Roboto Mono"/>
              </a:rPr>
              <a:t> lovesCats(name) {</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  </a:t>
            </a:r>
            <a:r>
              <a:rPr lang="en" sz="1200" dirty="0">
                <a:solidFill>
                  <a:srgbClr val="4DD0E1"/>
                </a:solidFill>
                <a:latin typeface="Roboto Mono"/>
                <a:ea typeface="Roboto Mono"/>
                <a:cs typeface="Roboto Mono"/>
                <a:sym typeface="Roboto Mono"/>
              </a:rPr>
              <a:t>let</a:t>
            </a:r>
            <a:r>
              <a:rPr lang="en" sz="1200" dirty="0">
                <a:solidFill>
                  <a:srgbClr val="ECEFF1"/>
                </a:solidFill>
                <a:latin typeface="Roboto Mono"/>
                <a:ea typeface="Roboto Mono"/>
                <a:cs typeface="Roboto Mono"/>
                <a:sym typeface="Roboto Mono"/>
              </a:rPr>
              <a:t> catLoveStatement = name + </a:t>
            </a:r>
            <a:r>
              <a:rPr lang="en" sz="1200" dirty="0">
                <a:solidFill>
                  <a:srgbClr val="9CCC65"/>
                </a:solidFill>
                <a:latin typeface="Roboto Mono"/>
                <a:ea typeface="Roboto Mono"/>
                <a:cs typeface="Roboto Mono"/>
                <a:sym typeface="Roboto Mono"/>
              </a:rPr>
              <a:t>" loves cats"</a:t>
            </a:r>
            <a:r>
              <a:rPr lang="en" sz="1200" dirty="0">
                <a:solidFill>
                  <a:srgbClr val="ECEFF1"/>
                </a:solidFill>
                <a:latin typeface="Roboto Mono"/>
                <a:ea typeface="Roboto Mono"/>
                <a:cs typeface="Roboto Mono"/>
                <a:sym typeface="Roboto Mono"/>
              </a:rPr>
              <a:t>;</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  </a:t>
            </a:r>
            <a:r>
              <a:rPr lang="en" sz="1200" dirty="0">
                <a:solidFill>
                  <a:srgbClr val="4DD0E1"/>
                </a:solidFill>
                <a:latin typeface="Roboto Mono"/>
                <a:ea typeface="Roboto Mono"/>
                <a:cs typeface="Roboto Mono"/>
                <a:sym typeface="Roboto Mono"/>
              </a:rPr>
              <a:t>return</a:t>
            </a:r>
            <a:r>
              <a:rPr lang="en" sz="1200" dirty="0">
                <a:solidFill>
                  <a:srgbClr val="ECEFF1"/>
                </a:solidFill>
                <a:latin typeface="Roboto Mono"/>
                <a:ea typeface="Roboto Mono"/>
                <a:cs typeface="Roboto Mono"/>
                <a:sym typeface="Roboto Mono"/>
              </a:rPr>
              <a:t> catLoveStatement;</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F06292"/>
                </a:solidFill>
                <a:latin typeface="Roboto Mono"/>
                <a:ea typeface="Roboto Mono"/>
                <a:cs typeface="Roboto Mono"/>
                <a:sym typeface="Roboto Mono"/>
              </a:rPr>
              <a:t>// arrow function is essentially the same as</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4DD0E1"/>
                </a:solidFill>
                <a:latin typeface="Roboto Mono"/>
                <a:ea typeface="Roboto Mono"/>
                <a:cs typeface="Roboto Mono"/>
                <a:sym typeface="Roboto Mono"/>
              </a:rPr>
              <a:t>const</a:t>
            </a:r>
            <a:r>
              <a:rPr lang="en" sz="1200" dirty="0">
                <a:solidFill>
                  <a:srgbClr val="ECEFF1"/>
                </a:solidFill>
                <a:latin typeface="Roboto Mono"/>
                <a:ea typeface="Roboto Mono"/>
                <a:cs typeface="Roboto Mono"/>
                <a:sym typeface="Roboto Mono"/>
              </a:rPr>
              <a:t> lovesCats = (name) =&gt; {</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  </a:t>
            </a:r>
            <a:r>
              <a:rPr lang="en" sz="1200" dirty="0">
                <a:solidFill>
                  <a:srgbClr val="4DD0E1"/>
                </a:solidFill>
                <a:latin typeface="Roboto Mono"/>
                <a:ea typeface="Roboto Mono"/>
                <a:cs typeface="Roboto Mono"/>
                <a:sym typeface="Roboto Mono"/>
              </a:rPr>
              <a:t>let</a:t>
            </a:r>
            <a:r>
              <a:rPr lang="en" sz="1200" dirty="0">
                <a:solidFill>
                  <a:srgbClr val="ECEFF1"/>
                </a:solidFill>
                <a:latin typeface="Roboto Mono"/>
                <a:ea typeface="Roboto Mono"/>
                <a:cs typeface="Roboto Mono"/>
                <a:sym typeface="Roboto Mono"/>
              </a:rPr>
              <a:t> catLoveStatement = name + </a:t>
            </a:r>
            <a:r>
              <a:rPr lang="en" sz="1200" dirty="0">
                <a:solidFill>
                  <a:srgbClr val="9CCC65"/>
                </a:solidFill>
                <a:latin typeface="Roboto Mono"/>
                <a:ea typeface="Roboto Mono"/>
                <a:cs typeface="Roboto Mono"/>
                <a:sym typeface="Roboto Mono"/>
              </a:rPr>
              <a:t>" loves cats"</a:t>
            </a:r>
            <a:r>
              <a:rPr lang="en" sz="1200" dirty="0">
                <a:solidFill>
                  <a:srgbClr val="ECEFF1"/>
                </a:solidFill>
                <a:latin typeface="Roboto Mono"/>
                <a:ea typeface="Roboto Mono"/>
                <a:cs typeface="Roboto Mono"/>
                <a:sym typeface="Roboto Mono"/>
              </a:rPr>
              <a:t>;</a:t>
            </a:r>
            <a:endParaRPr sz="1200" dirty="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200" dirty="0">
                <a:solidFill>
                  <a:srgbClr val="ECEFF1"/>
                </a:solidFill>
                <a:latin typeface="Roboto Mono"/>
                <a:ea typeface="Roboto Mono"/>
                <a:cs typeface="Roboto Mono"/>
                <a:sym typeface="Roboto Mono"/>
              </a:rPr>
              <a:t>  </a:t>
            </a:r>
            <a:r>
              <a:rPr lang="en" sz="1200" dirty="0">
                <a:solidFill>
                  <a:srgbClr val="4DD0E1"/>
                </a:solidFill>
                <a:latin typeface="Roboto Mono"/>
                <a:ea typeface="Roboto Mono"/>
                <a:cs typeface="Roboto Mono"/>
                <a:sym typeface="Roboto Mono"/>
              </a:rPr>
              <a:t>return</a:t>
            </a:r>
            <a:r>
              <a:rPr lang="en" sz="1200" dirty="0">
                <a:solidFill>
                  <a:srgbClr val="ECEFF1"/>
                </a:solidFill>
                <a:latin typeface="Roboto Mono"/>
                <a:ea typeface="Roboto Mono"/>
                <a:cs typeface="Roboto Mono"/>
                <a:sym typeface="Roboto Mono"/>
              </a:rPr>
              <a:t> catLoveStatement;</a:t>
            </a:r>
            <a:endParaRPr sz="1200" dirty="0">
              <a:solidFill>
                <a:srgbClr val="ECEFF1"/>
              </a:solidFill>
              <a:latin typeface="Roboto Mono"/>
              <a:ea typeface="Roboto Mono"/>
              <a:cs typeface="Roboto Mono"/>
              <a:sym typeface="Roboto Mono"/>
            </a:endParaRPr>
          </a:p>
          <a:p>
            <a:pPr marL="0" lvl="0" indent="0" algn="l" rtl="0">
              <a:lnSpc>
                <a:spcPct val="150000"/>
              </a:lnSpc>
              <a:spcBef>
                <a:spcPts val="0"/>
              </a:spcBef>
              <a:spcAft>
                <a:spcPts val="0"/>
              </a:spcAft>
              <a:buNone/>
            </a:pPr>
            <a:r>
              <a:rPr lang="en" sz="1200" dirty="0">
                <a:solidFill>
                  <a:srgbClr val="ECEFF1"/>
                </a:solidFill>
                <a:latin typeface="Roboto Mono"/>
                <a:ea typeface="Roboto Mono"/>
                <a:cs typeface="Roboto Mono"/>
                <a:sym typeface="Roboto Mono"/>
              </a:rPr>
              <a:t>}</a:t>
            </a:r>
            <a:endParaRPr sz="1200" dirty="0">
              <a:solidFill>
                <a:srgbClr val="ECEFF1"/>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If Statements</a:t>
            </a:r>
            <a:endParaRPr/>
          </a:p>
        </p:txBody>
      </p:sp>
      <p:sp>
        <p:nvSpPr>
          <p:cNvPr id="114" name="Google Shape;114;p21"/>
          <p:cNvSpPr txBox="1">
            <a:spLocks noGrp="1"/>
          </p:cNvSpPr>
          <p:nvPr>
            <p:ph type="body" idx="1"/>
          </p:nvPr>
        </p:nvSpPr>
        <p:spPr>
          <a:xfrm>
            <a:off x="387900" y="1221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On the right we have a using if statements and conditions that are using operators.</a:t>
            </a:r>
            <a:endParaRPr sz="1200"/>
          </a:p>
          <a:p>
            <a:pPr marL="0" lvl="0" indent="0" algn="l" rtl="0">
              <a:spcBef>
                <a:spcPts val="1600"/>
              </a:spcBef>
              <a:spcAft>
                <a:spcPts val="0"/>
              </a:spcAft>
              <a:buNone/>
            </a:pPr>
            <a:r>
              <a:rPr lang="en" sz="1200"/>
              <a:t>An “</a:t>
            </a:r>
            <a:r>
              <a:rPr lang="en" sz="1050">
                <a:solidFill>
                  <a:srgbClr val="4DD0E1"/>
                </a:solidFill>
                <a:latin typeface="Roboto Mono"/>
                <a:ea typeface="Roboto Mono"/>
                <a:cs typeface="Roboto Mono"/>
                <a:sym typeface="Roboto Mono"/>
              </a:rPr>
              <a:t>if</a:t>
            </a:r>
            <a:r>
              <a:rPr lang="en" sz="1200"/>
              <a:t>” statements’ block is only executed if the condition “</a:t>
            </a:r>
            <a:r>
              <a:rPr lang="en" sz="1050">
                <a:solidFill>
                  <a:srgbClr val="FBC02D"/>
                </a:solidFill>
                <a:latin typeface="Roboto Mono"/>
                <a:ea typeface="Roboto Mono"/>
                <a:cs typeface="Roboto Mono"/>
                <a:sym typeface="Roboto Mono"/>
              </a:rPr>
              <a:t>(</a:t>
            </a:r>
            <a:r>
              <a:rPr lang="en" sz="1050">
                <a:solidFill>
                  <a:srgbClr val="ECEFF1"/>
                </a:solidFill>
                <a:latin typeface="Roboto Mono"/>
                <a:ea typeface="Roboto Mono"/>
                <a:cs typeface="Roboto Mono"/>
                <a:sym typeface="Roboto Mono"/>
              </a:rPr>
              <a:t>answer </a:t>
            </a:r>
            <a:r>
              <a:rPr lang="en" sz="1050">
                <a:solidFill>
                  <a:srgbClr val="FBC02D"/>
                </a:solidFill>
                <a:latin typeface="Roboto Mono"/>
                <a:ea typeface="Roboto Mono"/>
                <a:cs typeface="Roboto Mono"/>
                <a:sym typeface="Roboto Mono"/>
              </a:rPr>
              <a:t>===</a:t>
            </a:r>
            <a:r>
              <a:rPr lang="en" sz="1050">
                <a:solidFill>
                  <a:srgbClr val="ECEFF1"/>
                </a:solidFill>
                <a:latin typeface="Roboto Mono"/>
                <a:ea typeface="Roboto Mono"/>
                <a:cs typeface="Roboto Mono"/>
                <a:sym typeface="Roboto Mono"/>
              </a:rPr>
              <a:t> </a:t>
            </a:r>
            <a:r>
              <a:rPr lang="en" sz="1050">
                <a:solidFill>
                  <a:srgbClr val="9CCC65"/>
                </a:solidFill>
                <a:latin typeface="Roboto Mono"/>
                <a:ea typeface="Roboto Mono"/>
                <a:cs typeface="Roboto Mono"/>
                <a:sym typeface="Roboto Mono"/>
              </a:rPr>
              <a:t>"y"</a:t>
            </a:r>
            <a:r>
              <a:rPr lang="en" sz="1050">
                <a:solidFill>
                  <a:srgbClr val="FBC02D"/>
                </a:solidFill>
                <a:latin typeface="Roboto Mono"/>
                <a:ea typeface="Roboto Mono"/>
                <a:cs typeface="Roboto Mono"/>
                <a:sym typeface="Roboto Mono"/>
              </a:rPr>
              <a:t>)</a:t>
            </a:r>
            <a:r>
              <a:rPr lang="en" sz="1200"/>
              <a:t>” is True and will skip the rest of the statements.</a:t>
            </a:r>
            <a:endParaRPr sz="1200"/>
          </a:p>
          <a:p>
            <a:pPr marL="0" lvl="0" indent="0" algn="l" rtl="0">
              <a:spcBef>
                <a:spcPts val="1600"/>
              </a:spcBef>
              <a:spcAft>
                <a:spcPts val="0"/>
              </a:spcAft>
              <a:buNone/>
            </a:pPr>
            <a:r>
              <a:rPr lang="en" sz="1200"/>
              <a:t>If the “</a:t>
            </a:r>
            <a:r>
              <a:rPr lang="en" sz="1050">
                <a:solidFill>
                  <a:srgbClr val="4DD0E1"/>
                </a:solidFill>
                <a:latin typeface="Roboto Mono"/>
                <a:ea typeface="Roboto Mono"/>
                <a:cs typeface="Roboto Mono"/>
                <a:sym typeface="Roboto Mono"/>
              </a:rPr>
              <a:t>if</a:t>
            </a:r>
            <a:r>
              <a:rPr lang="en" sz="1200"/>
              <a:t>” statements condition is false, in this case it will continue to the “</a:t>
            </a:r>
            <a:r>
              <a:rPr lang="en" sz="1050">
                <a:solidFill>
                  <a:srgbClr val="4DD0E1"/>
                </a:solidFill>
                <a:latin typeface="Roboto Mono"/>
                <a:ea typeface="Roboto Mono"/>
                <a:cs typeface="Roboto Mono"/>
                <a:sym typeface="Roboto Mono"/>
              </a:rPr>
              <a:t>else</a:t>
            </a:r>
            <a:r>
              <a:rPr lang="en" sz="1050">
                <a:solidFill>
                  <a:srgbClr val="ECEFF1"/>
                </a:solidFill>
                <a:latin typeface="Roboto Mono"/>
                <a:ea typeface="Roboto Mono"/>
                <a:cs typeface="Roboto Mono"/>
                <a:sym typeface="Roboto Mono"/>
              </a:rPr>
              <a:t> </a:t>
            </a:r>
            <a:r>
              <a:rPr lang="en" sz="1050">
                <a:solidFill>
                  <a:srgbClr val="4DD0E1"/>
                </a:solidFill>
                <a:latin typeface="Roboto Mono"/>
                <a:ea typeface="Roboto Mono"/>
                <a:cs typeface="Roboto Mono"/>
                <a:sym typeface="Roboto Mono"/>
              </a:rPr>
              <a:t>if</a:t>
            </a:r>
            <a:r>
              <a:rPr lang="en" sz="1200"/>
              <a:t>” condition and check if that is true. If all of the conditions are false and there is an “</a:t>
            </a:r>
            <a:r>
              <a:rPr lang="en" sz="1050">
                <a:solidFill>
                  <a:srgbClr val="4DD0E1"/>
                </a:solidFill>
                <a:latin typeface="Roboto Mono"/>
                <a:ea typeface="Roboto Mono"/>
                <a:cs typeface="Roboto Mono"/>
                <a:sym typeface="Roboto Mono"/>
              </a:rPr>
              <a:t>else</a:t>
            </a:r>
            <a:r>
              <a:rPr lang="en" sz="1200"/>
              <a:t>” block, the “</a:t>
            </a:r>
            <a:r>
              <a:rPr lang="en" sz="1050">
                <a:solidFill>
                  <a:srgbClr val="4DD0E1"/>
                </a:solidFill>
                <a:latin typeface="Roboto Mono"/>
                <a:ea typeface="Roboto Mono"/>
                <a:cs typeface="Roboto Mono"/>
                <a:sym typeface="Roboto Mono"/>
              </a:rPr>
              <a:t>else</a:t>
            </a:r>
            <a:r>
              <a:rPr lang="en" sz="1200"/>
              <a:t>” block will be executed.</a:t>
            </a:r>
            <a:endParaRPr sz="1200"/>
          </a:p>
          <a:p>
            <a:pPr marL="0" lvl="0" indent="0" algn="l" rtl="0">
              <a:spcBef>
                <a:spcPts val="1600"/>
              </a:spcBef>
              <a:spcAft>
                <a:spcPts val="1600"/>
              </a:spcAft>
              <a:buNone/>
            </a:pPr>
            <a:r>
              <a:rPr lang="en" sz="1200"/>
              <a:t>It’s expected that you understand the relationship between datatypes and operators as well. You can </a:t>
            </a:r>
            <a:r>
              <a:rPr lang="en" sz="1200" u="sng">
                <a:solidFill>
                  <a:schemeClr val="hlink"/>
                </a:solidFill>
                <a:hlinkClick r:id="rId3"/>
              </a:rPr>
              <a:t>click here</a:t>
            </a:r>
            <a:r>
              <a:rPr lang="en" sz="1200"/>
              <a:t> for more details about operators.</a:t>
            </a:r>
            <a:endParaRPr sz="1200"/>
          </a:p>
        </p:txBody>
      </p:sp>
      <p:sp>
        <p:nvSpPr>
          <p:cNvPr id="115" name="Google Shape;115;p21"/>
          <p:cNvSpPr txBox="1"/>
          <p:nvPr/>
        </p:nvSpPr>
        <p:spPr>
          <a:xfrm>
            <a:off x="4387800" y="1176775"/>
            <a:ext cx="4442100" cy="307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rgbClr val="FFFFFF"/>
                </a:solidFill>
                <a:latin typeface="Roboto"/>
                <a:ea typeface="Roboto"/>
                <a:cs typeface="Roboto"/>
                <a:sym typeface="Roboto"/>
              </a:rPr>
              <a:t>Examples of of decisions (Click </a:t>
            </a:r>
            <a:r>
              <a:rPr lang="en" u="sng">
                <a:solidFill>
                  <a:srgbClr val="8BC34A"/>
                </a:solidFill>
                <a:latin typeface="Roboto"/>
                <a:ea typeface="Roboto"/>
                <a:cs typeface="Roboto"/>
                <a:sym typeface="Roboto"/>
                <a:hlinkClick r:id="rId4">
                  <a:extLst>
                    <a:ext uri="{A12FA001-AC4F-418D-AE19-62706E023703}">
                      <ahyp:hlinkClr xmlns:ahyp="http://schemas.microsoft.com/office/drawing/2018/hyperlinkcolor" val="tx"/>
                    </a:ext>
                  </a:extLst>
                </a:hlinkClick>
              </a:rPr>
              <a:t>here for an example</a:t>
            </a:r>
            <a:r>
              <a:rPr lang="en">
                <a:solidFill>
                  <a:srgbClr val="FFFFFF"/>
                </a:solidFill>
                <a:latin typeface="Roboto"/>
                <a:ea typeface="Roboto"/>
                <a:cs typeface="Roboto"/>
                <a:sym typeface="Roboto"/>
              </a:rPr>
              <a:t>):</a:t>
            </a:r>
            <a:endParaRPr>
              <a:solidFill>
                <a:srgbClr val="FFFFFF"/>
              </a:solidFill>
              <a:latin typeface="Roboto"/>
              <a:ea typeface="Roboto"/>
              <a:cs typeface="Roboto"/>
              <a:sym typeface="Roboto"/>
            </a:endParaRPr>
          </a:p>
          <a:p>
            <a:pPr marL="0" lvl="0" indent="0" algn="l" rtl="0">
              <a:lnSpc>
                <a:spcPct val="115000"/>
              </a:lnSpc>
              <a:spcBef>
                <a:spcPts val="160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answer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prompt</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"Is dan an okay? (y or n)"</a:t>
            </a:r>
            <a:r>
              <a:rPr lang="en" sz="1150">
                <a:solidFill>
                  <a:srgbClr val="FBC02D"/>
                </a:solidFill>
                <a:latin typeface="Roboto Mono"/>
                <a:ea typeface="Roboto Mono"/>
                <a:cs typeface="Roboto Mono"/>
                <a:sym typeface="Roboto Mono"/>
              </a:rPr>
              <a:t>);</a:t>
            </a:r>
            <a:br>
              <a:rPr lang="en" sz="1150">
                <a:solidFill>
                  <a:srgbClr val="FBC02D"/>
                </a:solidFill>
                <a:latin typeface="Roboto Mono"/>
                <a:ea typeface="Roboto Mono"/>
                <a:cs typeface="Roboto Mono"/>
                <a:sym typeface="Roboto Mono"/>
              </a:rPr>
            </a:br>
            <a:br>
              <a:rPr lang="en" sz="1150">
                <a:solidFill>
                  <a:srgbClr val="ECEFF1"/>
                </a:solidFill>
                <a:latin typeface="Roboto Mono"/>
                <a:ea typeface="Roboto Mono"/>
                <a:cs typeface="Roboto Mono"/>
                <a:sym typeface="Roboto Mono"/>
              </a:rPr>
            </a:br>
            <a:r>
              <a:rPr lang="en" sz="1150">
                <a:solidFill>
                  <a:srgbClr val="4DD0E1"/>
                </a:solidFill>
                <a:latin typeface="Roboto Mono"/>
                <a:ea typeface="Roboto Mono"/>
                <a:cs typeface="Roboto Mono"/>
                <a:sym typeface="Roboto Mono"/>
              </a:rPr>
              <a:t>if</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answer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"y"</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console</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log</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"Give dan a good rating"</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else</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if</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answer </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"n"</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console</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log</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"Give dan feedback"</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else</a:t>
            </a:r>
            <a:r>
              <a:rPr lang="en" sz="1150">
                <a:solidFill>
                  <a:srgbClr val="ECEFF1"/>
                </a:solidFill>
                <a:latin typeface="Roboto Mono"/>
                <a:ea typeface="Roboto Mono"/>
                <a:cs typeface="Roboto Mono"/>
                <a:sym typeface="Roboto Mono"/>
              </a:rPr>
              <a:t> </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console</a:t>
            </a:r>
            <a:r>
              <a:rPr lang="en" sz="1150">
                <a:solidFill>
                  <a:srgbClr val="FBC02D"/>
                </a:solidFill>
                <a:latin typeface="Roboto Mono"/>
                <a:ea typeface="Roboto Mono"/>
                <a:cs typeface="Roboto Mono"/>
                <a:sym typeface="Roboto Mono"/>
              </a:rPr>
              <a:t>.</a:t>
            </a:r>
            <a:r>
              <a:rPr lang="en" sz="1150">
                <a:solidFill>
                  <a:srgbClr val="ECEFF1"/>
                </a:solidFill>
                <a:latin typeface="Roboto Mono"/>
                <a:ea typeface="Roboto Mono"/>
                <a:cs typeface="Roboto Mono"/>
                <a:sym typeface="Roboto Mono"/>
              </a:rPr>
              <a:t>log</a:t>
            </a:r>
            <a:r>
              <a:rPr lang="en" sz="1150">
                <a:solidFill>
                  <a:srgbClr val="FBC02D"/>
                </a:solidFill>
                <a:latin typeface="Roboto Mono"/>
                <a:ea typeface="Roboto Mono"/>
                <a:cs typeface="Roboto Mono"/>
                <a:sym typeface="Roboto Mono"/>
              </a:rPr>
              <a:t>(</a:t>
            </a:r>
            <a:r>
              <a:rPr lang="en" sz="1150">
                <a:solidFill>
                  <a:srgbClr val="9CCC65"/>
                </a:solidFill>
                <a:latin typeface="Roboto Mono"/>
                <a:ea typeface="Roboto Mono"/>
                <a:cs typeface="Roboto Mono"/>
                <a:sym typeface="Roboto Mono"/>
              </a:rPr>
              <a:t>"can not compute answer"</a:t>
            </a:r>
            <a:r>
              <a:rPr lang="en" sz="1150">
                <a:solidFill>
                  <a:srgbClr val="FBC02D"/>
                </a:solidFill>
                <a:latin typeface="Roboto Mono"/>
                <a:ea typeface="Roboto Mono"/>
                <a:cs typeface="Roboto Mono"/>
                <a:sym typeface="Roboto Mono"/>
              </a:rPr>
              <a:t>);</a:t>
            </a:r>
            <a:br>
              <a:rPr lang="en" sz="1150">
                <a:solidFill>
                  <a:srgbClr val="ECEFF1"/>
                </a:solidFill>
                <a:latin typeface="Roboto Mono"/>
                <a:ea typeface="Roboto Mono"/>
                <a:cs typeface="Roboto Mono"/>
                <a:sym typeface="Roboto Mono"/>
              </a:rPr>
            </a:br>
            <a:r>
              <a:rPr lang="en" sz="1150">
                <a:solidFill>
                  <a:srgbClr val="FBC02D"/>
                </a:solidFill>
                <a:latin typeface="Roboto Mono"/>
                <a:ea typeface="Roboto Mono"/>
                <a:cs typeface="Roboto Mono"/>
                <a:sym typeface="Roboto Mono"/>
              </a:rPr>
              <a:t>}</a:t>
            </a:r>
            <a:br>
              <a:rPr lang="en" sz="1150">
                <a:solidFill>
                  <a:srgbClr val="FBC02D"/>
                </a:solidFill>
                <a:latin typeface="Roboto Mono"/>
                <a:ea typeface="Roboto Mono"/>
                <a:cs typeface="Roboto Mono"/>
                <a:sym typeface="Roboto Mono"/>
              </a:rPr>
            </a:br>
            <a:br>
              <a:rPr lang="en" sz="1150">
                <a:solidFill>
                  <a:srgbClr val="FBC02D"/>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//if entered "y" for example</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//output: Give dan a good rating</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//if entered "something" for example</a:t>
            </a:r>
            <a:br>
              <a:rPr lang="en" sz="1150">
                <a:solidFill>
                  <a:srgbClr val="ECEFF1"/>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//output: can not compute answer</a:t>
            </a:r>
            <a:endParaRPr sz="1150">
              <a:solidFill>
                <a:srgbClr val="F06292"/>
              </a:solidFill>
              <a:latin typeface="Roboto Mono"/>
              <a:ea typeface="Roboto Mono"/>
              <a:cs typeface="Roboto Mono"/>
              <a:sym typeface="Roboto Mono"/>
            </a:endParaRPr>
          </a:p>
          <a:p>
            <a:pPr marL="0" lvl="0" indent="0" algn="l" rtl="0">
              <a:lnSpc>
                <a:spcPct val="115000"/>
              </a:lnSpc>
              <a:spcBef>
                <a:spcPts val="1600"/>
              </a:spcBef>
              <a:spcAft>
                <a:spcPts val="1600"/>
              </a:spcAft>
              <a:buNone/>
            </a:pPr>
            <a:endParaRPr sz="1150">
              <a:solidFill>
                <a:srgbClr val="FBC02D"/>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DOM API</a:t>
            </a:r>
            <a:endParaRPr/>
          </a:p>
        </p:txBody>
      </p:sp>
      <p:sp>
        <p:nvSpPr>
          <p:cNvPr id="121" name="Google Shape;121;p22"/>
          <p:cNvSpPr txBox="1">
            <a:spLocks noGrp="1"/>
          </p:cNvSpPr>
          <p:nvPr>
            <p:ph type="body" idx="1"/>
          </p:nvPr>
        </p:nvSpPr>
        <p:spPr>
          <a:xfrm>
            <a:off x="387900" y="1221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You need to understand how to interact with the DOM.</a:t>
            </a:r>
            <a:endParaRPr sz="1200"/>
          </a:p>
          <a:p>
            <a:pPr marL="0" lvl="0" indent="0" algn="l" rtl="0">
              <a:spcBef>
                <a:spcPts val="1600"/>
              </a:spcBef>
              <a:spcAft>
                <a:spcPts val="0"/>
              </a:spcAft>
              <a:buNone/>
            </a:pPr>
            <a:r>
              <a:rPr lang="en" sz="1200" b="1"/>
              <a:t>You also need to understand CSS selectors, there will be no help on the question “how do i select this element” in this course. If you need help with this </a:t>
            </a:r>
            <a:r>
              <a:rPr lang="en" sz="1200" b="1" u="sng">
                <a:solidFill>
                  <a:schemeClr val="hlink"/>
                </a:solidFill>
                <a:hlinkClick r:id="rId3"/>
              </a:rPr>
              <a:t>go here</a:t>
            </a:r>
            <a:r>
              <a:rPr lang="en" sz="1200" b="1"/>
              <a:t> and try to get to level 20 at least.</a:t>
            </a:r>
            <a:endParaRPr sz="1200" b="1"/>
          </a:p>
          <a:p>
            <a:pPr marL="0" lvl="0" indent="0" algn="l" rtl="0">
              <a:spcBef>
                <a:spcPts val="1600"/>
              </a:spcBef>
              <a:spcAft>
                <a:spcPts val="0"/>
              </a:spcAft>
              <a:buNone/>
            </a:pPr>
            <a:r>
              <a:rPr lang="en" sz="1200"/>
              <a:t>On the right we have an example where we select items on the list.</a:t>
            </a:r>
            <a:endParaRPr sz="1200"/>
          </a:p>
          <a:p>
            <a:pPr marL="0" lvl="0" indent="0" algn="l" rtl="0">
              <a:spcBef>
                <a:spcPts val="1600"/>
              </a:spcBef>
              <a:spcAft>
                <a:spcPts val="1600"/>
              </a:spcAft>
              <a:buNone/>
            </a:pPr>
            <a:endParaRPr sz="1200"/>
          </a:p>
        </p:txBody>
      </p:sp>
      <p:sp>
        <p:nvSpPr>
          <p:cNvPr id="122" name="Google Shape;122;p22"/>
          <p:cNvSpPr txBox="1"/>
          <p:nvPr/>
        </p:nvSpPr>
        <p:spPr>
          <a:xfrm>
            <a:off x="4805725" y="2759125"/>
            <a:ext cx="4168500" cy="198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Example JS</a:t>
            </a:r>
            <a:endParaRPr sz="7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F06292"/>
                </a:solidFill>
                <a:latin typeface="Roboto Mono"/>
                <a:ea typeface="Roboto Mono"/>
                <a:cs typeface="Roboto Mono"/>
                <a:sym typeface="Roboto Mono"/>
              </a:rPr>
              <a:t>// select the first list item</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firstItem = </a:t>
            </a:r>
            <a:r>
              <a:rPr lang="en" sz="950">
                <a:solidFill>
                  <a:srgbClr val="FBC02D"/>
                </a:solidFill>
                <a:latin typeface="Roboto Mono"/>
                <a:ea typeface="Roboto Mono"/>
                <a:cs typeface="Roboto Mono"/>
                <a:sym typeface="Roboto Mono"/>
              </a:rPr>
              <a:t>document</a:t>
            </a:r>
            <a:r>
              <a:rPr lang="en" sz="950">
                <a:solidFill>
                  <a:srgbClr val="ECEFF1"/>
                </a:solidFill>
                <a:latin typeface="Roboto Mono"/>
                <a:ea typeface="Roboto Mono"/>
                <a:cs typeface="Roboto Mono"/>
                <a:sym typeface="Roboto Mono"/>
              </a:rPr>
              <a:t>.querySelector(</a:t>
            </a:r>
            <a:r>
              <a:rPr lang="en" sz="950">
                <a:solidFill>
                  <a:srgbClr val="9CCC65"/>
                </a:solidFill>
                <a:latin typeface="Roboto Mono"/>
                <a:ea typeface="Roboto Mono"/>
                <a:cs typeface="Roboto Mono"/>
                <a:sym typeface="Roboto Mono"/>
              </a:rPr>
              <a:t>"#first-item"</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F06292"/>
                </a:solidFill>
                <a:latin typeface="Roboto Mono"/>
                <a:ea typeface="Roboto Mono"/>
                <a:cs typeface="Roboto Mono"/>
                <a:sym typeface="Roboto Mono"/>
              </a:rPr>
              <a:t>// returns a single item</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F06292"/>
                </a:solidFill>
                <a:latin typeface="Roboto Mono"/>
                <a:ea typeface="Roboto Mono"/>
                <a:cs typeface="Roboto Mono"/>
                <a:sym typeface="Roboto Mono"/>
              </a:rPr>
              <a:t>// select all listitems by class</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allItems = </a:t>
            </a:r>
            <a:r>
              <a:rPr lang="en" sz="950">
                <a:solidFill>
                  <a:srgbClr val="FBC02D"/>
                </a:solidFill>
                <a:latin typeface="Roboto Mono"/>
                <a:ea typeface="Roboto Mono"/>
                <a:cs typeface="Roboto Mono"/>
                <a:sym typeface="Roboto Mono"/>
              </a:rPr>
              <a:t>document</a:t>
            </a:r>
            <a:r>
              <a:rPr lang="en" sz="950">
                <a:solidFill>
                  <a:srgbClr val="ECEFF1"/>
                </a:solidFill>
                <a:latin typeface="Roboto Mono"/>
                <a:ea typeface="Roboto Mono"/>
                <a:cs typeface="Roboto Mono"/>
                <a:sym typeface="Roboto Mono"/>
              </a:rPr>
              <a:t>.querySelectorAll(</a:t>
            </a:r>
            <a:r>
              <a:rPr lang="en" sz="950">
                <a:solidFill>
                  <a:srgbClr val="9CCC65"/>
                </a:solidFill>
                <a:latin typeface="Roboto Mono"/>
                <a:ea typeface="Roboto Mono"/>
                <a:cs typeface="Roboto Mono"/>
                <a:sym typeface="Roboto Mono"/>
              </a:rPr>
              <a:t>".something"</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F06292"/>
                </a:solidFill>
                <a:latin typeface="Roboto Mono"/>
                <a:ea typeface="Roboto Mono"/>
                <a:cs typeface="Roboto Mono"/>
                <a:sym typeface="Roboto Mono"/>
              </a:rPr>
              <a:t>// returns an array of dom elements.</a:t>
            </a:r>
            <a:endParaRPr sz="950">
              <a:solidFill>
                <a:srgbClr val="F06292"/>
              </a:solidFill>
              <a:latin typeface="Roboto Mono"/>
              <a:ea typeface="Roboto Mono"/>
              <a:cs typeface="Roboto Mono"/>
              <a:sym typeface="Roboto Mono"/>
            </a:endParaRPr>
          </a:p>
          <a:p>
            <a:pPr marL="0" lvl="0" indent="0" algn="l" rtl="0">
              <a:lnSpc>
                <a:spcPct val="146739"/>
              </a:lnSpc>
              <a:spcBef>
                <a:spcPts val="0"/>
              </a:spcBef>
              <a:spcAft>
                <a:spcPts val="0"/>
              </a:spcAft>
              <a:buNone/>
            </a:pPr>
            <a:endParaRPr sz="750">
              <a:solidFill>
                <a:srgbClr val="ECEFF1"/>
              </a:solidFill>
              <a:latin typeface="Roboto Mono"/>
              <a:ea typeface="Roboto Mono"/>
              <a:cs typeface="Roboto Mono"/>
              <a:sym typeface="Roboto Mono"/>
            </a:endParaRPr>
          </a:p>
        </p:txBody>
      </p:sp>
      <p:sp>
        <p:nvSpPr>
          <p:cNvPr id="123" name="Google Shape;123;p22"/>
          <p:cNvSpPr txBox="1"/>
          <p:nvPr/>
        </p:nvSpPr>
        <p:spPr>
          <a:xfrm>
            <a:off x="4805725" y="1221200"/>
            <a:ext cx="4387800" cy="153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Example HTML</a:t>
            </a:r>
            <a:br>
              <a:rPr lang="en" sz="950">
                <a:solidFill>
                  <a:srgbClr val="ECEFF1"/>
                </a:solidFill>
                <a:latin typeface="Roboto Mono"/>
                <a:ea typeface="Roboto Mono"/>
                <a:cs typeface="Roboto Mono"/>
                <a:sym typeface="Roboto Mono"/>
              </a:rPr>
            </a:br>
            <a:r>
              <a:rPr lang="en" sz="950">
                <a:solidFill>
                  <a:srgbClr val="ECEFF1"/>
                </a:solidFill>
                <a:latin typeface="Roboto Mono"/>
                <a:ea typeface="Roboto Mono"/>
                <a:cs typeface="Roboto Mono"/>
                <a:sym typeface="Roboto Mono"/>
              </a:rPr>
              <a:t>&lt;</a:t>
            </a:r>
            <a:r>
              <a:rPr lang="en" sz="950">
                <a:solidFill>
                  <a:srgbClr val="4DD0E1"/>
                </a:solidFill>
                <a:latin typeface="Roboto Mono"/>
                <a:ea typeface="Roboto Mono"/>
                <a:cs typeface="Roboto Mono"/>
                <a:sym typeface="Roboto Mono"/>
              </a:rPr>
              <a:t>ul</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 </a:t>
            </a:r>
            <a:r>
              <a:rPr lang="en" sz="950">
                <a:solidFill>
                  <a:srgbClr val="CE93D8"/>
                </a:solidFill>
                <a:latin typeface="Roboto Mono"/>
                <a:ea typeface="Roboto Mono"/>
                <a:cs typeface="Roboto Mono"/>
                <a:sym typeface="Roboto Mono"/>
              </a:rPr>
              <a:t>id</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first-item</a:t>
            </a:r>
            <a:r>
              <a:rPr lang="en" sz="950">
                <a:solidFill>
                  <a:srgbClr val="ECEFF1"/>
                </a:solidFill>
                <a:latin typeface="Roboto Mono"/>
                <a:ea typeface="Roboto Mono"/>
                <a:cs typeface="Roboto Mono"/>
                <a:sym typeface="Roboto Mono"/>
              </a:rPr>
              <a:t>"</a:t>
            </a:r>
            <a:r>
              <a:rPr lang="en" sz="950">
                <a:solidFill>
                  <a:srgbClr val="4DD0E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class</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something</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the first.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 </a:t>
            </a:r>
            <a:r>
              <a:rPr lang="en" sz="950">
                <a:solidFill>
                  <a:srgbClr val="CE93D8"/>
                </a:solidFill>
                <a:latin typeface="Roboto Mono"/>
                <a:ea typeface="Roboto Mono"/>
                <a:cs typeface="Roboto Mono"/>
                <a:sym typeface="Roboto Mono"/>
              </a:rPr>
              <a:t>id</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second-item</a:t>
            </a:r>
            <a:r>
              <a:rPr lang="en" sz="950">
                <a:solidFill>
                  <a:srgbClr val="ECEFF1"/>
                </a:solidFill>
                <a:latin typeface="Roboto Mono"/>
                <a:ea typeface="Roboto Mono"/>
                <a:cs typeface="Roboto Mono"/>
                <a:sym typeface="Roboto Mono"/>
              </a:rPr>
              <a:t>"</a:t>
            </a:r>
            <a:r>
              <a:rPr lang="en" sz="950">
                <a:solidFill>
                  <a:srgbClr val="4DD0E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class</a:t>
            </a:r>
            <a:r>
              <a:rPr lang="en" sz="950">
                <a:solidFill>
                  <a:srgbClr val="ECEFF1"/>
                </a:solidFill>
                <a:latin typeface="Roboto Mono"/>
                <a:ea typeface="Roboto Mono"/>
                <a:cs typeface="Roboto Mono"/>
                <a:sym typeface="Roboto Mono"/>
              </a:rPr>
              <a:t>="</a:t>
            </a:r>
            <a:r>
              <a:rPr lang="en" sz="950">
                <a:solidFill>
                  <a:srgbClr val="9CCC65"/>
                </a:solidFill>
                <a:latin typeface="Roboto Mono"/>
                <a:ea typeface="Roboto Mono"/>
                <a:cs typeface="Roboto Mono"/>
                <a:sym typeface="Roboto Mono"/>
              </a:rPr>
              <a:t>something</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the second</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a:t>
            </a:r>
            <a:r>
              <a:rPr lang="en" sz="950">
                <a:solidFill>
                  <a:srgbClr val="4DD0E1"/>
                </a:solidFill>
                <a:latin typeface="Roboto Mono"/>
                <a:ea typeface="Roboto Mono"/>
                <a:cs typeface="Roboto Mono"/>
                <a:sym typeface="Roboto Mono"/>
              </a:rPr>
              <a:t>li</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ECEFF1"/>
                </a:solidFill>
                <a:latin typeface="Roboto Mono"/>
                <a:ea typeface="Roboto Mono"/>
                <a:cs typeface="Roboto Mono"/>
                <a:sym typeface="Roboto Mono"/>
              </a:rPr>
              <a:t>&lt;/</a:t>
            </a:r>
            <a:r>
              <a:rPr lang="en" sz="950">
                <a:solidFill>
                  <a:srgbClr val="4DD0E1"/>
                </a:solidFill>
                <a:latin typeface="Roboto Mono"/>
                <a:ea typeface="Roboto Mono"/>
                <a:cs typeface="Roboto Mono"/>
                <a:sym typeface="Roboto Mono"/>
              </a:rPr>
              <a:t>ul</a:t>
            </a:r>
            <a:r>
              <a:rPr lang="en" sz="950">
                <a:solidFill>
                  <a:srgbClr val="ECEFF1"/>
                </a:solidFill>
                <a:latin typeface="Roboto Mono"/>
                <a:ea typeface="Roboto Mono"/>
                <a:cs typeface="Roboto Mono"/>
                <a:sym typeface="Roboto Mono"/>
              </a:rPr>
              <a:t>&gt;</a:t>
            </a:r>
            <a:endParaRPr sz="950">
              <a:solidFill>
                <a:srgbClr val="ECEFF1"/>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Events</a:t>
            </a:r>
            <a:endParaRPr/>
          </a:p>
        </p:txBody>
      </p:sp>
      <p:sp>
        <p:nvSpPr>
          <p:cNvPr id="129" name="Google Shape;129;p23"/>
          <p:cNvSpPr txBox="1">
            <a:spLocks noGrp="1"/>
          </p:cNvSpPr>
          <p:nvPr>
            <p:ph type="body" idx="1"/>
          </p:nvPr>
        </p:nvSpPr>
        <p:spPr>
          <a:xfrm>
            <a:off x="387900" y="1221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In JavaScript and web development everything is essentially event based.</a:t>
            </a:r>
            <a:endParaRPr sz="1200"/>
          </a:p>
          <a:p>
            <a:pPr marL="0" lvl="0" indent="0" algn="l" rtl="0">
              <a:spcBef>
                <a:spcPts val="1600"/>
              </a:spcBef>
              <a:spcAft>
                <a:spcPts val="0"/>
              </a:spcAft>
              <a:buNone/>
            </a:pPr>
            <a:r>
              <a:rPr lang="en" sz="1200"/>
              <a:t>You need to understand that in javascript, that even though you don’t have every single event memorized, you need to know how to execute a function based on a user event (and also understanding a bit about the event object).</a:t>
            </a:r>
            <a:endParaRPr sz="1200"/>
          </a:p>
          <a:p>
            <a:pPr marL="0" lvl="0" indent="0" algn="l" rtl="0">
              <a:spcBef>
                <a:spcPts val="1600"/>
              </a:spcBef>
              <a:spcAft>
                <a:spcPts val="0"/>
              </a:spcAft>
              <a:buNone/>
            </a:pPr>
            <a:r>
              <a:rPr lang="en" sz="1200"/>
              <a:t>On the right we have a small example where when you click the button it prints out the “</a:t>
            </a:r>
            <a:r>
              <a:rPr lang="en" sz="950">
                <a:solidFill>
                  <a:srgbClr val="ECEFF1"/>
                </a:solidFill>
                <a:latin typeface="Roboto Mono"/>
                <a:ea typeface="Roboto Mono"/>
                <a:cs typeface="Roboto Mono"/>
                <a:sym typeface="Roboto Mono"/>
              </a:rPr>
              <a:t>event.target</a:t>
            </a:r>
            <a:r>
              <a:rPr lang="en" sz="1200"/>
              <a:t>” which is what element the event is being fired upon, and the message “</a:t>
            </a:r>
            <a:r>
              <a:rPr lang="en" sz="950">
                <a:solidFill>
                  <a:srgbClr val="9CCC65"/>
                </a:solidFill>
                <a:latin typeface="Roboto Mono"/>
                <a:ea typeface="Roboto Mono"/>
                <a:cs typeface="Roboto Mono"/>
                <a:sym typeface="Roboto Mono"/>
              </a:rPr>
              <a:t>"this the action!! Clicked!"</a:t>
            </a:r>
            <a:r>
              <a:rPr lang="en" sz="1200"/>
              <a:t>”</a:t>
            </a:r>
            <a:endParaRPr sz="1200"/>
          </a:p>
          <a:p>
            <a:pPr marL="0" lvl="0" indent="0" algn="l" rtl="0">
              <a:spcBef>
                <a:spcPts val="1600"/>
              </a:spcBef>
              <a:spcAft>
                <a:spcPts val="1600"/>
              </a:spcAft>
              <a:buNone/>
            </a:pPr>
            <a:r>
              <a:rPr lang="en" sz="1200"/>
              <a:t>All of these pieces should be understood.</a:t>
            </a:r>
            <a:endParaRPr sz="1200"/>
          </a:p>
        </p:txBody>
      </p:sp>
      <p:sp>
        <p:nvSpPr>
          <p:cNvPr id="130" name="Google Shape;130;p23"/>
          <p:cNvSpPr txBox="1"/>
          <p:nvPr/>
        </p:nvSpPr>
        <p:spPr>
          <a:xfrm>
            <a:off x="4805725" y="1144125"/>
            <a:ext cx="3950400" cy="7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Example HTML</a:t>
            </a:r>
            <a:br>
              <a:rPr lang="en" sz="1200">
                <a:solidFill>
                  <a:schemeClr val="dk1"/>
                </a:solidFill>
                <a:latin typeface="Roboto"/>
                <a:ea typeface="Roboto"/>
                <a:cs typeface="Roboto"/>
                <a:sym typeface="Roboto"/>
              </a:rPr>
            </a:br>
            <a:endParaRPr sz="1200">
              <a:solidFill>
                <a:schemeClr val="dk1"/>
              </a:solidFill>
              <a:latin typeface="Roboto"/>
              <a:ea typeface="Roboto"/>
              <a:cs typeface="Roboto"/>
              <a:sym typeface="Robot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&lt;</a:t>
            </a:r>
            <a:r>
              <a:rPr lang="en" sz="950">
                <a:solidFill>
                  <a:srgbClr val="4DD0E1"/>
                </a:solidFill>
                <a:latin typeface="Roboto Mono"/>
                <a:ea typeface="Roboto Mono"/>
                <a:cs typeface="Roboto Mono"/>
                <a:sym typeface="Roboto Mono"/>
              </a:rPr>
              <a:t>button</a:t>
            </a:r>
            <a:r>
              <a:rPr lang="en" sz="950">
                <a:solidFill>
                  <a:srgbClr val="ECEFF1"/>
                </a:solidFill>
                <a:latin typeface="Roboto Mono"/>
                <a:ea typeface="Roboto Mono"/>
                <a:cs typeface="Roboto Mono"/>
                <a:sym typeface="Roboto Mono"/>
              </a:rPr>
              <a:t>&gt;Click this button&lt;/</a:t>
            </a:r>
            <a:r>
              <a:rPr lang="en" sz="950">
                <a:solidFill>
                  <a:srgbClr val="4DD0E1"/>
                </a:solidFill>
                <a:latin typeface="Roboto Mono"/>
                <a:ea typeface="Roboto Mono"/>
                <a:cs typeface="Roboto Mono"/>
                <a:sym typeface="Roboto Mono"/>
              </a:rPr>
              <a:t>button</a:t>
            </a:r>
            <a:r>
              <a:rPr lang="en" sz="950">
                <a:solidFill>
                  <a:srgbClr val="ECEFF1"/>
                </a:solidFill>
                <a:latin typeface="Roboto Mono"/>
                <a:ea typeface="Roboto Mono"/>
                <a:cs typeface="Roboto Mono"/>
                <a:sym typeface="Roboto Mono"/>
              </a:rPr>
              <a:t>&gt;</a:t>
            </a:r>
            <a:endParaRPr sz="750">
              <a:solidFill>
                <a:srgbClr val="ECEFF1"/>
              </a:solidFill>
              <a:latin typeface="Roboto Mono"/>
              <a:ea typeface="Roboto Mono"/>
              <a:cs typeface="Roboto Mono"/>
              <a:sym typeface="Roboto Mono"/>
            </a:endParaRPr>
          </a:p>
        </p:txBody>
      </p:sp>
      <p:sp>
        <p:nvSpPr>
          <p:cNvPr id="131" name="Google Shape;131;p23"/>
          <p:cNvSpPr txBox="1"/>
          <p:nvPr/>
        </p:nvSpPr>
        <p:spPr>
          <a:xfrm>
            <a:off x="4805725" y="1873150"/>
            <a:ext cx="3892200" cy="270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Example JS</a:t>
            </a:r>
            <a:br>
              <a:rPr lang="en" sz="1200">
                <a:solidFill>
                  <a:schemeClr val="dk1"/>
                </a:solidFill>
                <a:latin typeface="Roboto"/>
                <a:ea typeface="Roboto"/>
                <a:cs typeface="Roboto"/>
                <a:sym typeface="Roboto"/>
              </a:rPr>
            </a:br>
            <a:br>
              <a:rPr lang="en" sz="950">
                <a:solidFill>
                  <a:srgbClr val="4DD0E1"/>
                </a:solidFill>
                <a:latin typeface="Roboto Mono"/>
                <a:ea typeface="Roboto Mono"/>
                <a:cs typeface="Roboto Mono"/>
                <a:sym typeface="Roboto Mono"/>
              </a:rPr>
            </a:b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button = </a:t>
            </a:r>
            <a:r>
              <a:rPr lang="en" sz="950">
                <a:solidFill>
                  <a:srgbClr val="FBC02D"/>
                </a:solidFill>
                <a:latin typeface="Roboto Mono"/>
                <a:ea typeface="Roboto Mono"/>
                <a:cs typeface="Roboto Mono"/>
                <a:sym typeface="Roboto Mono"/>
              </a:rPr>
              <a:t>document</a:t>
            </a:r>
            <a:r>
              <a:rPr lang="en" sz="950">
                <a:solidFill>
                  <a:srgbClr val="ECEFF1"/>
                </a:solidFill>
                <a:latin typeface="Roboto Mono"/>
                <a:ea typeface="Roboto Mono"/>
                <a:cs typeface="Roboto Mono"/>
                <a:sym typeface="Roboto Mono"/>
              </a:rPr>
              <a:t>.querySelector(</a:t>
            </a:r>
            <a:r>
              <a:rPr lang="en" sz="950">
                <a:solidFill>
                  <a:srgbClr val="9CCC65"/>
                </a:solidFill>
                <a:latin typeface="Roboto Mono"/>
                <a:ea typeface="Roboto Mono"/>
                <a:cs typeface="Roboto Mono"/>
                <a:sym typeface="Roboto Mono"/>
              </a:rPr>
              <a:t>"button"</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this is the event handler.</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the "event" is a parameter that javascript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will pass in.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function</a:t>
            </a:r>
            <a:r>
              <a:rPr lang="en" sz="950">
                <a:solidFill>
                  <a:srgbClr val="ECEFF1"/>
                </a:solidFill>
                <a:latin typeface="Roboto Mono"/>
                <a:ea typeface="Roboto Mono"/>
                <a:cs typeface="Roboto Mono"/>
                <a:sym typeface="Roboto Mono"/>
              </a:rPr>
              <a:t> eventHandler(event)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F06292"/>
                </a:solidFill>
                <a:latin typeface="Roboto Mono"/>
                <a:ea typeface="Roboto Mono"/>
                <a:cs typeface="Roboto Mono"/>
                <a:sym typeface="Roboto Mono"/>
              </a:rPr>
              <a:t>// the event.target is the element itself.</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.log(event.target)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CE93D8"/>
                </a:solidFill>
                <a:latin typeface="Roboto Mono"/>
                <a:ea typeface="Roboto Mono"/>
                <a:cs typeface="Roboto Mono"/>
                <a:sym typeface="Roboto Mono"/>
              </a:rPr>
              <a:t>console</a:t>
            </a:r>
            <a:r>
              <a:rPr lang="en" sz="950">
                <a:solidFill>
                  <a:srgbClr val="ECEFF1"/>
                </a:solidFill>
                <a:latin typeface="Roboto Mono"/>
                <a:ea typeface="Roboto Mono"/>
                <a:cs typeface="Roboto Mono"/>
                <a:sym typeface="Roboto Mono"/>
              </a:rPr>
              <a:t>.log(</a:t>
            </a:r>
            <a:r>
              <a:rPr lang="en" sz="950">
                <a:solidFill>
                  <a:srgbClr val="9CCC65"/>
                </a:solidFill>
                <a:latin typeface="Roboto Mono"/>
                <a:ea typeface="Roboto Mono"/>
                <a:cs typeface="Roboto Mono"/>
                <a:sym typeface="Roboto Mono"/>
              </a:rPr>
              <a:t>"this the action!! Clicked!"</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below we are listening to "click" events</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on the button variable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and executing the "eventHandler" function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when the user clicks</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ECEFF1"/>
                </a:solidFill>
                <a:latin typeface="Roboto Mono"/>
                <a:ea typeface="Roboto Mono"/>
                <a:cs typeface="Roboto Mono"/>
                <a:sym typeface="Roboto Mono"/>
              </a:rPr>
              <a:t>button.addEventListener(</a:t>
            </a:r>
            <a:r>
              <a:rPr lang="en" sz="950">
                <a:solidFill>
                  <a:srgbClr val="9CCC65"/>
                </a:solidFill>
                <a:latin typeface="Roboto Mono"/>
                <a:ea typeface="Roboto Mono"/>
                <a:cs typeface="Roboto Mono"/>
                <a:sym typeface="Roboto Mono"/>
              </a:rPr>
              <a:t>"click"</a:t>
            </a:r>
            <a:r>
              <a:rPr lang="en" sz="950">
                <a:solidFill>
                  <a:srgbClr val="ECEFF1"/>
                </a:solidFill>
                <a:latin typeface="Roboto Mono"/>
                <a:ea typeface="Roboto Mono"/>
                <a:cs typeface="Roboto Mono"/>
                <a:sym typeface="Roboto Mono"/>
              </a:rPr>
              <a:t>, eventHandler);</a:t>
            </a:r>
            <a:endParaRPr sz="950">
              <a:solidFill>
                <a:srgbClr val="ECEFF1"/>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Review - Arrays and Loops</a:t>
            </a:r>
            <a:endParaRPr/>
          </a:p>
        </p:txBody>
      </p:sp>
      <p:sp>
        <p:nvSpPr>
          <p:cNvPr id="137" name="Google Shape;137;p24"/>
          <p:cNvSpPr txBox="1">
            <a:spLocks noGrp="1"/>
          </p:cNvSpPr>
          <p:nvPr>
            <p:ph type="body" idx="1"/>
          </p:nvPr>
        </p:nvSpPr>
        <p:spPr>
          <a:xfrm>
            <a:off x="387900" y="1221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Arrays and loops in this course are going to be very important in code, but also how we use “components” (more on that later) in our rending of or applications.</a:t>
            </a:r>
            <a:endParaRPr sz="1200"/>
          </a:p>
          <a:p>
            <a:pPr marL="0" lvl="0" indent="0" algn="l" rtl="0">
              <a:spcBef>
                <a:spcPts val="1600"/>
              </a:spcBef>
              <a:spcAft>
                <a:spcPts val="0"/>
              </a:spcAft>
              <a:buNone/>
            </a:pPr>
            <a:r>
              <a:rPr lang="en" sz="1200"/>
              <a:t>You need to understand that arrays have indexes that begin at zero</a:t>
            </a:r>
            <a:endParaRPr sz="1200"/>
          </a:p>
          <a:p>
            <a:pPr marL="0" lvl="0" indent="0" algn="l" rtl="0">
              <a:spcBef>
                <a:spcPts val="1600"/>
              </a:spcBef>
              <a:spcAft>
                <a:spcPts val="0"/>
              </a:spcAft>
              <a:buNone/>
            </a:pPr>
            <a:r>
              <a:rPr lang="en" sz="1200"/>
              <a:t>We’ll be using “</a:t>
            </a:r>
            <a:r>
              <a:rPr lang="en" sz="950">
                <a:solidFill>
                  <a:srgbClr val="ECEFF1"/>
                </a:solidFill>
                <a:latin typeface="Roboto Mono"/>
                <a:ea typeface="Roboto Mono"/>
                <a:cs typeface="Roboto Mono"/>
                <a:sym typeface="Roboto Mono"/>
              </a:rPr>
              <a:t>map</a:t>
            </a:r>
            <a:r>
              <a:rPr lang="en" sz="1200"/>
              <a:t>” which loops over each item and returns a new array with modified values. You can use “</a:t>
            </a:r>
            <a:r>
              <a:rPr lang="en" sz="950">
                <a:solidFill>
                  <a:srgbClr val="ECEFF1"/>
                </a:solidFill>
                <a:latin typeface="Roboto Mono"/>
                <a:ea typeface="Roboto Mono"/>
                <a:cs typeface="Roboto Mono"/>
                <a:sym typeface="Roboto Mono"/>
              </a:rPr>
              <a:t>map</a:t>
            </a:r>
            <a:r>
              <a:rPr lang="en" sz="1200"/>
              <a:t>” instead of “</a:t>
            </a:r>
            <a:r>
              <a:rPr lang="en" sz="950">
                <a:solidFill>
                  <a:srgbClr val="ECEFF1"/>
                </a:solidFill>
                <a:latin typeface="Roboto Mono"/>
                <a:ea typeface="Roboto Mono"/>
                <a:cs typeface="Roboto Mono"/>
                <a:sym typeface="Roboto Mono"/>
              </a:rPr>
              <a:t>forEach</a:t>
            </a:r>
            <a:r>
              <a:rPr lang="en" sz="1200"/>
              <a:t>” in all cases.</a:t>
            </a:r>
            <a:endParaRPr sz="1200"/>
          </a:p>
          <a:p>
            <a:pPr marL="0" lvl="0" indent="0" algn="l" rtl="0">
              <a:spcBef>
                <a:spcPts val="1600"/>
              </a:spcBef>
              <a:spcAft>
                <a:spcPts val="0"/>
              </a:spcAft>
              <a:buNone/>
            </a:pPr>
            <a:r>
              <a:rPr lang="en" sz="1200"/>
              <a:t>We’ll be using “</a:t>
            </a:r>
            <a:r>
              <a:rPr lang="en" sz="950">
                <a:solidFill>
                  <a:srgbClr val="ECEFF1"/>
                </a:solidFill>
                <a:latin typeface="Roboto Mono"/>
                <a:ea typeface="Roboto Mono"/>
                <a:cs typeface="Roboto Mono"/>
                <a:sym typeface="Roboto Mono"/>
              </a:rPr>
              <a:t>filter</a:t>
            </a:r>
            <a:r>
              <a:rPr lang="en" sz="1200"/>
              <a:t>” which loops over each item and returns a subset of the array. The callback function returns true or false, true if you’d like to keep it, false if you want to remove it from the subset. </a:t>
            </a:r>
            <a:endParaRPr sz="1200"/>
          </a:p>
          <a:p>
            <a:pPr marL="0" lvl="0" indent="0" algn="l" rtl="0">
              <a:spcBef>
                <a:spcPts val="1600"/>
              </a:spcBef>
              <a:spcAft>
                <a:spcPts val="1600"/>
              </a:spcAft>
              <a:buNone/>
            </a:pPr>
            <a:endParaRPr sz="1200"/>
          </a:p>
        </p:txBody>
      </p:sp>
      <p:sp>
        <p:nvSpPr>
          <p:cNvPr id="138" name="Google Shape;138;p24"/>
          <p:cNvSpPr txBox="1"/>
          <p:nvPr/>
        </p:nvSpPr>
        <p:spPr>
          <a:xfrm>
            <a:off x="4433850" y="1221200"/>
            <a:ext cx="4756200" cy="354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arrays are defined like this.</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cats = [</a:t>
            </a:r>
            <a:r>
              <a:rPr lang="en" sz="950">
                <a:solidFill>
                  <a:srgbClr val="9CCC65"/>
                </a:solidFill>
                <a:latin typeface="Roboto Mono"/>
                <a:ea typeface="Roboto Mono"/>
                <a:cs typeface="Roboto Mono"/>
                <a:sym typeface="Roboto Mono"/>
              </a:rPr>
              <a:t>"Ghost"</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"Gambit"</a:t>
            </a:r>
            <a:r>
              <a:rPr lang="en" sz="950">
                <a:solidFill>
                  <a:srgbClr val="ECEFF1"/>
                </a:solidFill>
                <a:latin typeface="Roboto Mono"/>
                <a:ea typeface="Roboto Mono"/>
                <a:cs typeface="Roboto Mono"/>
                <a:sym typeface="Roboto Mono"/>
              </a:rPr>
              <a:t>, </a:t>
            </a:r>
            <a:r>
              <a:rPr lang="en" sz="950">
                <a:solidFill>
                  <a:srgbClr val="9CCC65"/>
                </a:solidFill>
                <a:latin typeface="Roboto Mono"/>
                <a:ea typeface="Roboto Mono"/>
                <a:cs typeface="Roboto Mono"/>
                <a:sym typeface="Roboto Mono"/>
              </a:rPr>
              <a:t>"Marshmallow"</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items are accessed with an index</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which starts at 0</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gambitCat = cats[</a:t>
            </a:r>
            <a:r>
              <a:rPr lang="en" sz="950">
                <a:solidFill>
                  <a:srgbClr val="FBC02D"/>
                </a:solidFill>
                <a:latin typeface="Roboto Mono"/>
                <a:ea typeface="Roboto Mono"/>
                <a:cs typeface="Roboto Mono"/>
                <a:sym typeface="Roboto Mono"/>
              </a:rPr>
              <a:t>1</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loops go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map returns an array of each item modified</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in the call back you can return the new</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modified value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upperCaseCats = cats.map((cat)=&gt;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return</a:t>
            </a:r>
            <a:r>
              <a:rPr lang="en" sz="950">
                <a:solidFill>
                  <a:srgbClr val="ECEFF1"/>
                </a:solidFill>
                <a:latin typeface="Roboto Mono"/>
                <a:ea typeface="Roboto Mono"/>
                <a:cs typeface="Roboto Mono"/>
                <a:sym typeface="Roboto Mono"/>
              </a:rPr>
              <a:t> cat.toUpperCase()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upperCaseCats is ['GHOST', 'GAMBIT', 'MARSHMALLOW']</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filter returns a subset of the array</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F06292"/>
                </a:solidFill>
                <a:latin typeface="Roboto Mono"/>
                <a:ea typeface="Roboto Mono"/>
                <a:cs typeface="Roboto Mono"/>
                <a:sym typeface="Roboto Mono"/>
              </a:rPr>
              <a:t>// you need to return true or false in the callback</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let</a:t>
            </a:r>
            <a:r>
              <a:rPr lang="en" sz="950">
                <a:solidFill>
                  <a:srgbClr val="ECEFF1"/>
                </a:solidFill>
                <a:latin typeface="Roboto Mono"/>
                <a:ea typeface="Roboto Mono"/>
                <a:cs typeface="Roboto Mono"/>
                <a:sym typeface="Roboto Mono"/>
              </a:rPr>
              <a:t> catsNamesWithT = cats.filter((cat)=&gt;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return</a:t>
            </a:r>
            <a:r>
              <a:rPr lang="en" sz="950">
                <a:solidFill>
                  <a:srgbClr val="ECEFF1"/>
                </a:solidFill>
                <a:latin typeface="Roboto Mono"/>
                <a:ea typeface="Roboto Mono"/>
                <a:cs typeface="Roboto Mono"/>
                <a:sym typeface="Roboto Mono"/>
              </a:rPr>
              <a:t> cat.includes(</a:t>
            </a:r>
            <a:r>
              <a:rPr lang="en" sz="950">
                <a:solidFill>
                  <a:srgbClr val="9CCC65"/>
                </a:solidFill>
                <a:latin typeface="Roboto Mono"/>
                <a:ea typeface="Roboto Mono"/>
                <a:cs typeface="Roboto Mono"/>
                <a:sym typeface="Roboto Mono"/>
              </a:rPr>
              <a:t>"t"</a:t>
            </a:r>
            <a:r>
              <a:rPr lang="en" sz="950">
                <a:solidFill>
                  <a:srgbClr val="ECEFF1"/>
                </a:solidFill>
                <a:latin typeface="Roboto Mono"/>
                <a:ea typeface="Roboto Mono"/>
                <a:cs typeface="Roboto Mono"/>
                <a:sym typeface="Roboto Mono"/>
              </a:rPr>
              <a:t>) </a:t>
            </a:r>
            <a:r>
              <a:rPr lang="en" sz="950">
                <a:solidFill>
                  <a:srgbClr val="F06292"/>
                </a:solidFill>
                <a:latin typeface="Roboto Mono"/>
                <a:ea typeface="Roboto Mono"/>
                <a:cs typeface="Roboto Mono"/>
                <a:sym typeface="Roboto Mono"/>
              </a:rPr>
              <a:t>//.includes returns true or false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950">
                <a:solidFill>
                  <a:srgbClr val="F06292"/>
                </a:solidFill>
                <a:latin typeface="Roboto Mono"/>
                <a:ea typeface="Roboto Mono"/>
                <a:cs typeface="Roboto Mono"/>
                <a:sym typeface="Roboto Mono"/>
              </a:rPr>
              <a:t>// catsNamesWithT is  ['Ghost', 'Gambit']</a:t>
            </a:r>
            <a:endParaRPr sz="950">
              <a:solidFill>
                <a:srgbClr val="F06292"/>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Extra Note - ES6 IIFE</a:t>
            </a:r>
            <a:endParaRPr dirty="0"/>
          </a:p>
        </p:txBody>
      </p:sp>
      <p:sp>
        <p:nvSpPr>
          <p:cNvPr id="144" name="Google Shape;144;p2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Since all bindings (defined variables, functions and any other definition with let and const) only live within a block (within “</a:t>
            </a:r>
            <a:r>
              <a:rPr lang="en" sz="1150" dirty="0">
                <a:solidFill>
                  <a:srgbClr val="ECEFF1"/>
                </a:solidFill>
                <a:latin typeface="Roboto Mono"/>
                <a:ea typeface="Roboto Mono"/>
                <a:cs typeface="Roboto Mono"/>
                <a:sym typeface="Roboto Mono"/>
              </a:rPr>
              <a:t>{}</a:t>
            </a:r>
            <a:r>
              <a:rPr lang="en" dirty="0"/>
              <a:t>”). </a:t>
            </a:r>
            <a:endParaRPr dirty="0"/>
          </a:p>
          <a:p>
            <a:pPr marL="0" lvl="0" indent="0" algn="l" rtl="0">
              <a:spcBef>
                <a:spcPts val="1600"/>
              </a:spcBef>
              <a:spcAft>
                <a:spcPts val="0"/>
              </a:spcAft>
              <a:buNone/>
            </a:pPr>
            <a:r>
              <a:rPr lang="en" dirty="0"/>
              <a:t>We can simplify IIFEs to define everything by putting everything within parentheses.</a:t>
            </a:r>
            <a:endParaRPr dirty="0"/>
          </a:p>
          <a:p>
            <a:pPr marL="0" lvl="0" indent="0" algn="l" rtl="0">
              <a:spcBef>
                <a:spcPts val="1600"/>
              </a:spcBef>
              <a:spcAft>
                <a:spcPts val="0"/>
              </a:spcAft>
              <a:buNone/>
            </a:pPr>
            <a:r>
              <a:rPr lang="en" b="1" dirty="0"/>
              <a:t>Important:</a:t>
            </a:r>
            <a:endParaRPr dirty="0"/>
          </a:p>
          <a:p>
            <a:pPr marL="0" lvl="0" indent="0" algn="l" rtl="0">
              <a:spcBef>
                <a:spcPts val="1600"/>
              </a:spcBef>
              <a:spcAft>
                <a:spcPts val="1600"/>
              </a:spcAft>
              <a:buNone/>
            </a:pPr>
            <a:r>
              <a:rPr lang="en" dirty="0"/>
              <a:t>IIFEs aren’t necessary in ES6 but you might have to use them so that, when we convert (or transpile) our code into ES5, an IIFE is used. More on this in a few lectures when we discuss babel (the transpiler).</a:t>
            </a:r>
            <a:endParaRPr dirty="0"/>
          </a:p>
        </p:txBody>
      </p:sp>
      <p:sp>
        <p:nvSpPr>
          <p:cNvPr id="145" name="Google Shape;145;p25"/>
          <p:cNvSpPr txBox="1"/>
          <p:nvPr/>
        </p:nvSpPr>
        <p:spPr>
          <a:xfrm>
            <a:off x="4387800" y="1489825"/>
            <a:ext cx="4684500" cy="258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privateVariable = </a:t>
            </a:r>
            <a:r>
              <a:rPr lang="en" sz="1150">
                <a:solidFill>
                  <a:srgbClr val="9CCC65"/>
                </a:solidFill>
                <a:latin typeface="Roboto Mono"/>
                <a:ea typeface="Roboto Mono"/>
                <a:cs typeface="Roboto Mono"/>
                <a:sym typeface="Roboto Mono"/>
              </a:rPr>
              <a:t>"super secret."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somethingPublic = </a:t>
            </a:r>
            <a:r>
              <a:rPr lang="en" sz="1150">
                <a:solidFill>
                  <a:srgbClr val="9CCC65"/>
                </a:solidFill>
                <a:latin typeface="Roboto Mono"/>
                <a:ea typeface="Roboto Mono"/>
                <a:cs typeface="Roboto Mono"/>
                <a:sym typeface="Roboto Mono"/>
              </a:rPr>
              <a:t>"Hi dan"</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console.log(`look here: ${somethingPublic}`);</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look here: Hi Dan</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Note: if you try to access "somethingPublic", or</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"privateVariable" it will give you an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undefined variable error which is ideal!</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example: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console.log(privateVariable);</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gives an error.</a:t>
            </a:r>
            <a:endParaRPr sz="1150">
              <a:solidFill>
                <a:srgbClr val="F06292"/>
              </a:solidFill>
              <a:latin typeface="Roboto Mono"/>
              <a:ea typeface="Roboto Mono"/>
              <a:cs typeface="Roboto Mono"/>
              <a:sym typeface="Roboto Mono"/>
            </a:endParaRPr>
          </a:p>
        </p:txBody>
      </p:sp>
      <p:sp>
        <p:nvSpPr>
          <p:cNvPr id="146" name="Google Shape;146;p25"/>
          <p:cNvSpPr txBox="1"/>
          <p:nvPr/>
        </p:nvSpPr>
        <p:spPr>
          <a:xfrm>
            <a:off x="5756950" y="4225825"/>
            <a:ext cx="1036800" cy="54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latin typeface="Roboto"/>
                <a:ea typeface="Roboto"/>
                <a:cs typeface="Roboto"/>
                <a:sym typeface="Roboto"/>
                <a:hlinkClick r:id="rId3"/>
              </a:rPr>
              <a:t>Live Demo</a:t>
            </a:r>
            <a:endParaRPr>
              <a:solidFill>
                <a:srgbClr val="FFFFF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Spread Operator</a:t>
            </a:r>
            <a:endParaRPr/>
          </a:p>
        </p:txBody>
      </p:sp>
      <p:sp>
        <p:nvSpPr>
          <p:cNvPr id="134" name="Google Shape;134;p23"/>
          <p:cNvSpPr txBox="1">
            <a:spLocks noGrp="1"/>
          </p:cNvSpPr>
          <p:nvPr>
            <p:ph type="body" idx="1"/>
          </p:nvPr>
        </p:nvSpPr>
        <p:spPr>
          <a:xfrm>
            <a:off x="350900" y="1238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The Spread operator allows you to “spread” an array or object into a new array or object.</a:t>
            </a:r>
            <a:endParaRPr sz="1200"/>
          </a:p>
          <a:p>
            <a:pPr marL="0" lvl="0" indent="0" algn="l" rtl="0">
              <a:spcBef>
                <a:spcPts val="1600"/>
              </a:spcBef>
              <a:spcAft>
                <a:spcPts val="0"/>
              </a:spcAft>
              <a:buNone/>
            </a:pPr>
            <a:r>
              <a:rPr lang="en" sz="1200"/>
              <a:t>On the right you can see in example #1 that we can use the spread operator to “put” one array into another. You can see that the arrays are combined.  This is a really nice way of using arrays.</a:t>
            </a:r>
            <a:endParaRPr sz="1200"/>
          </a:p>
          <a:p>
            <a:pPr marL="0" lvl="0" indent="0" algn="l" rtl="0">
              <a:spcBef>
                <a:spcPts val="1600"/>
              </a:spcBef>
              <a:spcAft>
                <a:spcPts val="1600"/>
              </a:spcAft>
              <a:buNone/>
            </a:pPr>
            <a:r>
              <a:rPr lang="en" sz="1200"/>
              <a:t>In the second example, we can see how we can combine two javascript objects together so that the keys of of the first object “</a:t>
            </a:r>
            <a:r>
              <a:rPr lang="en" sz="1150">
                <a:solidFill>
                  <a:srgbClr val="ECEFF1"/>
                </a:solidFill>
                <a:latin typeface="Roboto Mono"/>
                <a:ea typeface="Roboto Mono"/>
                <a:cs typeface="Roboto Mono"/>
                <a:sym typeface="Roboto Mono"/>
              </a:rPr>
              <a:t>catDetails</a:t>
            </a:r>
            <a:r>
              <a:rPr lang="en" sz="1200"/>
              <a:t>” are now present in “</a:t>
            </a:r>
            <a:r>
              <a:rPr lang="en" sz="1150">
                <a:solidFill>
                  <a:srgbClr val="ECEFF1"/>
                </a:solidFill>
                <a:latin typeface="Roboto Mono"/>
                <a:ea typeface="Roboto Mono"/>
                <a:cs typeface="Roboto Mono"/>
                <a:sym typeface="Roboto Mono"/>
              </a:rPr>
              <a:t>cat</a:t>
            </a:r>
            <a:r>
              <a:rPr lang="en" sz="1200"/>
              <a:t>”. The order of when you import the “</a:t>
            </a:r>
            <a:r>
              <a:rPr lang="en" sz="1150">
                <a:solidFill>
                  <a:srgbClr val="ECEFF1"/>
                </a:solidFill>
                <a:latin typeface="Roboto Mono"/>
                <a:ea typeface="Roboto Mono"/>
                <a:cs typeface="Roboto Mono"/>
                <a:sym typeface="Roboto Mono"/>
              </a:rPr>
              <a:t>catDetails</a:t>
            </a:r>
            <a:r>
              <a:rPr lang="en" sz="1200"/>
              <a:t>”.</a:t>
            </a:r>
            <a:endParaRPr sz="1200"/>
          </a:p>
        </p:txBody>
      </p:sp>
      <p:sp>
        <p:nvSpPr>
          <p:cNvPr id="135" name="Google Shape;135;p23"/>
          <p:cNvSpPr txBox="1">
            <a:spLocks noGrp="1"/>
          </p:cNvSpPr>
          <p:nvPr>
            <p:ph type="body" idx="1"/>
          </p:nvPr>
        </p:nvSpPr>
        <p:spPr>
          <a:xfrm>
            <a:off x="5708075" y="81225"/>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
        <p:nvSpPr>
          <p:cNvPr id="136" name="Google Shape;136;p23"/>
          <p:cNvSpPr txBox="1"/>
          <p:nvPr/>
        </p:nvSpPr>
        <p:spPr>
          <a:xfrm>
            <a:off x="4396050" y="458025"/>
            <a:ext cx="4825200" cy="164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someFruits = [</a:t>
            </a:r>
            <a:r>
              <a:rPr lang="en" sz="1150">
                <a:solidFill>
                  <a:srgbClr val="9CCC65"/>
                </a:solidFill>
                <a:latin typeface="Roboto Mono"/>
                <a:ea typeface="Roboto Mono"/>
                <a:cs typeface="Roboto Mono"/>
                <a:sym typeface="Roboto Mono"/>
              </a:rPr>
              <a:t>"apple"</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"oranges"</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"bananas"</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someVeggies = [</a:t>
            </a:r>
            <a:r>
              <a:rPr lang="en" sz="1150">
                <a:solidFill>
                  <a:srgbClr val="9CCC65"/>
                </a:solidFill>
                <a:latin typeface="Roboto Mono"/>
                <a:ea typeface="Roboto Mono"/>
                <a:cs typeface="Roboto Mono"/>
                <a:sym typeface="Roboto Mono"/>
              </a:rPr>
              <a:t>"potato"</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"carrots"</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food = [</a:t>
            </a:r>
            <a:r>
              <a:rPr lang="en" sz="1150">
                <a:solidFill>
                  <a:srgbClr val="9CCC65"/>
                </a:solidFill>
                <a:latin typeface="Roboto Mono"/>
                <a:ea typeface="Roboto Mono"/>
                <a:cs typeface="Roboto Mono"/>
                <a:sym typeface="Roboto Mono"/>
              </a:rPr>
              <a:t>"rice"</a:t>
            </a:r>
            <a:r>
              <a:rPr lang="en" sz="1150">
                <a:solidFill>
                  <a:srgbClr val="ECEFF1"/>
                </a:solidFill>
                <a:latin typeface="Roboto Mono"/>
                <a:ea typeface="Roboto Mono"/>
                <a:cs typeface="Roboto Mono"/>
                <a:sym typeface="Roboto Mono"/>
              </a:rPr>
              <a:t>, ...someFruits, ...someVeggies];</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console.log(food);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["rice", "apple", "oranges",</a:t>
            </a:r>
            <a:endParaRPr sz="1150">
              <a:solidFill>
                <a:srgbClr val="F06292"/>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"bananas", "potato", "carrots"]</a:t>
            </a:r>
            <a:endParaRPr sz="1150">
              <a:solidFill>
                <a:srgbClr val="F06292"/>
              </a:solidFill>
              <a:latin typeface="Roboto Mono"/>
              <a:ea typeface="Roboto Mono"/>
              <a:cs typeface="Roboto Mono"/>
              <a:sym typeface="Roboto Mono"/>
            </a:endParaRPr>
          </a:p>
        </p:txBody>
      </p:sp>
      <p:sp>
        <p:nvSpPr>
          <p:cNvPr id="137" name="Google Shape;137;p23"/>
          <p:cNvSpPr txBox="1">
            <a:spLocks noGrp="1"/>
          </p:cNvSpPr>
          <p:nvPr>
            <p:ph type="body" idx="1"/>
          </p:nvPr>
        </p:nvSpPr>
        <p:spPr>
          <a:xfrm>
            <a:off x="5708075" y="2478725"/>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4"/>
              </a:rPr>
              <a:t>Live Demo</a:t>
            </a:r>
            <a:endParaRPr/>
          </a:p>
        </p:txBody>
      </p:sp>
      <p:sp>
        <p:nvSpPr>
          <p:cNvPr id="138" name="Google Shape;138;p23"/>
          <p:cNvSpPr txBox="1">
            <a:spLocks noGrp="1"/>
          </p:cNvSpPr>
          <p:nvPr>
            <p:ph type="body" idx="1"/>
          </p:nvPr>
        </p:nvSpPr>
        <p:spPr>
          <a:xfrm>
            <a:off x="4396050" y="81225"/>
            <a:ext cx="12210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 #1:</a:t>
            </a:r>
            <a:endParaRPr/>
          </a:p>
        </p:txBody>
      </p:sp>
      <p:sp>
        <p:nvSpPr>
          <p:cNvPr id="139" name="Google Shape;139;p23"/>
          <p:cNvSpPr txBox="1"/>
          <p:nvPr/>
        </p:nvSpPr>
        <p:spPr>
          <a:xfrm>
            <a:off x="4396050" y="2478725"/>
            <a:ext cx="1258200" cy="376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solidFill>
                  <a:schemeClr val="dk1"/>
                </a:solidFill>
                <a:latin typeface="Roboto"/>
                <a:ea typeface="Roboto"/>
                <a:cs typeface="Roboto"/>
                <a:sym typeface="Roboto"/>
              </a:rPr>
              <a:t>Example #2:</a:t>
            </a:r>
            <a:endParaRPr>
              <a:solidFill>
                <a:schemeClr val="dk1"/>
              </a:solidFill>
              <a:latin typeface="Roboto"/>
              <a:ea typeface="Roboto"/>
              <a:cs typeface="Roboto"/>
              <a:sym typeface="Roboto"/>
            </a:endParaRPr>
          </a:p>
        </p:txBody>
      </p:sp>
      <p:sp>
        <p:nvSpPr>
          <p:cNvPr id="140" name="Google Shape;140;p23"/>
          <p:cNvSpPr txBox="1"/>
          <p:nvPr/>
        </p:nvSpPr>
        <p:spPr>
          <a:xfrm>
            <a:off x="4396050" y="2760475"/>
            <a:ext cx="4329300" cy="19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catDetails = { sound: </a:t>
            </a:r>
            <a:r>
              <a:rPr lang="en" sz="1150">
                <a:solidFill>
                  <a:srgbClr val="9CCC65"/>
                </a:solidFill>
                <a:latin typeface="Roboto Mono"/>
                <a:ea typeface="Roboto Mono"/>
                <a:cs typeface="Roboto Mono"/>
                <a:sym typeface="Roboto Mono"/>
              </a:rPr>
              <a:t>"meow"</a:t>
            </a:r>
            <a:r>
              <a:rPr lang="en" sz="1150">
                <a:solidFill>
                  <a:srgbClr val="ECEFF1"/>
                </a:solidFill>
                <a:latin typeface="Roboto Mono"/>
                <a:ea typeface="Roboto Mono"/>
                <a:cs typeface="Roboto Mono"/>
                <a:sym typeface="Roboto Mono"/>
              </a:rPr>
              <a:t>, legs: </a:t>
            </a:r>
            <a:r>
              <a:rPr lang="en" sz="1150">
                <a:solidFill>
                  <a:srgbClr val="9CCC65"/>
                </a:solidFill>
                <a:latin typeface="Roboto Mono"/>
                <a:ea typeface="Roboto Mono"/>
                <a:cs typeface="Roboto Mono"/>
                <a:sym typeface="Roboto Mono"/>
              </a:rPr>
              <a:t>"4"</a:t>
            </a:r>
            <a:r>
              <a:rPr lang="en" sz="1150">
                <a:solidFill>
                  <a:srgbClr val="ECEFF1"/>
                </a:solidFill>
                <a:latin typeface="Roboto Mono"/>
                <a:ea typeface="Roboto Mono"/>
                <a:cs typeface="Roboto Mono"/>
                <a:sym typeface="Roboto Mono"/>
              </a:rPr>
              <a: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cat =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name: </a:t>
            </a:r>
            <a:r>
              <a:rPr lang="en" sz="1150">
                <a:solidFill>
                  <a:srgbClr val="9CCC65"/>
                </a:solidFill>
                <a:latin typeface="Roboto Mono"/>
                <a:ea typeface="Roboto Mono"/>
                <a:cs typeface="Roboto Mono"/>
                <a:sym typeface="Roboto Mono"/>
              </a:rPr>
              <a:t>"Ghost"</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age: </a:t>
            </a:r>
            <a:r>
              <a:rPr lang="en" sz="1150">
                <a:solidFill>
                  <a:srgbClr val="9CCC65"/>
                </a:solidFill>
                <a:latin typeface="Roboto Mono"/>
                <a:ea typeface="Roboto Mono"/>
                <a:cs typeface="Roboto Mono"/>
                <a:sym typeface="Roboto Mono"/>
              </a:rPr>
              <a:t>"5"</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...catDetails</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console.log(cat);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 age: "5", legs: "4",</a:t>
            </a:r>
            <a:br>
              <a:rPr lang="en" sz="1150">
                <a:solidFill>
                  <a:srgbClr val="F06292"/>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           name: "Ghost", sound: "meow" }</a:t>
            </a:r>
            <a:endParaRPr sz="1150">
              <a:solidFill>
                <a:srgbClr val="F06292"/>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Spread Operator in Functions</a:t>
            </a:r>
            <a:endParaRPr/>
          </a:p>
        </p:txBody>
      </p:sp>
      <p:sp>
        <p:nvSpPr>
          <p:cNvPr id="146" name="Google Shape;146;p24"/>
          <p:cNvSpPr txBox="1">
            <a:spLocks noGrp="1"/>
          </p:cNvSpPr>
          <p:nvPr>
            <p:ph type="body" idx="1"/>
          </p:nvPr>
        </p:nvSpPr>
        <p:spPr>
          <a:xfrm>
            <a:off x="321300" y="12382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We learned on the last slide that we can use the spread operator into objects and arrays. What’s great about the spread operator is that you can use an arrays’ values as arguments to a function.</a:t>
            </a:r>
            <a:endParaRPr sz="1200"/>
          </a:p>
          <a:p>
            <a:pPr marL="0" lvl="0" indent="0" algn="l" rtl="0">
              <a:spcBef>
                <a:spcPts val="1600"/>
              </a:spcBef>
              <a:spcAft>
                <a:spcPts val="0"/>
              </a:spcAft>
              <a:buNone/>
            </a:pPr>
            <a:r>
              <a:rPr lang="en" sz="1200"/>
              <a:t>On the right we have a function “</a:t>
            </a:r>
            <a:r>
              <a:rPr lang="en" sz="1150">
                <a:solidFill>
                  <a:srgbClr val="ECEFF1"/>
                </a:solidFill>
                <a:latin typeface="Roboto Mono"/>
                <a:ea typeface="Roboto Mono"/>
                <a:cs typeface="Roboto Mono"/>
                <a:sym typeface="Roboto Mono"/>
              </a:rPr>
              <a:t>pet</a:t>
            </a:r>
            <a:r>
              <a:rPr lang="en" sz="1200"/>
              <a:t>” that takes in two parameters. </a:t>
            </a:r>
            <a:endParaRPr sz="1200"/>
          </a:p>
          <a:p>
            <a:pPr marL="0" lvl="0" indent="0" algn="l" rtl="0">
              <a:spcBef>
                <a:spcPts val="1600"/>
              </a:spcBef>
              <a:spcAft>
                <a:spcPts val="0"/>
              </a:spcAft>
              <a:buNone/>
            </a:pPr>
            <a:r>
              <a:rPr lang="en" sz="1200"/>
              <a:t>The array “</a:t>
            </a:r>
            <a:r>
              <a:rPr lang="en" sz="1150">
                <a:solidFill>
                  <a:srgbClr val="ECEFF1"/>
                </a:solidFill>
                <a:latin typeface="Roboto Mono"/>
                <a:ea typeface="Roboto Mono"/>
                <a:cs typeface="Roboto Mono"/>
                <a:sym typeface="Roboto Mono"/>
              </a:rPr>
              <a:t>catFuncParams</a:t>
            </a:r>
            <a:r>
              <a:rPr lang="en" sz="1200"/>
              <a:t>” has two values.</a:t>
            </a:r>
            <a:endParaRPr sz="1200"/>
          </a:p>
          <a:p>
            <a:pPr marL="0" lvl="0" indent="0" algn="l" rtl="0">
              <a:spcBef>
                <a:spcPts val="1600"/>
              </a:spcBef>
              <a:spcAft>
                <a:spcPts val="0"/>
              </a:spcAft>
              <a:buNone/>
            </a:pPr>
            <a:r>
              <a:rPr lang="en" sz="1200"/>
              <a:t>When you call “</a:t>
            </a:r>
            <a:r>
              <a:rPr lang="en" sz="1150">
                <a:solidFill>
                  <a:srgbClr val="ECEFF1"/>
                </a:solidFill>
                <a:latin typeface="Roboto Mono"/>
                <a:ea typeface="Roboto Mono"/>
                <a:cs typeface="Roboto Mono"/>
                <a:sym typeface="Roboto Mono"/>
              </a:rPr>
              <a:t>pet(...cat);</a:t>
            </a:r>
            <a:r>
              <a:rPr lang="en" sz="1200"/>
              <a:t>” the first value of the array will be the first argument, and the second value of the array will be the second argument.</a:t>
            </a:r>
            <a:endParaRPr sz="1200"/>
          </a:p>
          <a:p>
            <a:pPr marL="0" lvl="0" indent="0" algn="l" rtl="0">
              <a:spcBef>
                <a:spcPts val="1600"/>
              </a:spcBef>
              <a:spcAft>
                <a:spcPts val="1600"/>
              </a:spcAft>
              <a:buNone/>
            </a:pPr>
            <a:endParaRPr sz="1200"/>
          </a:p>
        </p:txBody>
      </p:sp>
      <p:sp>
        <p:nvSpPr>
          <p:cNvPr id="147" name="Google Shape;147;p24"/>
          <p:cNvSpPr txBox="1">
            <a:spLocks noGrp="1"/>
          </p:cNvSpPr>
          <p:nvPr>
            <p:ph type="body" idx="1"/>
          </p:nvPr>
        </p:nvSpPr>
        <p:spPr>
          <a:xfrm>
            <a:off x="5900475" y="3940300"/>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
        <p:nvSpPr>
          <p:cNvPr id="148" name="Google Shape;148;p24"/>
          <p:cNvSpPr txBox="1"/>
          <p:nvPr/>
        </p:nvSpPr>
        <p:spPr>
          <a:xfrm>
            <a:off x="4321200" y="1277650"/>
            <a:ext cx="4718700" cy="245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catFuncParams = [</a:t>
            </a:r>
            <a:r>
              <a:rPr lang="en" sz="1150">
                <a:solidFill>
                  <a:srgbClr val="9CCC65"/>
                </a:solidFill>
                <a:latin typeface="Roboto Mono"/>
                <a:ea typeface="Roboto Mono"/>
                <a:cs typeface="Roboto Mono"/>
                <a:sym typeface="Roboto Mono"/>
              </a:rPr>
              <a:t>"Gambit"</a:t>
            </a:r>
            <a:r>
              <a:rPr lang="en" sz="1150">
                <a:solidFill>
                  <a:srgbClr val="ECEFF1"/>
                </a:solidFill>
                <a:latin typeface="Roboto Mono"/>
                <a:ea typeface="Roboto Mono"/>
                <a:cs typeface="Roboto Mono"/>
                <a:sym typeface="Roboto Mono"/>
              </a:rPr>
              <a:t>, </a:t>
            </a:r>
            <a:r>
              <a:rPr lang="en" sz="1150">
                <a:solidFill>
                  <a:srgbClr val="9CCC65"/>
                </a:solidFill>
                <a:latin typeface="Roboto Mono"/>
                <a:ea typeface="Roboto Mono"/>
                <a:cs typeface="Roboto Mono"/>
                <a:sym typeface="Roboto Mono"/>
              </a:rPr>
              <a:t>"prrr"</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pet = (name=</a:t>
            </a:r>
            <a:r>
              <a:rPr lang="en" sz="1150">
                <a:solidFill>
                  <a:srgbClr val="9CCC65"/>
                </a:solidFill>
                <a:latin typeface="Roboto Mono"/>
                <a:ea typeface="Roboto Mono"/>
                <a:cs typeface="Roboto Mono"/>
                <a:sym typeface="Roboto Mono"/>
              </a:rPr>
              <a:t>"Marshmallow"</a:t>
            </a:r>
            <a:r>
              <a:rPr lang="en" sz="1150">
                <a:solidFill>
                  <a:srgbClr val="ECEFF1"/>
                </a:solidFill>
                <a:latin typeface="Roboto Mono"/>
                <a:ea typeface="Roboto Mono"/>
                <a:cs typeface="Roboto Mono"/>
                <a:sym typeface="Roboto Mono"/>
              </a:rPr>
              <a:t>, sound=</a:t>
            </a:r>
            <a:r>
              <a:rPr lang="en" sz="1150">
                <a:solidFill>
                  <a:srgbClr val="9CCC65"/>
                </a:solidFill>
                <a:latin typeface="Roboto Mono"/>
                <a:ea typeface="Roboto Mono"/>
                <a:cs typeface="Roboto Mono"/>
                <a:sym typeface="Roboto Mono"/>
              </a:rPr>
              <a:t>"meow"</a:t>
            </a:r>
            <a:r>
              <a:rPr lang="en" sz="1150">
                <a:solidFill>
                  <a:srgbClr val="ECEFF1"/>
                </a:solidFill>
                <a:latin typeface="Roboto Mono"/>
                <a:ea typeface="Roboto Mono"/>
                <a:cs typeface="Roboto Mono"/>
                <a:sym typeface="Roboto Mono"/>
              </a:rPr>
              <a:t>)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console.log(`${name} looks and says ${sound}`)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pet();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"Marshmallow looks and says meow"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pet(...catFuncParams);</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"Gambit looks and says prrr"</a:t>
            </a:r>
            <a:endParaRPr sz="1150">
              <a:solidFill>
                <a:srgbClr val="F06292"/>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Destructuring</a:t>
            </a:r>
            <a:endParaRPr/>
          </a:p>
        </p:txBody>
      </p:sp>
      <p:sp>
        <p:nvSpPr>
          <p:cNvPr id="119" name="Google Shape;119;p21"/>
          <p:cNvSpPr txBox="1">
            <a:spLocks noGrp="1"/>
          </p:cNvSpPr>
          <p:nvPr>
            <p:ph type="body" idx="1"/>
          </p:nvPr>
        </p:nvSpPr>
        <p:spPr>
          <a:xfrm>
            <a:off x="350900" y="1193800"/>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In this class especially we’re going to be using a lot of JSON because we’re going to be interacting with RESTful APIs. (see fetch) </a:t>
            </a:r>
            <a:endParaRPr sz="1200" dirty="0"/>
          </a:p>
          <a:p>
            <a:pPr marL="0" lvl="0" indent="0" algn="l" rtl="0">
              <a:spcBef>
                <a:spcPts val="1600"/>
              </a:spcBef>
              <a:spcAft>
                <a:spcPts val="0"/>
              </a:spcAft>
              <a:buNone/>
            </a:pPr>
            <a:r>
              <a:rPr lang="en" sz="1200" dirty="0"/>
              <a:t>Sometimes you only want specific pieces of that object. On the right we have an object “</a:t>
            </a:r>
            <a:r>
              <a:rPr lang="en" sz="1200" dirty="0">
                <a:solidFill>
                  <a:srgbClr val="ECEFF1"/>
                </a:solidFill>
                <a:latin typeface="Roboto Mono"/>
                <a:ea typeface="Roboto Mono"/>
                <a:cs typeface="Roboto Mono"/>
                <a:sym typeface="Roboto Mono"/>
              </a:rPr>
              <a:t>myCat</a:t>
            </a:r>
            <a:r>
              <a:rPr lang="en" sz="1200" dirty="0"/>
              <a:t>”, say we only want the name and color of that object.</a:t>
            </a:r>
            <a:endParaRPr sz="1200" dirty="0"/>
          </a:p>
          <a:p>
            <a:pPr marL="0" lvl="0" indent="0" algn="l" rtl="0">
              <a:spcBef>
                <a:spcPts val="1600"/>
              </a:spcBef>
              <a:spcAft>
                <a:spcPts val="0"/>
              </a:spcAft>
              <a:buNone/>
            </a:pPr>
            <a:r>
              <a:rPr lang="en" sz="1200" dirty="0"/>
              <a:t>We can create variables with the same name as the keys of the JS object and get the “</a:t>
            </a:r>
            <a:r>
              <a:rPr lang="en" sz="1200" dirty="0">
                <a:solidFill>
                  <a:srgbClr val="ECEFF1"/>
                </a:solidFill>
                <a:latin typeface="Roboto Mono"/>
                <a:ea typeface="Roboto Mono"/>
                <a:cs typeface="Roboto Mono"/>
                <a:sym typeface="Roboto Mono"/>
              </a:rPr>
              <a:t>name</a:t>
            </a:r>
            <a:r>
              <a:rPr lang="en" sz="1200" dirty="0"/>
              <a:t>” and “</a:t>
            </a:r>
            <a:r>
              <a:rPr lang="en" sz="1200" dirty="0">
                <a:solidFill>
                  <a:srgbClr val="ECEFF1"/>
                </a:solidFill>
                <a:latin typeface="Roboto Mono"/>
                <a:ea typeface="Roboto Mono"/>
                <a:cs typeface="Roboto Mono"/>
                <a:sym typeface="Roboto Mono"/>
              </a:rPr>
              <a:t>color</a:t>
            </a:r>
            <a:r>
              <a:rPr lang="en" sz="1200" dirty="0"/>
              <a:t>” from the “</a:t>
            </a:r>
            <a:r>
              <a:rPr lang="en" sz="1200" dirty="0">
                <a:solidFill>
                  <a:srgbClr val="ECEFF1"/>
                </a:solidFill>
                <a:latin typeface="Roboto Mono"/>
                <a:ea typeface="Roboto Mono"/>
                <a:cs typeface="Roboto Mono"/>
                <a:sym typeface="Roboto Mono"/>
              </a:rPr>
              <a:t>myCat</a:t>
            </a:r>
            <a:r>
              <a:rPr lang="en" sz="1200" dirty="0"/>
              <a:t>” object. </a:t>
            </a:r>
            <a:endParaRPr sz="1200" dirty="0"/>
          </a:p>
          <a:p>
            <a:pPr marL="0" lvl="0" indent="0" algn="l" rtl="0">
              <a:spcBef>
                <a:spcPts val="1600"/>
              </a:spcBef>
              <a:spcAft>
                <a:spcPts val="0"/>
              </a:spcAft>
              <a:buNone/>
            </a:pPr>
            <a:r>
              <a:rPr lang="en" sz="1200" dirty="0"/>
              <a:t>Note we do not select “</a:t>
            </a:r>
            <a:r>
              <a:rPr lang="en" sz="1200" dirty="0">
                <a:solidFill>
                  <a:srgbClr val="ECEFF1"/>
                </a:solidFill>
                <a:latin typeface="Roboto Mono"/>
                <a:ea typeface="Roboto Mono"/>
                <a:cs typeface="Roboto Mono"/>
                <a:sym typeface="Roboto Mono"/>
              </a:rPr>
              <a:t>age</a:t>
            </a:r>
            <a:r>
              <a:rPr lang="en" sz="1200" dirty="0"/>
              <a:t>” or “</a:t>
            </a:r>
            <a:r>
              <a:rPr lang="en" sz="1200" dirty="0">
                <a:solidFill>
                  <a:srgbClr val="ECEFF1"/>
                </a:solidFill>
                <a:latin typeface="Roboto Mono"/>
                <a:ea typeface="Roboto Mono"/>
                <a:cs typeface="Roboto Mono"/>
                <a:sym typeface="Roboto Mono"/>
              </a:rPr>
              <a:t>isMale</a:t>
            </a:r>
            <a:r>
              <a:rPr lang="en" sz="1200" dirty="0"/>
              <a:t>” because we don’t specify it in the destructuring.</a:t>
            </a:r>
            <a:endParaRPr sz="1200" dirty="0"/>
          </a:p>
          <a:p>
            <a:pPr marL="0" lvl="0" indent="0" algn="l" rtl="0">
              <a:spcBef>
                <a:spcPts val="1600"/>
              </a:spcBef>
              <a:spcAft>
                <a:spcPts val="0"/>
              </a:spcAft>
              <a:buNone/>
            </a:pPr>
            <a:r>
              <a:rPr lang="en" sz="1200" dirty="0"/>
              <a:t>You can also use destructuring in functions, on the right you can take a look at “</a:t>
            </a:r>
            <a:r>
              <a:rPr lang="en" sz="1150" dirty="0">
                <a:solidFill>
                  <a:srgbClr val="ECEFF1"/>
                </a:solidFill>
                <a:latin typeface="Roboto Mono"/>
                <a:ea typeface="Roboto Mono"/>
                <a:cs typeface="Roboto Mono"/>
                <a:sym typeface="Roboto Mono"/>
              </a:rPr>
              <a:t>describeCat</a:t>
            </a:r>
            <a:r>
              <a:rPr lang="en" sz="1200" dirty="0"/>
              <a:t>”.</a:t>
            </a:r>
            <a:endParaRPr sz="1200" dirty="0"/>
          </a:p>
          <a:p>
            <a:pPr marL="0" lvl="0" indent="0" algn="l" rtl="0">
              <a:spcBef>
                <a:spcPts val="1600"/>
              </a:spcBef>
              <a:spcAft>
                <a:spcPts val="1600"/>
              </a:spcAft>
              <a:buNone/>
            </a:pPr>
            <a:endParaRPr sz="1200" dirty="0"/>
          </a:p>
        </p:txBody>
      </p:sp>
      <p:sp>
        <p:nvSpPr>
          <p:cNvPr id="120" name="Google Shape;120;p21"/>
          <p:cNvSpPr txBox="1">
            <a:spLocks noGrp="1"/>
          </p:cNvSpPr>
          <p:nvPr>
            <p:ph type="body" idx="1"/>
          </p:nvPr>
        </p:nvSpPr>
        <p:spPr>
          <a:xfrm>
            <a:off x="4502550" y="81225"/>
            <a:ext cx="11325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Example:</a:t>
            </a:r>
            <a:endParaRPr/>
          </a:p>
        </p:txBody>
      </p:sp>
      <p:sp>
        <p:nvSpPr>
          <p:cNvPr id="121" name="Google Shape;121;p21"/>
          <p:cNvSpPr txBox="1">
            <a:spLocks noGrp="1"/>
          </p:cNvSpPr>
          <p:nvPr>
            <p:ph type="body" idx="1"/>
          </p:nvPr>
        </p:nvSpPr>
        <p:spPr>
          <a:xfrm>
            <a:off x="5635050" y="81225"/>
            <a:ext cx="1409100" cy="376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u="sng">
                <a:solidFill>
                  <a:schemeClr val="hlink"/>
                </a:solidFill>
                <a:hlinkClick r:id="rId3"/>
              </a:rPr>
              <a:t>Live Demo</a:t>
            </a:r>
            <a:endParaRPr/>
          </a:p>
        </p:txBody>
      </p:sp>
      <p:sp>
        <p:nvSpPr>
          <p:cNvPr id="122" name="Google Shape;122;p21"/>
          <p:cNvSpPr txBox="1"/>
          <p:nvPr/>
        </p:nvSpPr>
        <p:spPr>
          <a:xfrm>
            <a:off x="4529250" y="399650"/>
            <a:ext cx="45219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myCat =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name: </a:t>
            </a:r>
            <a:r>
              <a:rPr lang="en" sz="1150">
                <a:solidFill>
                  <a:srgbClr val="9CCC65"/>
                </a:solidFill>
                <a:latin typeface="Roboto Mono"/>
                <a:ea typeface="Roboto Mono"/>
                <a:cs typeface="Roboto Mono"/>
                <a:sym typeface="Roboto Mono"/>
              </a:rPr>
              <a:t>'Marshmallow'</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color: </a:t>
            </a:r>
            <a:r>
              <a:rPr lang="en" sz="1150">
                <a:solidFill>
                  <a:srgbClr val="9CCC65"/>
                </a:solidFill>
                <a:latin typeface="Roboto Mono"/>
                <a:ea typeface="Roboto Mono"/>
                <a:cs typeface="Roboto Mono"/>
                <a:sym typeface="Roboto Mono"/>
              </a:rPr>
              <a:t>'White'</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age: </a:t>
            </a:r>
            <a:r>
              <a:rPr lang="en" sz="1150">
                <a:solidFill>
                  <a:srgbClr val="FBC02D"/>
                </a:solidFill>
                <a:latin typeface="Roboto Mono"/>
                <a:ea typeface="Roboto Mono"/>
                <a:cs typeface="Roboto Mono"/>
                <a:sym typeface="Roboto Mono"/>
              </a:rPr>
              <a:t>1</a:t>
            </a: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isMale: </a:t>
            </a:r>
            <a:r>
              <a:rPr lang="en" sz="1150">
                <a:solidFill>
                  <a:srgbClr val="4DD0E1"/>
                </a:solidFill>
                <a:latin typeface="Roboto Mono"/>
                <a:ea typeface="Roboto Mono"/>
                <a:cs typeface="Roboto Mono"/>
                <a:sym typeface="Roboto Mono"/>
              </a:rPr>
              <a:t>true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below we’re just selecting</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the name and the color values from the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myCat object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let</a:t>
            </a:r>
            <a:r>
              <a:rPr lang="en" sz="1150">
                <a:solidFill>
                  <a:srgbClr val="ECEFF1"/>
                </a:solidFill>
                <a:latin typeface="Roboto Mono"/>
                <a:ea typeface="Roboto Mono"/>
                <a:cs typeface="Roboto Mono"/>
                <a:sym typeface="Roboto Mono"/>
              </a:rPr>
              <a:t> {name, color} = myCat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console.log(name)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"Marshmallow"</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console.log(color)</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F06292"/>
                </a:solidFill>
                <a:latin typeface="Roboto Mono"/>
                <a:ea typeface="Roboto Mono"/>
                <a:cs typeface="Roboto Mono"/>
                <a:sym typeface="Roboto Mono"/>
              </a:rPr>
              <a:t>// output: "White"</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4DD0E1"/>
                </a:solidFill>
                <a:latin typeface="Roboto Mono"/>
                <a:ea typeface="Roboto Mono"/>
                <a:cs typeface="Roboto Mono"/>
                <a:sym typeface="Roboto Mono"/>
              </a:rPr>
              <a:t>const</a:t>
            </a:r>
            <a:r>
              <a:rPr lang="en" sz="1150">
                <a:solidFill>
                  <a:srgbClr val="ECEFF1"/>
                </a:solidFill>
                <a:latin typeface="Roboto Mono"/>
                <a:ea typeface="Roboto Mono"/>
                <a:cs typeface="Roboto Mono"/>
                <a:sym typeface="Roboto Mono"/>
              </a:rPr>
              <a:t> describeCat = ({name, color, age}) =&gt; {</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  </a:t>
            </a:r>
            <a:r>
              <a:rPr lang="en" sz="1150">
                <a:solidFill>
                  <a:srgbClr val="4DD0E1"/>
                </a:solidFill>
                <a:latin typeface="Roboto Mono"/>
                <a:ea typeface="Roboto Mono"/>
                <a:cs typeface="Roboto Mono"/>
                <a:sym typeface="Roboto Mono"/>
              </a:rPr>
              <a:t>return</a:t>
            </a:r>
            <a:r>
              <a:rPr lang="en" sz="1150">
                <a:solidFill>
                  <a:srgbClr val="ECEFF1"/>
                </a:solidFill>
                <a:latin typeface="Roboto Mono"/>
                <a:ea typeface="Roboto Mono"/>
                <a:cs typeface="Roboto Mono"/>
                <a:sym typeface="Roboto Mono"/>
              </a:rPr>
              <a:t> `${name} is a ${color} cat</a:t>
            </a:r>
            <a:br>
              <a:rPr lang="en" sz="1150">
                <a:solidFill>
                  <a:srgbClr val="ECEFF1"/>
                </a:solidFill>
                <a:latin typeface="Roboto Mono"/>
                <a:ea typeface="Roboto Mono"/>
                <a:cs typeface="Roboto Mono"/>
                <a:sym typeface="Roboto Mono"/>
              </a:rPr>
            </a:br>
            <a:r>
              <a:rPr lang="en" sz="1150">
                <a:solidFill>
                  <a:srgbClr val="ECEFF1"/>
                </a:solidFill>
                <a:latin typeface="Roboto Mono"/>
                <a:ea typeface="Roboto Mono"/>
                <a:cs typeface="Roboto Mono"/>
                <a:sym typeface="Roboto Mono"/>
              </a:rPr>
              <a:t>          and is ${age} year(s) old`;</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a:t>
            </a:r>
            <a:endParaRPr sz="11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1150">
                <a:solidFill>
                  <a:srgbClr val="ECEFF1"/>
                </a:solidFill>
                <a:latin typeface="Roboto Mono"/>
                <a:ea typeface="Roboto Mono"/>
                <a:cs typeface="Roboto Mono"/>
                <a:sym typeface="Roboto Mono"/>
              </a:rPr>
              <a:t>console.log(describeCat(myCat));</a:t>
            </a:r>
            <a:endParaRPr sz="11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r>
              <a:rPr lang="en" sz="1150">
                <a:solidFill>
                  <a:srgbClr val="F06292"/>
                </a:solidFill>
                <a:latin typeface="Roboto Mono"/>
                <a:ea typeface="Roboto Mono"/>
                <a:cs typeface="Roboto Mono"/>
                <a:sym typeface="Roboto Mono"/>
              </a:rPr>
              <a:t>// output: "Marshmallow is a White cat</a:t>
            </a:r>
            <a:br>
              <a:rPr lang="en" sz="1150">
                <a:solidFill>
                  <a:srgbClr val="F06292"/>
                </a:solidFill>
                <a:latin typeface="Roboto Mono"/>
                <a:ea typeface="Roboto Mono"/>
                <a:cs typeface="Roboto Mono"/>
                <a:sym typeface="Roboto Mono"/>
              </a:rPr>
            </a:br>
            <a:r>
              <a:rPr lang="en" sz="1150">
                <a:solidFill>
                  <a:srgbClr val="F06292"/>
                </a:solidFill>
                <a:latin typeface="Roboto Mono"/>
                <a:ea typeface="Roboto Mono"/>
                <a:cs typeface="Roboto Mono"/>
                <a:sym typeface="Roboto Mono"/>
              </a:rPr>
              <a:t>            and is 1 year(s) old"</a:t>
            </a:r>
            <a:endParaRPr sz="1150">
              <a:solidFill>
                <a:srgbClr val="F06292"/>
              </a:solidFill>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9EAD717A-1445-9904-B680-C0A7A5DE35B4}"/>
            </a:ext>
          </a:extLst>
        </p:cNvPr>
        <p:cNvGrpSpPr/>
        <p:nvPr/>
      </p:nvGrpSpPr>
      <p:grpSpPr>
        <a:xfrm>
          <a:off x="0" y="0"/>
          <a:ext cx="0" cy="0"/>
          <a:chOff x="0" y="0"/>
          <a:chExt cx="0" cy="0"/>
        </a:xfrm>
      </p:grpSpPr>
      <p:sp>
        <p:nvSpPr>
          <p:cNvPr id="143" name="Google Shape;143;p25">
            <a:extLst>
              <a:ext uri="{FF2B5EF4-FFF2-40B4-BE49-F238E27FC236}">
                <a16:creationId xmlns:a16="http://schemas.microsoft.com/office/drawing/2014/main" id="{2C4189FF-D9E4-87E5-46D0-2AFE814B0ADF}"/>
              </a:ext>
            </a:extLst>
          </p:cNvPr>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lvl="0"/>
            <a:r>
              <a:rPr lang="en-CA" dirty="0"/>
              <a:t>Destructuring in Functions</a:t>
            </a:r>
            <a:endParaRPr dirty="0"/>
          </a:p>
        </p:txBody>
      </p:sp>
      <p:sp>
        <p:nvSpPr>
          <p:cNvPr id="144" name="Google Shape;144;p25">
            <a:extLst>
              <a:ext uri="{FF2B5EF4-FFF2-40B4-BE49-F238E27FC236}">
                <a16:creationId xmlns:a16="http://schemas.microsoft.com/office/drawing/2014/main" id="{496AE6B2-A5BA-493C-3D22-1095242A5830}"/>
              </a:ext>
            </a:extLst>
          </p:cNvPr>
          <p:cNvSpPr txBox="1">
            <a:spLocks noGrp="1"/>
          </p:cNvSpPr>
          <p:nvPr>
            <p:ph type="body" idx="1"/>
          </p:nvPr>
        </p:nvSpPr>
        <p:spPr>
          <a:xfrm>
            <a:off x="4572000" y="1144125"/>
            <a:ext cx="4488024" cy="3541350"/>
          </a:xfrm>
          <a:prstGeom prst="rect">
            <a:avLst/>
          </a:prstGeom>
        </p:spPr>
        <p:txBody>
          <a:bodyPr spcFirstLastPara="1" wrap="square" lIns="91425" tIns="91425" rIns="91425" bIns="91425" anchor="t" anchorCtr="0">
            <a:noAutofit/>
          </a:bodyPr>
          <a:lstStyle/>
          <a:p>
            <a:pPr marL="139700" indent="0">
              <a:buNone/>
            </a:pPr>
            <a:endParaRPr lang="en-CA" dirty="0"/>
          </a:p>
          <a:p>
            <a:pPr marL="139700" indent="0">
              <a:buNone/>
            </a:pPr>
            <a:r>
              <a:rPr lang="en-US" dirty="0"/>
              <a:t>Here, we only want to print the name in the function but we pass a complete person object to the function. Of course, this is no issue but it forces us to call personObj.name</a:t>
            </a:r>
          </a:p>
          <a:p>
            <a:pPr marL="139700" indent="0">
              <a:buNone/>
            </a:pPr>
            <a:r>
              <a:rPr lang="en-US" dirty="0"/>
              <a:t>inside of our function. We can condense this code with </a:t>
            </a:r>
            <a:r>
              <a:rPr lang="en-CA" dirty="0"/>
              <a:t>destructuring:</a:t>
            </a:r>
          </a:p>
          <a:p>
            <a:pPr marL="139700" indent="0">
              <a:buNone/>
            </a:pPr>
            <a:endParaRPr lang="en-CA" dirty="0"/>
          </a:p>
          <a:p>
            <a:pPr>
              <a:lnSpc>
                <a:spcPct val="113095"/>
              </a:lnSpc>
              <a:buNone/>
            </a:pPr>
            <a:r>
              <a:rPr lang="en-CA" sz="1400" b="0" dirty="0">
                <a:solidFill>
                  <a:srgbClr val="FF7B72"/>
                </a:solidFill>
                <a:effectLst/>
                <a:latin typeface="Consolas" panose="020B0609020204030204" pitchFamily="49" charset="0"/>
              </a:rPr>
              <a:t>const</a:t>
            </a:r>
            <a:r>
              <a:rPr lang="en-CA" sz="1400" b="0" dirty="0">
                <a:solidFill>
                  <a:srgbClr val="BBBEBF"/>
                </a:solidFill>
                <a:effectLst/>
                <a:latin typeface="Consolas" panose="020B0609020204030204" pitchFamily="49" charset="0"/>
              </a:rPr>
              <a:t> </a:t>
            </a:r>
            <a:r>
              <a:rPr lang="en-CA" sz="1400" b="0" dirty="0" err="1">
                <a:solidFill>
                  <a:srgbClr val="D2A8FF"/>
                </a:solidFill>
                <a:effectLst/>
                <a:latin typeface="Consolas" panose="020B0609020204030204" pitchFamily="49" charset="0"/>
              </a:rPr>
              <a:t>printName</a:t>
            </a:r>
            <a:r>
              <a:rPr lang="en-CA" sz="1400" b="0" dirty="0">
                <a:solidFill>
                  <a:srgbClr val="BBBEBF"/>
                </a:solidFill>
                <a:effectLst/>
                <a:latin typeface="Consolas" panose="020B0609020204030204" pitchFamily="49" charset="0"/>
              </a:rPr>
              <a:t> </a:t>
            </a:r>
            <a:r>
              <a:rPr lang="en-CA" sz="1400" b="0" dirty="0">
                <a:solidFill>
                  <a:srgbClr val="D4D4D4"/>
                </a:solidFill>
                <a:effectLst/>
                <a:latin typeface="Consolas" panose="020B0609020204030204" pitchFamily="49" charset="0"/>
              </a:rPr>
              <a:t>=</a:t>
            </a:r>
            <a:r>
              <a:rPr lang="en-CA" sz="1400" b="0" dirty="0">
                <a:solidFill>
                  <a:srgbClr val="BBBEBF"/>
                </a:solidFill>
                <a:effectLst/>
                <a:latin typeface="Consolas" panose="020B0609020204030204" pitchFamily="49" charset="0"/>
              </a:rPr>
              <a:t> ({ </a:t>
            </a:r>
            <a:r>
              <a:rPr lang="en-CA" sz="1400" b="0" dirty="0">
                <a:solidFill>
                  <a:srgbClr val="FFA657"/>
                </a:solidFill>
                <a:effectLst/>
                <a:latin typeface="Consolas" panose="020B0609020204030204" pitchFamily="49" charset="0"/>
              </a:rPr>
              <a:t>name</a:t>
            </a:r>
            <a:r>
              <a:rPr lang="en-CA" sz="1400" b="0" dirty="0">
                <a:solidFill>
                  <a:srgbClr val="BBBEBF"/>
                </a:solidFill>
                <a:effectLst/>
                <a:latin typeface="Consolas" panose="020B0609020204030204" pitchFamily="49" charset="0"/>
              </a:rPr>
              <a:t> }) </a:t>
            </a:r>
            <a:r>
              <a:rPr lang="en-CA" sz="1400" b="0" dirty="0">
                <a:solidFill>
                  <a:srgbClr val="FF7B72"/>
                </a:solidFill>
                <a:effectLst/>
                <a:latin typeface="Consolas" panose="020B0609020204030204" pitchFamily="49" charset="0"/>
              </a:rPr>
              <a:t>=&gt;</a:t>
            </a:r>
            <a:r>
              <a:rPr lang="en-CA" sz="1400" b="0" dirty="0">
                <a:solidFill>
                  <a:srgbClr val="BBBEBF"/>
                </a:solidFill>
                <a:effectLst/>
                <a:latin typeface="Consolas" panose="020B0609020204030204" pitchFamily="49" charset="0"/>
              </a:rPr>
              <a:t> </a:t>
            </a:r>
            <a:r>
              <a:rPr lang="en-CA" sz="1400" b="0" dirty="0">
                <a:solidFill>
                  <a:srgbClr val="C9D1D9"/>
                </a:solidFill>
                <a:effectLst/>
                <a:latin typeface="Consolas" panose="020B0609020204030204" pitchFamily="49" charset="0"/>
              </a:rPr>
              <a:t>{</a:t>
            </a:r>
            <a:endParaRPr lang="en-CA" sz="1400" b="0" dirty="0">
              <a:solidFill>
                <a:srgbClr val="BBBEBF"/>
              </a:solidFill>
              <a:effectLst/>
              <a:latin typeface="Consolas" panose="020B0609020204030204" pitchFamily="49" charset="0"/>
            </a:endParaRPr>
          </a:p>
          <a:p>
            <a:pPr>
              <a:lnSpc>
                <a:spcPct val="113095"/>
              </a:lnSpc>
              <a:buNone/>
            </a:pPr>
            <a:r>
              <a:rPr lang="en-CA" sz="1400" b="0" dirty="0">
                <a:solidFill>
                  <a:srgbClr val="C9D1D9"/>
                </a:solidFill>
                <a:effectLst/>
                <a:latin typeface="Consolas" panose="020B0609020204030204" pitchFamily="49" charset="0"/>
              </a:rPr>
              <a:t>    </a:t>
            </a:r>
            <a:r>
              <a:rPr lang="en-CA" sz="1400" b="0" dirty="0">
                <a:solidFill>
                  <a:srgbClr val="79C0FF"/>
                </a:solidFill>
                <a:effectLst/>
                <a:latin typeface="Consolas" panose="020B0609020204030204" pitchFamily="49" charset="0"/>
              </a:rPr>
              <a:t>console</a:t>
            </a:r>
            <a:r>
              <a:rPr lang="en-CA" sz="1400" b="0" dirty="0">
                <a:solidFill>
                  <a:srgbClr val="C9D1D9"/>
                </a:solidFill>
                <a:effectLst/>
                <a:latin typeface="Consolas" panose="020B0609020204030204" pitchFamily="49" charset="0"/>
              </a:rPr>
              <a:t>.</a:t>
            </a:r>
            <a:r>
              <a:rPr lang="en-CA" sz="1400" b="0" dirty="0">
                <a:solidFill>
                  <a:srgbClr val="D2A8FF"/>
                </a:solidFill>
                <a:effectLst/>
                <a:latin typeface="Consolas" panose="020B0609020204030204" pitchFamily="49" charset="0"/>
              </a:rPr>
              <a:t>log</a:t>
            </a:r>
            <a:r>
              <a:rPr lang="en-CA" sz="1400" b="0" dirty="0">
                <a:solidFill>
                  <a:srgbClr val="C9D1D9"/>
                </a:solidFill>
                <a:effectLst/>
                <a:latin typeface="Consolas" panose="020B0609020204030204" pitchFamily="49" charset="0"/>
              </a:rPr>
              <a:t>(</a:t>
            </a:r>
            <a:r>
              <a:rPr lang="en-CA" sz="1400" b="0" dirty="0">
                <a:solidFill>
                  <a:srgbClr val="FFA657"/>
                </a:solidFill>
                <a:effectLst/>
                <a:latin typeface="Consolas" panose="020B0609020204030204" pitchFamily="49" charset="0"/>
              </a:rPr>
              <a:t>name</a:t>
            </a:r>
            <a:r>
              <a:rPr lang="en-CA" sz="1400" b="0" dirty="0">
                <a:solidFill>
                  <a:srgbClr val="C9D1D9"/>
                </a:solidFill>
                <a:effectLst/>
                <a:latin typeface="Consolas" panose="020B0609020204030204" pitchFamily="49" charset="0"/>
              </a:rPr>
              <a:t>);</a:t>
            </a:r>
            <a:endParaRPr lang="en-CA" sz="1400" b="0" dirty="0">
              <a:solidFill>
                <a:srgbClr val="BBBEBF"/>
              </a:solidFill>
              <a:effectLst/>
              <a:latin typeface="Consolas" panose="020B0609020204030204" pitchFamily="49" charset="0"/>
            </a:endParaRPr>
          </a:p>
          <a:p>
            <a:pPr>
              <a:lnSpc>
                <a:spcPct val="113095"/>
              </a:lnSpc>
              <a:buNone/>
            </a:pPr>
            <a:r>
              <a:rPr lang="en-CA" sz="1400" b="0" dirty="0">
                <a:solidFill>
                  <a:srgbClr val="C9D1D9"/>
                </a:solidFill>
                <a:effectLst/>
                <a:latin typeface="Consolas" panose="020B0609020204030204" pitchFamily="49" charset="0"/>
              </a:rPr>
              <a:t>}</a:t>
            </a:r>
            <a:endParaRPr lang="en-CA" sz="1400" b="0" dirty="0">
              <a:solidFill>
                <a:srgbClr val="BBBEBF"/>
              </a:solidFill>
              <a:effectLst/>
              <a:latin typeface="Consolas" panose="020B0609020204030204" pitchFamily="49" charset="0"/>
            </a:endParaRPr>
          </a:p>
          <a:p>
            <a:pPr>
              <a:lnSpc>
                <a:spcPct val="113095"/>
              </a:lnSpc>
              <a:buNone/>
            </a:pPr>
            <a:r>
              <a:rPr lang="en-CA" sz="1400" b="0" dirty="0" err="1">
                <a:solidFill>
                  <a:srgbClr val="D2A8FF"/>
                </a:solidFill>
                <a:effectLst/>
                <a:latin typeface="Consolas" panose="020B0609020204030204" pitchFamily="49" charset="0"/>
              </a:rPr>
              <a:t>printName</a:t>
            </a:r>
            <a:r>
              <a:rPr lang="en-CA" sz="1400" b="0" dirty="0">
                <a:solidFill>
                  <a:srgbClr val="BBBEBF"/>
                </a:solidFill>
                <a:effectLst/>
                <a:latin typeface="Consolas" panose="020B0609020204030204" pitchFamily="49" charset="0"/>
              </a:rPr>
              <a:t>({ </a:t>
            </a:r>
            <a:r>
              <a:rPr lang="en-CA" sz="1400" b="0" dirty="0">
                <a:solidFill>
                  <a:srgbClr val="C9D1D9"/>
                </a:solidFill>
                <a:effectLst/>
                <a:latin typeface="Consolas" panose="020B0609020204030204" pitchFamily="49" charset="0"/>
              </a:rPr>
              <a:t>name</a:t>
            </a:r>
            <a:r>
              <a:rPr lang="en-CA" sz="1400" b="0" dirty="0">
                <a:solidFill>
                  <a:srgbClr val="9CDCFE"/>
                </a:solidFill>
                <a:effectLst/>
                <a:latin typeface="Consolas" panose="020B0609020204030204" pitchFamily="49" charset="0"/>
              </a:rPr>
              <a:t>:</a:t>
            </a:r>
            <a:r>
              <a:rPr lang="en-CA" sz="1400" b="0" dirty="0">
                <a:solidFill>
                  <a:srgbClr val="C9D1D9"/>
                </a:solidFill>
                <a:effectLst/>
                <a:latin typeface="Consolas" panose="020B0609020204030204" pitchFamily="49" charset="0"/>
              </a:rPr>
              <a:t> </a:t>
            </a:r>
            <a:r>
              <a:rPr lang="en-CA" dirty="0">
                <a:solidFill>
                  <a:srgbClr val="A5D6FF"/>
                </a:solidFill>
                <a:latin typeface="Consolas" panose="020B0609020204030204" pitchFamily="49" charset="0"/>
              </a:rPr>
              <a:t>‘Luke Skywalker</a:t>
            </a:r>
            <a:r>
              <a:rPr lang="en-CA" sz="1400" b="0" dirty="0">
                <a:solidFill>
                  <a:srgbClr val="A5D6FF"/>
                </a:solidFill>
                <a:effectLst/>
                <a:latin typeface="Consolas" panose="020B0609020204030204" pitchFamily="49" charset="0"/>
              </a:rPr>
              <a:t>'</a:t>
            </a:r>
            <a:r>
              <a:rPr lang="en-CA" sz="1400" b="0" dirty="0">
                <a:solidFill>
                  <a:srgbClr val="BBBEBF"/>
                </a:solidFill>
                <a:effectLst/>
                <a:latin typeface="Consolas" panose="020B0609020204030204" pitchFamily="49" charset="0"/>
              </a:rPr>
              <a:t>, </a:t>
            </a:r>
            <a:r>
              <a:rPr lang="en-CA" sz="1400" b="0" dirty="0">
                <a:solidFill>
                  <a:srgbClr val="C9D1D9"/>
                </a:solidFill>
                <a:effectLst/>
                <a:latin typeface="Consolas" panose="020B0609020204030204" pitchFamily="49" charset="0"/>
              </a:rPr>
              <a:t>age</a:t>
            </a:r>
            <a:r>
              <a:rPr lang="en-CA" sz="1400" b="0" dirty="0">
                <a:solidFill>
                  <a:srgbClr val="9CDCFE"/>
                </a:solidFill>
                <a:effectLst/>
                <a:latin typeface="Consolas" panose="020B0609020204030204" pitchFamily="49" charset="0"/>
              </a:rPr>
              <a:t>:</a:t>
            </a:r>
            <a:r>
              <a:rPr lang="en-CA" sz="1400" b="0" dirty="0">
                <a:solidFill>
                  <a:srgbClr val="C9D1D9"/>
                </a:solidFill>
                <a:effectLst/>
                <a:latin typeface="Consolas" panose="020B0609020204030204" pitchFamily="49" charset="0"/>
              </a:rPr>
              <a:t> </a:t>
            </a:r>
            <a:r>
              <a:rPr lang="en-CA" sz="1400" b="0" dirty="0">
                <a:solidFill>
                  <a:srgbClr val="B5CEA8"/>
                </a:solidFill>
                <a:effectLst/>
                <a:latin typeface="Consolas" panose="020B0609020204030204" pitchFamily="49" charset="0"/>
              </a:rPr>
              <a:t>25</a:t>
            </a:r>
            <a:r>
              <a:rPr lang="en-CA" sz="1400" b="0" dirty="0">
                <a:solidFill>
                  <a:srgbClr val="C9D1D9"/>
                </a:solidFill>
                <a:effectLst/>
                <a:latin typeface="Consolas" panose="020B0609020204030204" pitchFamily="49" charset="0"/>
              </a:rPr>
              <a:t> </a:t>
            </a:r>
            <a:r>
              <a:rPr lang="en-CA" sz="1400" b="0" dirty="0">
                <a:solidFill>
                  <a:srgbClr val="BBBEBF"/>
                </a:solidFill>
                <a:effectLst/>
                <a:latin typeface="Consolas" panose="020B0609020204030204" pitchFamily="49" charset="0"/>
              </a:rPr>
              <a:t>});</a:t>
            </a:r>
          </a:p>
          <a:p>
            <a:pPr>
              <a:lnSpc>
                <a:spcPct val="113095"/>
              </a:lnSpc>
              <a:buNone/>
            </a:pPr>
            <a:r>
              <a:rPr lang="en-CA" sz="1400" b="0" dirty="0">
                <a:solidFill>
                  <a:srgbClr val="8B949E"/>
                </a:solidFill>
                <a:effectLst/>
                <a:latin typeface="Consolas" panose="020B0609020204030204" pitchFamily="49" charset="0"/>
              </a:rPr>
              <a:t>// prints ‘Luke Skywalker'</a:t>
            </a:r>
            <a:endParaRPr lang="en-CA" sz="1400" b="0" dirty="0">
              <a:solidFill>
                <a:srgbClr val="BBBEBF"/>
              </a:solidFill>
              <a:effectLst/>
              <a:latin typeface="Consolas" panose="020B0609020204030204" pitchFamily="49" charset="0"/>
            </a:endParaRPr>
          </a:p>
          <a:p>
            <a:pPr marL="139700" indent="0">
              <a:buNone/>
            </a:pPr>
            <a:endParaRPr lang="en-US" dirty="0"/>
          </a:p>
          <a:p>
            <a:pPr marL="139700" indent="0">
              <a:buNone/>
            </a:pPr>
            <a:endParaRPr lang="en-CA" dirty="0"/>
          </a:p>
        </p:txBody>
      </p:sp>
      <p:sp>
        <p:nvSpPr>
          <p:cNvPr id="145" name="Google Shape;145;p25">
            <a:extLst>
              <a:ext uri="{FF2B5EF4-FFF2-40B4-BE49-F238E27FC236}">
                <a16:creationId xmlns:a16="http://schemas.microsoft.com/office/drawing/2014/main" id="{C9CF1AC6-8FD6-424E-30D0-E48AC05E4B48}"/>
              </a:ext>
            </a:extLst>
          </p:cNvPr>
          <p:cNvSpPr txBox="1"/>
          <p:nvPr/>
        </p:nvSpPr>
        <p:spPr>
          <a:xfrm>
            <a:off x="270589" y="1433373"/>
            <a:ext cx="4301412" cy="2566001"/>
          </a:xfrm>
          <a:prstGeom prst="rect">
            <a:avLst/>
          </a:prstGeom>
          <a:noFill/>
          <a:ln>
            <a:noFill/>
          </a:ln>
        </p:spPr>
        <p:txBody>
          <a:bodyPr spcFirstLastPara="1" wrap="square" lIns="91425" tIns="91425" rIns="91425" bIns="91425" anchor="t" anchorCtr="0">
            <a:noAutofit/>
          </a:bodyPr>
          <a:lstStyle/>
          <a:p>
            <a:pPr marL="139700" marR="0" lvl="0" indent="0" algn="l" defTabSz="914400" rtl="0" eaLnBrk="1" fontAlgn="auto" latinLnBrk="0" hangingPunct="1">
              <a:lnSpc>
                <a:spcPct val="115000"/>
              </a:lnSpc>
              <a:spcBef>
                <a:spcPts val="0"/>
              </a:spcBef>
              <a:spcAft>
                <a:spcPts val="0"/>
              </a:spcAft>
              <a:buClr>
                <a:srgbClr val="FFFFFF"/>
              </a:buClr>
              <a:buSzPts val="1400"/>
              <a:buFont typeface="Roboto"/>
              <a:buNone/>
              <a:tabLst/>
              <a:defRPr/>
            </a:pPr>
            <a:r>
              <a:rPr kumimoji="0" lang="en-US" sz="1400" b="0" i="0" u="none" strike="noStrike" kern="0" cap="none" spc="0" normalizeH="0" baseline="0" noProof="0" dirty="0">
                <a:ln>
                  <a:noFill/>
                </a:ln>
                <a:solidFill>
                  <a:srgbClr val="FFFFFF"/>
                </a:solidFill>
                <a:effectLst/>
                <a:uLnTx/>
                <a:uFillTx/>
                <a:latin typeface="Roboto"/>
                <a:ea typeface="Roboto"/>
                <a:cs typeface="Roboto"/>
                <a:sym typeface="Roboto"/>
              </a:rPr>
              <a:t>Destructuring is very useful when working with function </a:t>
            </a:r>
            <a:r>
              <a:rPr kumimoji="0" lang="en-CA" sz="1400" b="0" i="0" u="none" strike="noStrike" kern="0" cap="none" spc="0" normalizeH="0" baseline="0" noProof="0" dirty="0">
                <a:ln>
                  <a:noFill/>
                </a:ln>
                <a:solidFill>
                  <a:srgbClr val="FFFFFF"/>
                </a:solidFill>
                <a:effectLst/>
                <a:uLnTx/>
                <a:uFillTx/>
                <a:latin typeface="Roboto"/>
                <a:ea typeface="Roboto"/>
                <a:cs typeface="Roboto"/>
                <a:sym typeface="Roboto"/>
              </a:rPr>
              <a:t>arguments. Consider this example:</a:t>
            </a:r>
          </a:p>
          <a:p>
            <a:pPr>
              <a:lnSpc>
                <a:spcPct val="113095"/>
              </a:lnSpc>
              <a:buNone/>
            </a:pPr>
            <a:endParaRPr lang="en-CA" sz="1200" b="0" dirty="0">
              <a:solidFill>
                <a:srgbClr val="FF7B72"/>
              </a:solidFill>
              <a:effectLst/>
              <a:latin typeface="Consolas" panose="020B0609020204030204" pitchFamily="49" charset="0"/>
            </a:endParaRPr>
          </a:p>
          <a:p>
            <a:pPr>
              <a:lnSpc>
                <a:spcPct val="113095"/>
              </a:lnSpc>
              <a:buNone/>
            </a:pPr>
            <a:r>
              <a:rPr lang="en-CA" b="0" dirty="0">
                <a:solidFill>
                  <a:srgbClr val="FF7B72"/>
                </a:solidFill>
                <a:effectLst/>
                <a:latin typeface="Consolas" panose="020B0609020204030204" pitchFamily="49" charset="0"/>
              </a:rPr>
              <a:t>const</a:t>
            </a:r>
            <a:r>
              <a:rPr lang="en-CA" b="0" dirty="0">
                <a:solidFill>
                  <a:srgbClr val="BBBEBF"/>
                </a:solidFill>
                <a:effectLst/>
                <a:latin typeface="Consolas" panose="020B0609020204030204" pitchFamily="49" charset="0"/>
              </a:rPr>
              <a:t> </a:t>
            </a:r>
            <a:r>
              <a:rPr lang="en-CA" b="0" dirty="0" err="1">
                <a:solidFill>
                  <a:srgbClr val="D2A8FF"/>
                </a:solidFill>
                <a:effectLst/>
                <a:latin typeface="Consolas" panose="020B0609020204030204" pitchFamily="49" charset="0"/>
              </a:rPr>
              <a:t>printName</a:t>
            </a:r>
            <a:r>
              <a:rPr lang="en-CA" b="0" dirty="0">
                <a:solidFill>
                  <a:srgbClr val="BBBEBF"/>
                </a:solidFill>
                <a:effectLst/>
                <a:latin typeface="Consolas" panose="020B0609020204030204" pitchFamily="49" charset="0"/>
              </a:rPr>
              <a:t> </a:t>
            </a:r>
            <a:r>
              <a:rPr lang="en-CA" b="0" dirty="0">
                <a:solidFill>
                  <a:srgbClr val="D4D4D4"/>
                </a:solidFill>
                <a:effectLst/>
                <a:latin typeface="Consolas" panose="020B0609020204030204" pitchFamily="49" charset="0"/>
              </a:rPr>
              <a:t>=</a:t>
            </a:r>
            <a:r>
              <a:rPr lang="en-CA" b="0" dirty="0">
                <a:solidFill>
                  <a:srgbClr val="BBBEBF"/>
                </a:solidFill>
                <a:effectLst/>
                <a:latin typeface="Consolas" panose="020B0609020204030204" pitchFamily="49" charset="0"/>
              </a:rPr>
              <a:t> (</a:t>
            </a:r>
            <a:r>
              <a:rPr lang="en-CA" b="0" dirty="0" err="1">
                <a:solidFill>
                  <a:srgbClr val="FFA657"/>
                </a:solidFill>
                <a:effectLst/>
                <a:latin typeface="Consolas" panose="020B0609020204030204" pitchFamily="49" charset="0"/>
              </a:rPr>
              <a:t>personObj</a:t>
            </a:r>
            <a:r>
              <a:rPr lang="en-CA" b="0" dirty="0">
                <a:solidFill>
                  <a:srgbClr val="BBBEBF"/>
                </a:solidFill>
                <a:effectLst/>
                <a:latin typeface="Consolas" panose="020B0609020204030204" pitchFamily="49" charset="0"/>
              </a:rPr>
              <a:t>) </a:t>
            </a:r>
            <a:r>
              <a:rPr lang="en-CA" b="0" dirty="0">
                <a:solidFill>
                  <a:srgbClr val="FF7B72"/>
                </a:solidFill>
                <a:effectLst/>
                <a:latin typeface="Consolas" panose="020B0609020204030204" pitchFamily="49" charset="0"/>
              </a:rPr>
              <a:t>=&gt;</a:t>
            </a:r>
            <a:r>
              <a:rPr lang="en-CA" b="0" dirty="0">
                <a:solidFill>
                  <a:srgbClr val="BBBEBF"/>
                </a:solidFill>
                <a:effectLst/>
                <a:latin typeface="Consolas" panose="020B0609020204030204" pitchFamily="49" charset="0"/>
              </a:rPr>
              <a:t> </a:t>
            </a:r>
            <a:r>
              <a:rPr lang="en-CA" b="0" dirty="0">
                <a:solidFill>
                  <a:srgbClr val="C9D1D9"/>
                </a:solidFill>
                <a:effectLst/>
                <a:latin typeface="Consolas" panose="020B0609020204030204" pitchFamily="49" charset="0"/>
              </a:rPr>
              <a:t>{</a:t>
            </a:r>
            <a:endParaRPr lang="en-CA" b="0" dirty="0">
              <a:solidFill>
                <a:srgbClr val="BBBEBF"/>
              </a:solidFill>
              <a:effectLst/>
              <a:latin typeface="Consolas" panose="020B0609020204030204" pitchFamily="49" charset="0"/>
            </a:endParaRPr>
          </a:p>
          <a:p>
            <a:pPr>
              <a:lnSpc>
                <a:spcPct val="113095"/>
              </a:lnSpc>
              <a:buNone/>
            </a:pPr>
            <a:r>
              <a:rPr lang="en-CA" b="0" dirty="0">
                <a:solidFill>
                  <a:srgbClr val="C9D1D9"/>
                </a:solidFill>
                <a:effectLst/>
                <a:latin typeface="Consolas" panose="020B0609020204030204" pitchFamily="49" charset="0"/>
              </a:rPr>
              <a:t>    </a:t>
            </a:r>
            <a:r>
              <a:rPr lang="en-CA" b="0" dirty="0">
                <a:solidFill>
                  <a:srgbClr val="79C0FF"/>
                </a:solidFill>
                <a:effectLst/>
                <a:latin typeface="Consolas" panose="020B0609020204030204" pitchFamily="49" charset="0"/>
              </a:rPr>
              <a:t>console</a:t>
            </a:r>
            <a:r>
              <a:rPr lang="en-CA" b="0" dirty="0">
                <a:solidFill>
                  <a:srgbClr val="C9D1D9"/>
                </a:solidFill>
                <a:effectLst/>
                <a:latin typeface="Consolas" panose="020B0609020204030204" pitchFamily="49" charset="0"/>
              </a:rPr>
              <a:t>.</a:t>
            </a:r>
            <a:r>
              <a:rPr lang="en-CA" b="0" dirty="0">
                <a:solidFill>
                  <a:srgbClr val="D2A8FF"/>
                </a:solidFill>
                <a:effectLst/>
                <a:latin typeface="Consolas" panose="020B0609020204030204" pitchFamily="49" charset="0"/>
              </a:rPr>
              <a:t>log</a:t>
            </a:r>
            <a:r>
              <a:rPr lang="en-CA" b="0" dirty="0">
                <a:solidFill>
                  <a:srgbClr val="C9D1D9"/>
                </a:solidFill>
                <a:effectLst/>
                <a:latin typeface="Consolas" panose="020B0609020204030204" pitchFamily="49" charset="0"/>
              </a:rPr>
              <a:t>(</a:t>
            </a:r>
            <a:r>
              <a:rPr lang="en-CA" b="0" dirty="0">
                <a:solidFill>
                  <a:srgbClr val="FFA657"/>
                </a:solidFill>
                <a:effectLst/>
                <a:latin typeface="Consolas" panose="020B0609020204030204" pitchFamily="49" charset="0"/>
              </a:rPr>
              <a:t>personObj</a:t>
            </a:r>
            <a:r>
              <a:rPr lang="en-CA" b="0" dirty="0">
                <a:solidFill>
                  <a:srgbClr val="C9D1D9"/>
                </a:solidFill>
                <a:effectLst/>
                <a:latin typeface="Consolas" panose="020B0609020204030204" pitchFamily="49" charset="0"/>
              </a:rPr>
              <a:t>.name);</a:t>
            </a:r>
            <a:endParaRPr lang="en-CA" b="0" dirty="0">
              <a:solidFill>
                <a:srgbClr val="BBBEBF"/>
              </a:solidFill>
              <a:effectLst/>
              <a:latin typeface="Consolas" panose="020B0609020204030204" pitchFamily="49" charset="0"/>
            </a:endParaRPr>
          </a:p>
          <a:p>
            <a:pPr>
              <a:lnSpc>
                <a:spcPct val="113095"/>
              </a:lnSpc>
              <a:buNone/>
            </a:pPr>
            <a:r>
              <a:rPr lang="en-CA" b="0" dirty="0">
                <a:solidFill>
                  <a:srgbClr val="C9D1D9"/>
                </a:solidFill>
                <a:effectLst/>
                <a:latin typeface="Consolas" panose="020B0609020204030204" pitchFamily="49" charset="0"/>
              </a:rPr>
              <a:t>}</a:t>
            </a:r>
            <a:endParaRPr lang="en-CA" b="0" dirty="0">
              <a:solidFill>
                <a:srgbClr val="BBBEBF"/>
              </a:solidFill>
              <a:effectLst/>
              <a:latin typeface="Consolas" panose="020B0609020204030204" pitchFamily="49" charset="0"/>
            </a:endParaRPr>
          </a:p>
          <a:p>
            <a:pPr>
              <a:lnSpc>
                <a:spcPct val="113095"/>
              </a:lnSpc>
              <a:buNone/>
            </a:pPr>
            <a:r>
              <a:rPr lang="en-CA" b="0" dirty="0" err="1">
                <a:solidFill>
                  <a:srgbClr val="D2A8FF"/>
                </a:solidFill>
                <a:effectLst/>
                <a:latin typeface="Consolas" panose="020B0609020204030204" pitchFamily="49" charset="0"/>
              </a:rPr>
              <a:t>printName</a:t>
            </a:r>
            <a:r>
              <a:rPr lang="en-CA" b="0" dirty="0">
                <a:solidFill>
                  <a:srgbClr val="BBBEBF"/>
                </a:solidFill>
                <a:effectLst/>
                <a:latin typeface="Consolas" panose="020B0609020204030204" pitchFamily="49" charset="0"/>
              </a:rPr>
              <a:t>({ </a:t>
            </a:r>
            <a:r>
              <a:rPr lang="en-CA" b="0" dirty="0">
                <a:solidFill>
                  <a:srgbClr val="C9D1D9"/>
                </a:solidFill>
                <a:effectLst/>
                <a:latin typeface="Consolas" panose="020B0609020204030204" pitchFamily="49" charset="0"/>
              </a:rPr>
              <a:t>name</a:t>
            </a:r>
            <a:r>
              <a:rPr lang="en-CA" b="0" dirty="0">
                <a:solidFill>
                  <a:srgbClr val="9CDCFE"/>
                </a:solidFill>
                <a:effectLst/>
                <a:latin typeface="Consolas" panose="020B0609020204030204" pitchFamily="49" charset="0"/>
              </a:rPr>
              <a:t>:</a:t>
            </a:r>
            <a:r>
              <a:rPr lang="en-CA" b="0" dirty="0">
                <a:solidFill>
                  <a:srgbClr val="C9D1D9"/>
                </a:solidFill>
                <a:effectLst/>
                <a:latin typeface="Consolas" panose="020B0609020204030204" pitchFamily="49" charset="0"/>
              </a:rPr>
              <a:t> </a:t>
            </a:r>
            <a:r>
              <a:rPr lang="en-CA" b="0" dirty="0">
                <a:solidFill>
                  <a:srgbClr val="A5D6FF"/>
                </a:solidFill>
                <a:effectLst/>
                <a:latin typeface="Consolas" panose="020B0609020204030204" pitchFamily="49" charset="0"/>
              </a:rPr>
              <a:t>‘Luke Skywalker'</a:t>
            </a:r>
            <a:r>
              <a:rPr lang="en-CA" b="0" dirty="0">
                <a:solidFill>
                  <a:srgbClr val="BBBEBF"/>
                </a:solidFill>
                <a:effectLst/>
                <a:latin typeface="Consolas" panose="020B0609020204030204" pitchFamily="49" charset="0"/>
              </a:rPr>
              <a:t>, </a:t>
            </a:r>
            <a:r>
              <a:rPr lang="en-CA" b="0" dirty="0">
                <a:solidFill>
                  <a:srgbClr val="C9D1D9"/>
                </a:solidFill>
                <a:effectLst/>
                <a:latin typeface="Consolas" panose="020B0609020204030204" pitchFamily="49" charset="0"/>
              </a:rPr>
              <a:t>age</a:t>
            </a:r>
            <a:r>
              <a:rPr lang="en-CA" b="0" dirty="0">
                <a:solidFill>
                  <a:srgbClr val="9CDCFE"/>
                </a:solidFill>
                <a:effectLst/>
                <a:latin typeface="Consolas" panose="020B0609020204030204" pitchFamily="49" charset="0"/>
              </a:rPr>
              <a:t>:</a:t>
            </a:r>
            <a:r>
              <a:rPr lang="en-CA" b="0" dirty="0">
                <a:solidFill>
                  <a:srgbClr val="C9D1D9"/>
                </a:solidFill>
                <a:effectLst/>
                <a:latin typeface="Consolas" panose="020B0609020204030204" pitchFamily="49" charset="0"/>
              </a:rPr>
              <a:t> </a:t>
            </a:r>
            <a:r>
              <a:rPr lang="en-CA" dirty="0">
                <a:solidFill>
                  <a:srgbClr val="B5CEA8"/>
                </a:solidFill>
                <a:latin typeface="Consolas" panose="020B0609020204030204" pitchFamily="49" charset="0"/>
              </a:rPr>
              <a:t>25</a:t>
            </a:r>
            <a:r>
              <a:rPr lang="en-CA" b="0" dirty="0">
                <a:solidFill>
                  <a:srgbClr val="C9D1D9"/>
                </a:solidFill>
                <a:effectLst/>
                <a:latin typeface="Consolas" panose="020B0609020204030204" pitchFamily="49" charset="0"/>
              </a:rPr>
              <a:t> </a:t>
            </a:r>
            <a:r>
              <a:rPr lang="en-CA" b="0" dirty="0">
                <a:solidFill>
                  <a:srgbClr val="BBBEBF"/>
                </a:solidFill>
                <a:effectLst/>
                <a:latin typeface="Consolas" panose="020B0609020204030204" pitchFamily="49" charset="0"/>
              </a:rPr>
              <a:t>}); </a:t>
            </a:r>
          </a:p>
          <a:p>
            <a:pPr>
              <a:lnSpc>
                <a:spcPct val="113095"/>
              </a:lnSpc>
              <a:buNone/>
            </a:pPr>
            <a:r>
              <a:rPr lang="en-CA" b="0" dirty="0">
                <a:solidFill>
                  <a:srgbClr val="8B949E"/>
                </a:solidFill>
                <a:effectLst/>
                <a:latin typeface="Consolas" panose="020B0609020204030204" pitchFamily="49" charset="0"/>
              </a:rPr>
              <a:t>// prints ‘Luke Skywalker'</a:t>
            </a:r>
            <a:endParaRPr lang="en-CA" b="0" dirty="0">
              <a:solidFill>
                <a:srgbClr val="BBBEBF"/>
              </a:solidFill>
              <a:effectLst/>
              <a:latin typeface="Consolas" panose="020B0609020204030204" pitchFamily="49" charset="0"/>
            </a:endParaRPr>
          </a:p>
          <a:p>
            <a:pPr>
              <a:lnSpc>
                <a:spcPct val="113095"/>
              </a:lnSpc>
              <a:buNone/>
            </a:pPr>
            <a:endParaRPr lang="en-CA" sz="1200" b="0" dirty="0">
              <a:solidFill>
                <a:srgbClr val="BBBEBF"/>
              </a:solidFill>
              <a:effectLst/>
              <a:latin typeface="Consolas" panose="020B0609020204030204" pitchFamily="49" charset="0"/>
            </a:endParaRPr>
          </a:p>
          <a:p>
            <a:pPr marL="0" lvl="0" indent="0" algn="l" rtl="0">
              <a:spcBef>
                <a:spcPts val="0"/>
              </a:spcBef>
              <a:spcAft>
                <a:spcPts val="0"/>
              </a:spcAft>
              <a:buNone/>
            </a:pPr>
            <a:endParaRPr lang="en-US" sz="1150" dirty="0">
              <a:solidFill>
                <a:srgbClr val="ECEFF1"/>
              </a:solidFill>
              <a:latin typeface="Roboto Mono"/>
              <a:ea typeface="Roboto Mono"/>
              <a:cs typeface="Roboto Mono"/>
              <a:sym typeface="Roboto Mono"/>
            </a:endParaRPr>
          </a:p>
        </p:txBody>
      </p:sp>
    </p:spTree>
    <p:extLst>
      <p:ext uri="{BB962C8B-B14F-4D97-AF65-F5344CB8AC3E}">
        <p14:creationId xmlns:p14="http://schemas.microsoft.com/office/powerpoint/2010/main" val="2716060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695BDBE0-CD57-869C-9308-7B7BD62F5B87}"/>
            </a:ext>
          </a:extLst>
        </p:cNvPr>
        <p:cNvGrpSpPr/>
        <p:nvPr/>
      </p:nvGrpSpPr>
      <p:grpSpPr>
        <a:xfrm>
          <a:off x="0" y="0"/>
          <a:ext cx="0" cy="0"/>
          <a:chOff x="0" y="0"/>
          <a:chExt cx="0" cy="0"/>
        </a:xfrm>
      </p:grpSpPr>
      <p:sp>
        <p:nvSpPr>
          <p:cNvPr id="143" name="Google Shape;143;p25">
            <a:extLst>
              <a:ext uri="{FF2B5EF4-FFF2-40B4-BE49-F238E27FC236}">
                <a16:creationId xmlns:a16="http://schemas.microsoft.com/office/drawing/2014/main" id="{552A82C9-F515-E1F8-2285-6456133676A7}"/>
              </a:ext>
            </a:extLst>
          </p:cNvPr>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lvl="0"/>
            <a:r>
              <a:rPr lang="en-CA" dirty="0"/>
              <a:t>Exports &amp; Imports</a:t>
            </a:r>
            <a:endParaRPr dirty="0"/>
          </a:p>
        </p:txBody>
      </p:sp>
      <p:sp>
        <p:nvSpPr>
          <p:cNvPr id="144" name="Google Shape;144;p25">
            <a:extLst>
              <a:ext uri="{FF2B5EF4-FFF2-40B4-BE49-F238E27FC236}">
                <a16:creationId xmlns:a16="http://schemas.microsoft.com/office/drawing/2014/main" id="{E425D720-F3A7-2DDE-98D5-5AF1C55200F5}"/>
              </a:ext>
            </a:extLst>
          </p:cNvPr>
          <p:cNvSpPr txBox="1">
            <a:spLocks noGrp="1"/>
          </p:cNvSpPr>
          <p:nvPr>
            <p:ph type="body" idx="1"/>
          </p:nvPr>
        </p:nvSpPr>
        <p:spPr>
          <a:xfrm>
            <a:off x="3452327" y="1144125"/>
            <a:ext cx="5980923" cy="3541350"/>
          </a:xfrm>
          <a:prstGeom prst="rect">
            <a:avLst/>
          </a:prstGeom>
        </p:spPr>
        <p:txBody>
          <a:bodyPr spcFirstLastPara="1" wrap="square" lIns="91425" tIns="91425" rIns="91425" bIns="91425" anchor="t" anchorCtr="0">
            <a:noAutofit/>
          </a:bodyPr>
          <a:lstStyle/>
          <a:p>
            <a:pPr marL="139700" indent="0">
              <a:buNone/>
            </a:pPr>
            <a:endParaRPr lang="en-CA" dirty="0"/>
          </a:p>
          <a:p>
            <a:pPr marL="139700" indent="0">
              <a:buNone/>
            </a:pPr>
            <a:r>
              <a:rPr lang="en-US" dirty="0"/>
              <a:t>You got two different types of exports: </a:t>
            </a:r>
          </a:p>
          <a:p>
            <a:pPr marL="139700" indent="0">
              <a:buNone/>
            </a:pPr>
            <a:r>
              <a:rPr lang="en-US" b="1" dirty="0"/>
              <a:t>default </a:t>
            </a:r>
            <a:r>
              <a:rPr lang="en-US" dirty="0"/>
              <a:t>(unnamed) and </a:t>
            </a:r>
            <a:r>
              <a:rPr lang="en-US" b="1" dirty="0"/>
              <a:t>named </a:t>
            </a:r>
            <a:r>
              <a:rPr lang="en-US" dirty="0"/>
              <a:t>exports:</a:t>
            </a:r>
            <a:endParaRPr lang="en-CA" dirty="0"/>
          </a:p>
          <a:p>
            <a:pPr marL="139700" indent="0">
              <a:buNone/>
            </a:pPr>
            <a:endParaRPr lang="en-US" dirty="0"/>
          </a:p>
          <a:p>
            <a:pPr>
              <a:lnSpc>
                <a:spcPct val="113095"/>
              </a:lnSpc>
              <a:buNone/>
            </a:pPr>
            <a:r>
              <a:rPr lang="en-CA" sz="1400" b="0" dirty="0">
                <a:solidFill>
                  <a:srgbClr val="8B949E"/>
                </a:solidFill>
                <a:effectLst/>
                <a:latin typeface="Consolas" panose="020B0609020204030204" pitchFamily="49" charset="0"/>
              </a:rPr>
              <a:t>//default export</a:t>
            </a:r>
            <a:endParaRPr lang="en-CA" sz="1400" b="0" dirty="0">
              <a:solidFill>
                <a:srgbClr val="BBBEBF"/>
              </a:solidFill>
              <a:effectLst/>
              <a:latin typeface="Consolas" panose="020B0609020204030204" pitchFamily="49" charset="0"/>
            </a:endParaRPr>
          </a:p>
          <a:p>
            <a:pPr>
              <a:lnSpc>
                <a:spcPct val="113095"/>
              </a:lnSpc>
              <a:buNone/>
            </a:pPr>
            <a:r>
              <a:rPr lang="en-CA" sz="1400" b="0" dirty="0">
                <a:solidFill>
                  <a:srgbClr val="C586C0"/>
                </a:solidFill>
                <a:effectLst/>
                <a:latin typeface="Consolas" panose="020B0609020204030204" pitchFamily="49" charset="0"/>
              </a:rPr>
              <a:t>export</a:t>
            </a:r>
            <a:r>
              <a:rPr lang="en-CA" sz="1400" b="0" dirty="0">
                <a:solidFill>
                  <a:srgbClr val="FFA657"/>
                </a:solidFill>
                <a:effectLst/>
                <a:latin typeface="Consolas" panose="020B0609020204030204" pitchFamily="49" charset="0"/>
              </a:rPr>
              <a:t> </a:t>
            </a:r>
            <a:r>
              <a:rPr lang="en-CA" sz="1400" b="0" dirty="0">
                <a:solidFill>
                  <a:srgbClr val="C586C0"/>
                </a:solidFill>
                <a:effectLst/>
                <a:latin typeface="Consolas" panose="020B0609020204030204" pitchFamily="49" charset="0"/>
              </a:rPr>
              <a:t>default</a:t>
            </a:r>
            <a:r>
              <a:rPr lang="en-CA" sz="1400" b="0" dirty="0">
                <a:solidFill>
                  <a:srgbClr val="FFA657"/>
                </a:solidFill>
                <a:effectLst/>
                <a:latin typeface="Consolas" panose="020B0609020204030204" pitchFamily="49" charset="0"/>
              </a:rPr>
              <a:t> </a:t>
            </a:r>
            <a:r>
              <a:rPr lang="en-CA" sz="1400" b="0" dirty="0">
                <a:solidFill>
                  <a:srgbClr val="D4D4D4"/>
                </a:solidFill>
                <a:effectLst/>
                <a:latin typeface="Consolas" panose="020B0609020204030204" pitchFamily="49" charset="0"/>
              </a:rPr>
              <a:t>...</a:t>
            </a:r>
            <a:r>
              <a:rPr lang="en-CA" sz="1400" b="0" dirty="0">
                <a:solidFill>
                  <a:srgbClr val="BBBEBF"/>
                </a:solidFill>
                <a:effectLst/>
                <a:latin typeface="Consolas" panose="020B0609020204030204" pitchFamily="49" charset="0"/>
              </a:rPr>
              <a:t>;</a:t>
            </a:r>
          </a:p>
          <a:p>
            <a:pPr>
              <a:lnSpc>
                <a:spcPct val="113095"/>
              </a:lnSpc>
              <a:buNone/>
            </a:pPr>
            <a:r>
              <a:rPr lang="en-CA" sz="1400" b="0" dirty="0">
                <a:solidFill>
                  <a:srgbClr val="8B949E"/>
                </a:solidFill>
                <a:effectLst/>
                <a:latin typeface="Consolas" panose="020B0609020204030204" pitchFamily="49" charset="0"/>
              </a:rPr>
              <a:t>//named export</a:t>
            </a:r>
            <a:endParaRPr lang="en-CA" sz="1400" b="0" dirty="0">
              <a:solidFill>
                <a:srgbClr val="BBBEBF"/>
              </a:solidFill>
              <a:effectLst/>
              <a:latin typeface="Consolas" panose="020B0609020204030204" pitchFamily="49" charset="0"/>
            </a:endParaRPr>
          </a:p>
          <a:p>
            <a:pPr>
              <a:lnSpc>
                <a:spcPct val="113095"/>
              </a:lnSpc>
              <a:buNone/>
            </a:pPr>
            <a:r>
              <a:rPr lang="en-CA" sz="1400" b="0" dirty="0">
                <a:solidFill>
                  <a:srgbClr val="C586C0"/>
                </a:solidFill>
                <a:effectLst/>
                <a:latin typeface="Consolas" panose="020B0609020204030204" pitchFamily="49" charset="0"/>
              </a:rPr>
              <a:t>export</a:t>
            </a:r>
            <a:r>
              <a:rPr lang="en-CA" sz="1400" b="0" dirty="0">
                <a:solidFill>
                  <a:srgbClr val="BBBEBF"/>
                </a:solidFill>
                <a:effectLst/>
                <a:latin typeface="Consolas" panose="020B0609020204030204" pitchFamily="49" charset="0"/>
              </a:rPr>
              <a:t> </a:t>
            </a:r>
            <a:r>
              <a:rPr lang="en-CA" sz="1400" b="0" dirty="0">
                <a:solidFill>
                  <a:srgbClr val="FF7B72"/>
                </a:solidFill>
                <a:effectLst/>
                <a:latin typeface="Consolas" panose="020B0609020204030204" pitchFamily="49" charset="0"/>
              </a:rPr>
              <a:t>const</a:t>
            </a:r>
            <a:r>
              <a:rPr lang="en-CA" sz="1400" b="0" dirty="0">
                <a:solidFill>
                  <a:srgbClr val="BBBEBF"/>
                </a:solidFill>
                <a:effectLst/>
                <a:latin typeface="Consolas" panose="020B0609020204030204" pitchFamily="49" charset="0"/>
              </a:rPr>
              <a:t> </a:t>
            </a:r>
            <a:r>
              <a:rPr lang="en-CA" sz="1400" b="0" dirty="0" err="1">
                <a:solidFill>
                  <a:srgbClr val="79C0FF"/>
                </a:solidFill>
                <a:effectLst/>
                <a:latin typeface="Consolas" panose="020B0609020204030204" pitchFamily="49" charset="0"/>
              </a:rPr>
              <a:t>someData</a:t>
            </a:r>
            <a:r>
              <a:rPr lang="en-CA" sz="1400" b="0" dirty="0">
                <a:solidFill>
                  <a:srgbClr val="BBBEBF"/>
                </a:solidFill>
                <a:effectLst/>
                <a:latin typeface="Consolas" panose="020B0609020204030204" pitchFamily="49" charset="0"/>
              </a:rPr>
              <a:t> </a:t>
            </a:r>
            <a:r>
              <a:rPr lang="en-CA" sz="1400" b="0" dirty="0">
                <a:solidFill>
                  <a:srgbClr val="D4D4D4"/>
                </a:solidFill>
                <a:effectLst/>
                <a:latin typeface="Consolas" panose="020B0609020204030204" pitchFamily="49" charset="0"/>
              </a:rPr>
              <a:t>=</a:t>
            </a:r>
            <a:r>
              <a:rPr lang="en-CA" sz="1400" b="0" dirty="0">
                <a:solidFill>
                  <a:srgbClr val="BBBEBF"/>
                </a:solidFill>
                <a:effectLst/>
                <a:latin typeface="Consolas" panose="020B0609020204030204" pitchFamily="49" charset="0"/>
              </a:rPr>
              <a:t> </a:t>
            </a:r>
            <a:r>
              <a:rPr lang="en-CA" sz="1400" b="0" dirty="0">
                <a:solidFill>
                  <a:srgbClr val="D4D4D4"/>
                </a:solidFill>
                <a:effectLst/>
                <a:latin typeface="Consolas" panose="020B0609020204030204" pitchFamily="49" charset="0"/>
              </a:rPr>
              <a:t>...</a:t>
            </a:r>
            <a:r>
              <a:rPr lang="en-CA" sz="1400" b="0" dirty="0">
                <a:solidFill>
                  <a:srgbClr val="BBBEBF"/>
                </a:solidFill>
                <a:effectLst/>
                <a:latin typeface="Consolas" panose="020B0609020204030204" pitchFamily="49" charset="0"/>
              </a:rPr>
              <a:t>;</a:t>
            </a:r>
          </a:p>
          <a:p>
            <a:pPr>
              <a:lnSpc>
                <a:spcPct val="113095"/>
              </a:lnSpc>
              <a:buNone/>
            </a:pPr>
            <a:endParaRPr lang="en-CA" dirty="0">
              <a:solidFill>
                <a:srgbClr val="BBBEBF"/>
              </a:solidFill>
              <a:latin typeface="Consolas" panose="020B0609020204030204" pitchFamily="49" charset="0"/>
            </a:endParaRPr>
          </a:p>
          <a:p>
            <a:pPr>
              <a:lnSpc>
                <a:spcPct val="113095"/>
              </a:lnSpc>
              <a:buNone/>
            </a:pPr>
            <a:r>
              <a:rPr lang="en-CA" sz="1400" b="0" dirty="0">
                <a:solidFill>
                  <a:srgbClr val="8B949E"/>
                </a:solidFill>
                <a:effectLst/>
                <a:latin typeface="Consolas" panose="020B0609020204030204" pitchFamily="49" charset="0"/>
              </a:rPr>
              <a:t>//import default export</a:t>
            </a:r>
            <a:endParaRPr lang="en-CA" sz="1400" b="0" dirty="0">
              <a:solidFill>
                <a:srgbClr val="BBBEBF"/>
              </a:solidFill>
              <a:effectLst/>
              <a:latin typeface="Consolas" panose="020B0609020204030204" pitchFamily="49" charset="0"/>
            </a:endParaRPr>
          </a:p>
          <a:p>
            <a:pPr>
              <a:lnSpc>
                <a:spcPct val="113095"/>
              </a:lnSpc>
              <a:buNone/>
            </a:pPr>
            <a:r>
              <a:rPr lang="en-CA" sz="1400" b="0" dirty="0">
                <a:solidFill>
                  <a:srgbClr val="C586C0"/>
                </a:solidFill>
                <a:effectLst/>
                <a:latin typeface="Consolas" panose="020B0609020204030204" pitchFamily="49" charset="0"/>
              </a:rPr>
              <a:t>import</a:t>
            </a:r>
            <a:r>
              <a:rPr lang="en-CA" sz="1400" b="0" dirty="0">
                <a:solidFill>
                  <a:srgbClr val="BBBEBF"/>
                </a:solidFill>
                <a:effectLst/>
                <a:latin typeface="Consolas" panose="020B0609020204030204" pitchFamily="49" charset="0"/>
              </a:rPr>
              <a:t> </a:t>
            </a:r>
            <a:r>
              <a:rPr lang="en-CA" sz="1400" b="0" dirty="0" err="1">
                <a:solidFill>
                  <a:srgbClr val="C9D1D9"/>
                </a:solidFill>
                <a:effectLst/>
                <a:latin typeface="Consolas" panose="020B0609020204030204" pitchFamily="49" charset="0"/>
              </a:rPr>
              <a:t>someNameOfYourChoice</a:t>
            </a:r>
            <a:r>
              <a:rPr lang="en-CA" sz="1400" b="0" dirty="0">
                <a:solidFill>
                  <a:srgbClr val="BBBEBF"/>
                </a:solidFill>
                <a:effectLst/>
                <a:latin typeface="Consolas" panose="020B0609020204030204" pitchFamily="49" charset="0"/>
              </a:rPr>
              <a:t> </a:t>
            </a:r>
            <a:r>
              <a:rPr lang="en-CA" sz="1400" b="0" dirty="0">
                <a:solidFill>
                  <a:srgbClr val="C586C0"/>
                </a:solidFill>
                <a:effectLst/>
                <a:latin typeface="Consolas" panose="020B0609020204030204" pitchFamily="49" charset="0"/>
              </a:rPr>
              <a:t>from</a:t>
            </a:r>
            <a:r>
              <a:rPr lang="en-CA" sz="1400" b="0" dirty="0">
                <a:solidFill>
                  <a:srgbClr val="BBBEBF"/>
                </a:solidFill>
                <a:effectLst/>
                <a:latin typeface="Consolas" panose="020B0609020204030204" pitchFamily="49" charset="0"/>
              </a:rPr>
              <a:t> </a:t>
            </a:r>
            <a:r>
              <a:rPr lang="en-CA" sz="1400" b="0" dirty="0">
                <a:solidFill>
                  <a:srgbClr val="A5D6FF"/>
                </a:solidFill>
                <a:effectLst/>
                <a:latin typeface="Consolas" panose="020B0609020204030204" pitchFamily="49" charset="0"/>
              </a:rPr>
              <a:t>'./path/to/file.js'</a:t>
            </a:r>
            <a:r>
              <a:rPr lang="en-CA" sz="1400" b="0" dirty="0">
                <a:solidFill>
                  <a:srgbClr val="BBBEBF"/>
                </a:solidFill>
                <a:effectLst/>
                <a:latin typeface="Consolas" panose="020B0609020204030204" pitchFamily="49" charset="0"/>
              </a:rPr>
              <a:t>;</a:t>
            </a:r>
            <a:br>
              <a:rPr lang="en-CA" sz="1400" b="0" dirty="0">
                <a:solidFill>
                  <a:srgbClr val="BBBEBF"/>
                </a:solidFill>
                <a:effectLst/>
                <a:latin typeface="Consolas" panose="020B0609020204030204" pitchFamily="49" charset="0"/>
              </a:rPr>
            </a:br>
            <a:endParaRPr lang="en-CA" sz="1400" b="0" dirty="0">
              <a:solidFill>
                <a:srgbClr val="BBBEBF"/>
              </a:solidFill>
              <a:effectLst/>
              <a:latin typeface="Consolas" panose="020B0609020204030204" pitchFamily="49" charset="0"/>
            </a:endParaRPr>
          </a:p>
          <a:p>
            <a:pPr>
              <a:lnSpc>
                <a:spcPct val="113095"/>
              </a:lnSpc>
              <a:buNone/>
            </a:pPr>
            <a:r>
              <a:rPr lang="en-CA" sz="1400" b="0" dirty="0">
                <a:solidFill>
                  <a:srgbClr val="8B949E"/>
                </a:solidFill>
                <a:effectLst/>
                <a:latin typeface="Consolas" panose="020B0609020204030204" pitchFamily="49" charset="0"/>
              </a:rPr>
              <a:t>//import named export</a:t>
            </a:r>
            <a:endParaRPr lang="en-CA" sz="1400" b="0" dirty="0">
              <a:solidFill>
                <a:srgbClr val="BBBEBF"/>
              </a:solidFill>
              <a:effectLst/>
              <a:latin typeface="Consolas" panose="020B0609020204030204" pitchFamily="49" charset="0"/>
            </a:endParaRPr>
          </a:p>
          <a:p>
            <a:pPr>
              <a:lnSpc>
                <a:spcPct val="113095"/>
              </a:lnSpc>
              <a:buNone/>
            </a:pPr>
            <a:r>
              <a:rPr lang="en-CA" sz="1400" b="0" dirty="0">
                <a:solidFill>
                  <a:srgbClr val="C586C0"/>
                </a:solidFill>
                <a:effectLst/>
                <a:latin typeface="Consolas" panose="020B0609020204030204" pitchFamily="49" charset="0"/>
              </a:rPr>
              <a:t>import</a:t>
            </a:r>
            <a:r>
              <a:rPr lang="en-CA" sz="1400" b="0" dirty="0">
                <a:solidFill>
                  <a:srgbClr val="BBBEBF"/>
                </a:solidFill>
                <a:effectLst/>
                <a:latin typeface="Consolas" panose="020B0609020204030204" pitchFamily="49" charset="0"/>
              </a:rPr>
              <a:t> </a:t>
            </a:r>
            <a:r>
              <a:rPr lang="en-CA" sz="1400" b="0" dirty="0">
                <a:solidFill>
                  <a:srgbClr val="C9D1D9"/>
                </a:solidFill>
                <a:effectLst/>
                <a:latin typeface="Consolas" panose="020B0609020204030204" pitchFamily="49" charset="0"/>
              </a:rPr>
              <a:t>{ </a:t>
            </a:r>
            <a:r>
              <a:rPr lang="en-CA" sz="1400" b="0" dirty="0" err="1">
                <a:solidFill>
                  <a:srgbClr val="C9D1D9"/>
                </a:solidFill>
                <a:effectLst/>
                <a:latin typeface="Consolas" panose="020B0609020204030204" pitchFamily="49" charset="0"/>
              </a:rPr>
              <a:t>someData</a:t>
            </a:r>
            <a:r>
              <a:rPr lang="en-CA" sz="1400" b="0" dirty="0">
                <a:solidFill>
                  <a:srgbClr val="C9D1D9"/>
                </a:solidFill>
                <a:effectLst/>
                <a:latin typeface="Consolas" panose="020B0609020204030204" pitchFamily="49" charset="0"/>
              </a:rPr>
              <a:t> }</a:t>
            </a:r>
            <a:r>
              <a:rPr lang="en-CA" sz="1400" b="0" dirty="0">
                <a:solidFill>
                  <a:srgbClr val="BBBEBF"/>
                </a:solidFill>
                <a:effectLst/>
                <a:latin typeface="Consolas" panose="020B0609020204030204" pitchFamily="49" charset="0"/>
              </a:rPr>
              <a:t> </a:t>
            </a:r>
            <a:r>
              <a:rPr lang="en-CA" sz="1400" b="0" dirty="0">
                <a:solidFill>
                  <a:srgbClr val="C586C0"/>
                </a:solidFill>
                <a:effectLst/>
                <a:latin typeface="Consolas" panose="020B0609020204030204" pitchFamily="49" charset="0"/>
              </a:rPr>
              <a:t>from</a:t>
            </a:r>
            <a:r>
              <a:rPr lang="en-CA" sz="1400" b="0" dirty="0">
                <a:solidFill>
                  <a:srgbClr val="BBBEBF"/>
                </a:solidFill>
                <a:effectLst/>
                <a:latin typeface="Consolas" panose="020B0609020204030204" pitchFamily="49" charset="0"/>
              </a:rPr>
              <a:t> </a:t>
            </a:r>
            <a:r>
              <a:rPr lang="en-CA" sz="1400" b="0" dirty="0">
                <a:solidFill>
                  <a:srgbClr val="A5D6FF"/>
                </a:solidFill>
                <a:effectLst/>
                <a:latin typeface="Consolas" panose="020B0609020204030204" pitchFamily="49" charset="0"/>
              </a:rPr>
              <a:t>'./path/to/file.js'</a:t>
            </a:r>
            <a:r>
              <a:rPr lang="en-CA" sz="1400" b="0" dirty="0">
                <a:solidFill>
                  <a:srgbClr val="BBBEBF"/>
                </a:solidFill>
                <a:effectLst/>
                <a:latin typeface="Consolas" panose="020B0609020204030204" pitchFamily="49" charset="0"/>
              </a:rPr>
              <a:t>;</a:t>
            </a:r>
          </a:p>
          <a:p>
            <a:pPr>
              <a:lnSpc>
                <a:spcPct val="113095"/>
              </a:lnSpc>
              <a:buNone/>
            </a:pPr>
            <a:endParaRPr lang="en-CA" dirty="0">
              <a:solidFill>
                <a:srgbClr val="BBBEBF"/>
              </a:solidFill>
              <a:latin typeface="Consolas" panose="020B0609020204030204" pitchFamily="49" charset="0"/>
            </a:endParaRPr>
          </a:p>
          <a:p>
            <a:pPr>
              <a:lnSpc>
                <a:spcPct val="113095"/>
              </a:lnSpc>
              <a:buNone/>
            </a:pPr>
            <a:endParaRPr lang="en-CA" sz="1400" b="0" dirty="0">
              <a:solidFill>
                <a:srgbClr val="BBBEBF"/>
              </a:solidFill>
              <a:effectLst/>
              <a:latin typeface="Consolas" panose="020B0609020204030204" pitchFamily="49" charset="0"/>
            </a:endParaRPr>
          </a:p>
          <a:p>
            <a:pPr marL="139700" indent="0">
              <a:buNone/>
            </a:pPr>
            <a:endParaRPr lang="en-US" dirty="0"/>
          </a:p>
          <a:p>
            <a:pPr marL="139700" indent="0">
              <a:buNone/>
            </a:pPr>
            <a:endParaRPr lang="en-CA" dirty="0"/>
          </a:p>
        </p:txBody>
      </p:sp>
      <p:sp>
        <p:nvSpPr>
          <p:cNvPr id="145" name="Google Shape;145;p25">
            <a:extLst>
              <a:ext uri="{FF2B5EF4-FFF2-40B4-BE49-F238E27FC236}">
                <a16:creationId xmlns:a16="http://schemas.microsoft.com/office/drawing/2014/main" id="{6D6F1A87-1BA8-D495-3533-7D15269FC456}"/>
              </a:ext>
            </a:extLst>
          </p:cNvPr>
          <p:cNvSpPr txBox="1"/>
          <p:nvPr/>
        </p:nvSpPr>
        <p:spPr>
          <a:xfrm>
            <a:off x="270589" y="1433373"/>
            <a:ext cx="3181738" cy="2566001"/>
          </a:xfrm>
          <a:prstGeom prst="rect">
            <a:avLst/>
          </a:prstGeom>
          <a:noFill/>
          <a:ln>
            <a:noFill/>
          </a:ln>
        </p:spPr>
        <p:txBody>
          <a:bodyPr spcFirstLastPara="1" wrap="square" lIns="91425" tIns="91425" rIns="91425" bIns="91425" anchor="t" anchorCtr="0">
            <a:noAutofit/>
          </a:bodyPr>
          <a:lstStyle/>
          <a:p>
            <a:pPr marL="139700" marR="0" lvl="0" indent="0" algn="l" defTabSz="914400" rtl="0" eaLnBrk="1" fontAlgn="auto" latinLnBrk="0" hangingPunct="1">
              <a:lnSpc>
                <a:spcPct val="115000"/>
              </a:lnSpc>
              <a:spcBef>
                <a:spcPts val="0"/>
              </a:spcBef>
              <a:spcAft>
                <a:spcPts val="0"/>
              </a:spcAft>
              <a:buClr>
                <a:srgbClr val="FFFFFF"/>
              </a:buClr>
              <a:buSzPts val="1400"/>
              <a:buFont typeface="Roboto"/>
              <a:buNone/>
              <a:tabLst/>
              <a:defRPr/>
            </a:pPr>
            <a:r>
              <a:rPr kumimoji="0" lang="en-US" sz="1400" b="0" i="0" u="none" strike="noStrike" kern="0" cap="none" spc="0" normalizeH="0" baseline="0" noProof="0" dirty="0">
                <a:ln>
                  <a:noFill/>
                </a:ln>
                <a:solidFill>
                  <a:srgbClr val="FFFFFF"/>
                </a:solidFill>
                <a:effectLst/>
                <a:uLnTx/>
                <a:uFillTx/>
                <a:latin typeface="Roboto"/>
                <a:ea typeface="Roboto"/>
                <a:cs typeface="Roboto"/>
                <a:sym typeface="Roboto"/>
              </a:rPr>
              <a:t>In React projects (and actually in all modern JavaScript projects), you split your code across multiple JavaScript files - so-called modules. You do this, to keep each file/module focused and manageable.</a:t>
            </a:r>
          </a:p>
          <a:p>
            <a:pPr marL="139700" marR="0" lvl="0" indent="0" algn="l" defTabSz="914400" rtl="0" eaLnBrk="1" fontAlgn="auto" latinLnBrk="0" hangingPunct="1">
              <a:lnSpc>
                <a:spcPct val="115000"/>
              </a:lnSpc>
              <a:spcBef>
                <a:spcPts val="0"/>
              </a:spcBef>
              <a:spcAft>
                <a:spcPts val="0"/>
              </a:spcAft>
              <a:buClr>
                <a:srgbClr val="FFFFFF"/>
              </a:buClr>
              <a:buSzPts val="1400"/>
              <a:buFont typeface="Roboto"/>
              <a:buNone/>
              <a:tabLst/>
              <a:defRPr/>
            </a:pPr>
            <a:endParaRPr kumimoji="0" lang="en-US" sz="1400" b="0" i="0" u="none" strike="noStrike" kern="0" cap="none" spc="0" normalizeH="0" baseline="0" noProof="0" dirty="0">
              <a:ln>
                <a:noFill/>
              </a:ln>
              <a:solidFill>
                <a:srgbClr val="FFFFFF"/>
              </a:solidFill>
              <a:effectLst/>
              <a:uLnTx/>
              <a:uFillTx/>
              <a:latin typeface="Roboto"/>
              <a:ea typeface="Roboto"/>
              <a:cs typeface="Roboto"/>
              <a:sym typeface="Roboto"/>
            </a:endParaRPr>
          </a:p>
          <a:p>
            <a:pPr marL="139700" marR="0" lvl="0" indent="0" algn="l" defTabSz="914400" rtl="0" eaLnBrk="1" fontAlgn="auto" latinLnBrk="0" hangingPunct="1">
              <a:lnSpc>
                <a:spcPct val="115000"/>
              </a:lnSpc>
              <a:spcBef>
                <a:spcPts val="0"/>
              </a:spcBef>
              <a:spcAft>
                <a:spcPts val="0"/>
              </a:spcAft>
              <a:buClr>
                <a:srgbClr val="FFFFFF"/>
              </a:buClr>
              <a:buSzPts val="1400"/>
              <a:buFont typeface="Roboto"/>
              <a:buNone/>
              <a:tabLst/>
              <a:defRPr/>
            </a:pPr>
            <a:r>
              <a:rPr kumimoji="0" lang="en-US" sz="1400" b="0" i="0" u="none" strike="noStrike" kern="0" cap="none" spc="0" normalizeH="0" baseline="0" noProof="0" dirty="0">
                <a:ln>
                  <a:noFill/>
                </a:ln>
                <a:solidFill>
                  <a:srgbClr val="FFFFFF"/>
                </a:solidFill>
                <a:effectLst/>
                <a:uLnTx/>
                <a:uFillTx/>
                <a:latin typeface="Roboto"/>
                <a:ea typeface="Roboto"/>
                <a:cs typeface="Roboto"/>
                <a:sym typeface="Roboto"/>
              </a:rPr>
              <a:t>To still access functionality in another file, you need export(to make it available) and import (to get access) statements.</a:t>
            </a:r>
            <a:endParaRPr lang="en-US" sz="1150" dirty="0">
              <a:solidFill>
                <a:srgbClr val="ECEFF1"/>
              </a:solidFill>
              <a:latin typeface="Roboto Mono"/>
              <a:ea typeface="Roboto Mono"/>
              <a:cs typeface="Roboto Mono"/>
              <a:sym typeface="Roboto Mono"/>
            </a:endParaRPr>
          </a:p>
        </p:txBody>
      </p:sp>
    </p:spTree>
    <p:extLst>
      <p:ext uri="{BB962C8B-B14F-4D97-AF65-F5344CB8AC3E}">
        <p14:creationId xmlns:p14="http://schemas.microsoft.com/office/powerpoint/2010/main" val="1003281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Advance Reading </a:t>
            </a:r>
            <a:endParaRPr dirty="0"/>
          </a:p>
        </p:txBody>
      </p:sp>
      <p:sp>
        <p:nvSpPr>
          <p:cNvPr id="157" name="Google Shape;157;p27"/>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r>
              <a:rPr lang="en-CA" dirty="0"/>
              <a:t>Read the instructions for the </a:t>
            </a:r>
            <a:r>
              <a:rPr lang="en-CA" i="1" dirty="0"/>
              <a:t>*Astronauts*</a:t>
            </a:r>
            <a:r>
              <a:rPr lang="en-CA" dirty="0"/>
              <a:t> demo and set up the Node project for that starter kit.</a:t>
            </a:r>
            <a:endParaRPr lang="en" dirty="0"/>
          </a:p>
          <a:p>
            <a:pPr lvl="0"/>
            <a:r>
              <a:rPr lang="en" dirty="0"/>
              <a:t>MDN JavaScript Promise</a:t>
            </a:r>
            <a:br>
              <a:rPr lang="en" dirty="0"/>
            </a:br>
            <a:r>
              <a:rPr lang="en-CA" dirty="0">
                <a:hlinkClick r:id="rId3"/>
              </a:rPr>
              <a:t>https://developer.mozilla.org/en-US/docs/Web/JavaScript/Reference/Global_Objects/Promise</a:t>
            </a:r>
            <a:endParaRPr lang="en-CA" dirty="0"/>
          </a:p>
          <a:p>
            <a:pPr lvl="0"/>
            <a:r>
              <a:rPr lang="en-US" dirty="0"/>
              <a:t>MDN </a:t>
            </a:r>
            <a:r>
              <a:rPr lang="en-US"/>
              <a:t>Fetch API: </a:t>
            </a:r>
            <a:r>
              <a:rPr lang="en-CA">
                <a:hlinkClick r:id="rId4"/>
              </a:rPr>
              <a:t>https</a:t>
            </a:r>
            <a:r>
              <a:rPr lang="en-CA" dirty="0">
                <a:hlinkClick r:id="rId4"/>
              </a:rPr>
              <a:t>://developer.mozilla.org/en-US/docs/Web/API/Fetch_API</a:t>
            </a:r>
            <a:endParaRPr lang="en-CA" dirty="0"/>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1625</TotalTime>
  <Words>3423</Words>
  <Application>Microsoft Office PowerPoint</Application>
  <PresentationFormat>On-screen Show (16:9)</PresentationFormat>
  <Paragraphs>338</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Roboto Mono</vt:lpstr>
      <vt:lpstr>Roboto Slab</vt:lpstr>
      <vt:lpstr>Roboto</vt:lpstr>
      <vt:lpstr>Arial</vt:lpstr>
      <vt:lpstr>Consolas</vt:lpstr>
      <vt:lpstr>Marina</vt:lpstr>
      <vt:lpstr>Advanced Javascript ES5, ES6 and Review</vt:lpstr>
      <vt:lpstr>Previously…</vt:lpstr>
      <vt:lpstr>Expectations - What I expect from you</vt:lpstr>
      <vt:lpstr>Where are we?</vt:lpstr>
      <vt:lpstr>ES5 vs Newer versions of ECMAScript </vt:lpstr>
      <vt:lpstr>Review</vt:lpstr>
      <vt:lpstr>Review - Variables and Block Scoping</vt:lpstr>
      <vt:lpstr>Review - Functions</vt:lpstr>
      <vt:lpstr>Review - If Statements</vt:lpstr>
      <vt:lpstr>Review - DOM API</vt:lpstr>
      <vt:lpstr>Review - Events</vt:lpstr>
      <vt:lpstr>Review - Arrays and Loops</vt:lpstr>
      <vt:lpstr>Extra Note - ES6 IIFE</vt:lpstr>
      <vt:lpstr>The Spread Operator</vt:lpstr>
      <vt:lpstr>The Spread Operator in Functions</vt:lpstr>
      <vt:lpstr>Destructuring</vt:lpstr>
      <vt:lpstr>Destructuring in Functions</vt:lpstr>
      <vt:lpstr>Exports &amp; Imports</vt:lpstr>
      <vt:lpstr>Example</vt:lpstr>
      <vt:lpstr>Advance Reading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15</cp:revision>
  <dcterms:modified xsi:type="dcterms:W3CDTF">2026-09-09T16:07:53Z</dcterms:modified>
</cp:coreProperties>
</file>