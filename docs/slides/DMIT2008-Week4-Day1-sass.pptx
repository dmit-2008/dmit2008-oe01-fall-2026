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6858000" cy="9144000"/>
  <p:embeddedFontLst>
    <p:embeddedFont>
      <p:font typeface="Consolas" panose="020B0609020204030204" pitchFamily="49" charset="0"/>
      <p:regular r:id="rId20"/>
      <p:bold r:id="rId21"/>
      <p:italic r:id="rId22"/>
      <p:boldItalic r:id="rId23"/>
    </p:embeddedFont>
    <p:embeddedFont>
      <p:font typeface="Roboto" panose="02000000000000000000" pitchFamily="2" charset="0"/>
      <p:regular r:id="rId24"/>
      <p:bold r:id="rId25"/>
      <p:italic r:id="rId26"/>
      <p:boldItalic r:id="rId27"/>
    </p:embeddedFont>
    <p:embeddedFont>
      <p:font typeface="Roboto Mono" panose="00000009000000000000" pitchFamily="49" charset="0"/>
      <p:regular r:id="rId28"/>
      <p:bold r:id="rId29"/>
      <p:italic r:id="rId30"/>
      <p:boldItalic r:id="rId31"/>
    </p:embeddedFont>
    <p:embeddedFont>
      <p:font typeface="Roboto Slab" pitchFamily="2" charset="0"/>
      <p:regular r:id="rId32"/>
      <p:bold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21" Type="http://schemas.openxmlformats.org/officeDocument/2006/relationships/font" Target="fonts/font2.fntdata"/><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font" Target="fonts/font1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5ad3a4879e_2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5ad3a4879e_2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4c141908b7_0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4c141908b7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5ad3a487a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5ad3a487a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7bc53e41f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7bc53e41f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7bc53e41fe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7bc53e41fe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7bc53e41fe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7bc53e41fe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7bc53e41fe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7bc53e41fe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7d6424e2ca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7d6424e2ca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7bc53e41fe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7bc53e41fe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7bc53e41fe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7bc53e41fe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7bc53e41fe_0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7bc53e41fe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7bc53e41fe_0_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7bc53e41fe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7bc53e41fe_0_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7bc53e41fe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7c04ea6420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7c04ea6420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7bc0a4b21a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7bc0a4b21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7b7fcc6223_3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7b7fcc6223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1524800" y="672606"/>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sp>
      <p:sp>
        <p:nvSpPr>
          <p:cNvPr id="11" name="Google Shape;11;p2"/>
          <p:cNvSpPr/>
          <p:nvPr/>
        </p:nvSpPr>
        <p:spPr>
          <a:xfrm rot="10800000">
            <a:off x="6537563" y="33429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sp>
      <p:cxnSp>
        <p:nvCxnSpPr>
          <p:cNvPr id="12" name="Google Shape;12;p2"/>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3" name="Google Shape;13;p2"/>
          <p:cNvSpPr txBox="1">
            <a:spLocks noGrp="1"/>
          </p:cNvSpPr>
          <p:nvPr>
            <p:ph type="ctrTitle"/>
          </p:nvPr>
        </p:nvSpPr>
        <p:spPr>
          <a:xfrm>
            <a:off x="1680302" y="1188925"/>
            <a:ext cx="5783400" cy="1457400"/>
          </a:xfrm>
          <a:prstGeom prst="rect">
            <a:avLst/>
          </a:prstGeom>
        </p:spPr>
        <p:txBody>
          <a:bodyPr spcFirstLastPara="1" wrap="square" lIns="91425" tIns="91425" rIns="91425" bIns="91425" anchor="b" anchorCtr="0">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endParaRPr/>
          </a:p>
        </p:txBody>
      </p:sp>
      <p:sp>
        <p:nvSpPr>
          <p:cNvPr id="14" name="Google Shape;14;p2"/>
          <p:cNvSpPr txBox="1">
            <a:spLocks noGrp="1"/>
          </p:cNvSpPr>
          <p:nvPr>
            <p:ph type="subTitle" idx="1"/>
          </p:nvPr>
        </p:nvSpPr>
        <p:spPr>
          <a:xfrm>
            <a:off x="1680302" y="3049450"/>
            <a:ext cx="5783400" cy="909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a:endParaRPr/>
          </a:p>
        </p:txBody>
      </p:sp>
      <p:sp>
        <p:nvSpPr>
          <p:cNvPr id="15" name="Google Shape;15;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8" name="Google Shape;18;p3"/>
          <p:cNvSpPr txBox="1">
            <a:spLocks noGrp="1"/>
          </p:cNvSpPr>
          <p:nvPr>
            <p:ph type="title"/>
          </p:nvPr>
        </p:nvSpPr>
        <p:spPr>
          <a:xfrm>
            <a:off x="480750" y="1764950"/>
            <a:ext cx="8222100" cy="907500"/>
          </a:xfrm>
          <a:prstGeom prst="rect">
            <a:avLst/>
          </a:prstGeom>
        </p:spPr>
        <p:txBody>
          <a:bodyPr spcFirstLastPara="1" wrap="square" lIns="91425" tIns="91425" rIns="91425" bIns="91425" anchor="b"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2" name="Google Shape;22;p4"/>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3" name="Google Shape;23;p4"/>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7" name="Google Shape;27;p5"/>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8" name="Google Shape;28;p5"/>
          <p:cNvSpPr txBox="1">
            <a:spLocks noGrp="1"/>
          </p:cNvSpPr>
          <p:nvPr>
            <p:ph type="body" idx="1"/>
          </p:nvPr>
        </p:nvSpPr>
        <p:spPr>
          <a:xfrm>
            <a:off x="387900" y="1489825"/>
            <a:ext cx="3999900" cy="3078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5"/>
          <p:cNvSpPr txBox="1">
            <a:spLocks noGrp="1"/>
          </p:cNvSpPr>
          <p:nvPr>
            <p:ph type="body" idx="2"/>
          </p:nvPr>
        </p:nvSpPr>
        <p:spPr>
          <a:xfrm>
            <a:off x="4756200" y="1489825"/>
            <a:ext cx="3999900" cy="3078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0" name="Google Shape;30;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3" name="Google Shape;33;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w="38100" cap="flat" cmpd="sng">
            <a:solidFill>
              <a:schemeClr val="accent4"/>
            </a:solidFill>
            <a:prstDash val="solid"/>
            <a:round/>
            <a:headEnd type="none" w="sm" len="sm"/>
            <a:tailEnd type="none" w="sm" len="sm"/>
          </a:ln>
        </p:spPr>
      </p:cxnSp>
      <p:sp>
        <p:nvSpPr>
          <p:cNvPr id="36" name="Google Shape;36;p7"/>
          <p:cNvSpPr txBox="1">
            <a:spLocks noGrp="1"/>
          </p:cNvSpPr>
          <p:nvPr>
            <p:ph type="title"/>
          </p:nvPr>
        </p:nvSpPr>
        <p:spPr>
          <a:xfrm>
            <a:off x="3879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7" name="Google Shape;37;p7"/>
          <p:cNvSpPr txBox="1">
            <a:spLocks noGrp="1"/>
          </p:cNvSpPr>
          <p:nvPr>
            <p:ph type="body" idx="1"/>
          </p:nvPr>
        </p:nvSpPr>
        <p:spPr>
          <a:xfrm>
            <a:off x="387900" y="1594025"/>
            <a:ext cx="2808000" cy="2681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8" name="Google Shape;3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1" name="Google Shape;41;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4" name="Google Shape;44;p9"/>
          <p:cNvCxnSpPr/>
          <p:nvPr/>
        </p:nvCxnSpPr>
        <p:spPr>
          <a:xfrm>
            <a:off x="5029675" y="4495503"/>
            <a:ext cx="540900" cy="0"/>
          </a:xfrm>
          <a:prstGeom prst="straightConnector1">
            <a:avLst/>
          </a:prstGeom>
          <a:noFill/>
          <a:ln w="38100" cap="flat" cmpd="sng">
            <a:solidFill>
              <a:schemeClr val="accent5"/>
            </a:solidFill>
            <a:prstDash val="solid"/>
            <a:round/>
            <a:headEnd type="none" w="sm" len="sm"/>
            <a:tailEnd type="none" w="sm" len="sm"/>
          </a:ln>
        </p:spPr>
      </p:cxnSp>
      <p:sp>
        <p:nvSpPr>
          <p:cNvPr id="45" name="Google Shape;45;p9"/>
          <p:cNvSpPr txBox="1">
            <a:spLocks noGrp="1"/>
          </p:cNvSpPr>
          <p:nvPr>
            <p:ph type="title"/>
          </p:nvPr>
        </p:nvSpPr>
        <p:spPr>
          <a:xfrm>
            <a:off x="265500" y="1209075"/>
            <a:ext cx="4045200" cy="1506300"/>
          </a:xfrm>
          <a:prstGeom prst="rect">
            <a:avLst/>
          </a:prstGeom>
        </p:spPr>
        <p:txBody>
          <a:bodyPr spcFirstLastPara="1" wrap="square" lIns="91425" tIns="91425" rIns="91425" bIns="91425" anchor="b" anchorCtr="0">
            <a:no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46" name="Google Shape;46;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a:endParaRPr/>
          </a:p>
        </p:txBody>
      </p:sp>
      <p:sp>
        <p:nvSpPr>
          <p:cNvPr id="47" name="Google Shape;47;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8" name="Google Shape;4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9"/>
        <p:cNvGrpSpPr/>
        <p:nvPr/>
      </p:nvGrpSpPr>
      <p:grpSpPr>
        <a:xfrm>
          <a:off x="0" y="0"/>
          <a:ext cx="0" cy="0"/>
          <a:chOff x="0" y="0"/>
          <a:chExt cx="0" cy="0"/>
        </a:xfrm>
      </p:grpSpPr>
      <p:sp>
        <p:nvSpPr>
          <p:cNvPr id="50" name="Google Shape;50;p10"/>
          <p:cNvSpPr txBox="1">
            <a:spLocks noGrp="1"/>
          </p:cNvSpPr>
          <p:nvPr>
            <p:ph type="body" idx="1"/>
          </p:nvPr>
        </p:nvSpPr>
        <p:spPr>
          <a:xfrm>
            <a:off x="319500" y="4233725"/>
            <a:ext cx="5998800" cy="598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a:endParaRPr/>
          </a:p>
        </p:txBody>
      </p:sp>
      <p:sp>
        <p:nvSpPr>
          <p:cNvPr id="51" name="Google Shape;51;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1"/>
          <p:cNvSpPr txBox="1">
            <a:spLocks noGrp="1"/>
          </p:cNvSpPr>
          <p:nvPr>
            <p:ph type="title" hasCustomPrompt="1"/>
          </p:nvPr>
        </p:nvSpPr>
        <p:spPr>
          <a:xfrm>
            <a:off x="387900" y="1152450"/>
            <a:ext cx="8368200" cy="15384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a:spLocks noGrp="1"/>
          </p:cNvSpPr>
          <p:nvPr>
            <p:ph type="body" idx="1"/>
          </p:nvPr>
        </p:nvSpPr>
        <p:spPr>
          <a:xfrm>
            <a:off x="387900" y="2919450"/>
            <a:ext cx="8368200" cy="10716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6" name="Google Shape;5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rina">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87900" y="458025"/>
            <a:ext cx="8368200" cy="6861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a:endParaRPr/>
          </a:p>
        </p:txBody>
      </p:sp>
      <p:sp>
        <p:nvSpPr>
          <p:cNvPr id="7" name="Google Shape;7;p1"/>
          <p:cNvSpPr txBox="1">
            <a:spLocks noGrp="1"/>
          </p:cNvSpPr>
          <p:nvPr>
            <p:ph type="body" idx="1"/>
          </p:nvPr>
        </p:nvSpPr>
        <p:spPr>
          <a:xfrm>
            <a:off x="387900" y="1489824"/>
            <a:ext cx="8368200" cy="30789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15000"/>
              </a:lnSpc>
              <a:spcBef>
                <a:spcPts val="160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s://trends.google.com/trends/explore?geo=US&amp;q=%2Fm%2F0gjd0jv,%2Fm%2F054k6n_"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sass-lang.com/documentation/syntax"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s://sass-lang.com/documentation/variables"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sass-lang.com/documentation/style-rules/parent-selector"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lesscss.org/features/#parent-selectors-feature" TargetMode="External"/><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hyperlink" Target="https://sass-lang.com/documentation/at-rules/mixin" TargetMode="External"/><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8" Type="http://schemas.openxmlformats.org/officeDocument/2006/relationships/hyperlink" Target="https://sass-lang.com/documentation/at-rules/function" TargetMode="External"/><Relationship Id="rId3" Type="http://schemas.openxmlformats.org/officeDocument/2006/relationships/hyperlink" Target="https://github.com/sass/libsass" TargetMode="External"/><Relationship Id="rId7" Type="http://schemas.openxmlformats.org/officeDocument/2006/relationships/hyperlink" Target="https://sass-lang.com/documentation/operators" TargetMode="External"/><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hyperlink" Target="https://sass-lang.com/documentation/values" TargetMode="External"/><Relationship Id="rId5" Type="http://schemas.openxmlformats.org/officeDocument/2006/relationships/hyperlink" Target="https://sass-lang.com/documentation/at-rules/extend" TargetMode="External"/><Relationship Id="rId4" Type="http://schemas.openxmlformats.org/officeDocument/2006/relationships/hyperlink" Target="https://sass-lang.com/documentation/at-rules/import"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andrew/node-sass-example" TargetMode="External"/><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hyperlink" Target="https://sass-lang.com/documentation/syntax" TargetMode="External"/><Relationship Id="rId4" Type="http://schemas.openxmlformats.org/officeDocument/2006/relationships/hyperlink" Target="https://sass-lang.com/documenta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3"/>
          <p:cNvSpPr txBox="1">
            <a:spLocks noGrp="1"/>
          </p:cNvSpPr>
          <p:nvPr>
            <p:ph type="ctrTitle"/>
          </p:nvPr>
        </p:nvSpPr>
        <p:spPr>
          <a:xfrm>
            <a:off x="1680302" y="1188925"/>
            <a:ext cx="5783400" cy="1457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Advanced Javascript</a:t>
            </a:r>
            <a:endParaRPr/>
          </a:p>
          <a:p>
            <a:pPr marL="0" lvl="0" indent="0" algn="ctr" rtl="0">
              <a:spcBef>
                <a:spcPts val="0"/>
              </a:spcBef>
              <a:spcAft>
                <a:spcPts val="0"/>
              </a:spcAft>
              <a:buNone/>
            </a:pPr>
            <a:r>
              <a:rPr lang="en"/>
              <a:t>CSS Preprocessors:</a:t>
            </a:r>
            <a:endParaRPr/>
          </a:p>
          <a:p>
            <a:pPr marL="0" lvl="0" indent="0" algn="ctr" rtl="0">
              <a:spcBef>
                <a:spcPts val="0"/>
              </a:spcBef>
              <a:spcAft>
                <a:spcPts val="0"/>
              </a:spcAft>
              <a:buNone/>
            </a:pPr>
            <a:r>
              <a:rPr lang="en"/>
              <a:t>Sass</a:t>
            </a:r>
            <a:endParaRPr/>
          </a:p>
        </p:txBody>
      </p:sp>
      <p:sp>
        <p:nvSpPr>
          <p:cNvPr id="64" name="Google Shape;64;p13"/>
          <p:cNvSpPr txBox="1">
            <a:spLocks noGrp="1"/>
          </p:cNvSpPr>
          <p:nvPr>
            <p:ph type="subTitle" idx="1"/>
          </p:nvPr>
        </p:nvSpPr>
        <p:spPr>
          <a:xfrm>
            <a:off x="1680302" y="3049450"/>
            <a:ext cx="5783400" cy="90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Javascript DMIT 2008</a:t>
            </a:r>
            <a:endParaRPr/>
          </a:p>
          <a:p>
            <a:pPr marL="0" lvl="0" indent="0" algn="ctr"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4"/>
          <p:cNvSpPr txBox="1">
            <a:spLocks noGrp="1"/>
          </p:cNvSpPr>
          <p:nvPr>
            <p:ph type="title"/>
          </p:nvPr>
        </p:nvSpPr>
        <p:spPr>
          <a:xfrm>
            <a:off x="480750" y="1764950"/>
            <a:ext cx="8222100" cy="907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Announcements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248400" y="1440025"/>
            <a:ext cx="4045200" cy="1506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Where are we?</a:t>
            </a:r>
            <a:endParaRPr/>
          </a:p>
        </p:txBody>
      </p:sp>
      <p:sp>
        <p:nvSpPr>
          <p:cNvPr id="75" name="Google Shape;75;p15"/>
          <p:cNvSpPr txBox="1">
            <a:spLocks noGrp="1"/>
          </p:cNvSpPr>
          <p:nvPr>
            <p:ph type="body" idx="2"/>
          </p:nvPr>
        </p:nvSpPr>
        <p:spPr>
          <a:xfrm>
            <a:off x="4946900" y="1086825"/>
            <a:ext cx="3837000" cy="3695100"/>
          </a:xfrm>
          <a:prstGeom prst="rect">
            <a:avLst/>
          </a:prstGeom>
        </p:spPr>
        <p:txBody>
          <a:bodyPr spcFirstLastPara="1" wrap="square" lIns="91425" tIns="91425" rIns="91425" bIns="91425" anchor="ctr" anchorCtr="0">
            <a:noAutofit/>
          </a:bodyPr>
          <a:lstStyle/>
          <a:p>
            <a:pPr marL="457200" lvl="0" indent="-342900" algn="l" rtl="0">
              <a:spcBef>
                <a:spcPts val="0"/>
              </a:spcBef>
              <a:spcAft>
                <a:spcPts val="0"/>
              </a:spcAft>
              <a:buSzPts val="1800"/>
              <a:buAutoNum type="arabicPeriod"/>
            </a:pPr>
            <a:r>
              <a:rPr lang="en"/>
              <a:t>Expectations</a:t>
            </a:r>
            <a:endParaRPr/>
          </a:p>
          <a:p>
            <a:pPr marL="457200" lvl="0" indent="-342900" algn="l" rtl="0">
              <a:spcBef>
                <a:spcPts val="0"/>
              </a:spcBef>
              <a:spcAft>
                <a:spcPts val="0"/>
              </a:spcAft>
              <a:buSzPts val="1800"/>
              <a:buAutoNum type="arabicPeriod"/>
            </a:pPr>
            <a:r>
              <a:rPr lang="en"/>
              <a:t>Sass, Less and CSS</a:t>
            </a:r>
            <a:endParaRPr/>
          </a:p>
          <a:p>
            <a:pPr marL="457200" lvl="0" indent="-342900" algn="l" rtl="0">
              <a:spcBef>
                <a:spcPts val="0"/>
              </a:spcBef>
              <a:spcAft>
                <a:spcPts val="0"/>
              </a:spcAft>
              <a:buSzPts val="1800"/>
              <a:buAutoNum type="arabicPeriod"/>
            </a:pPr>
            <a:r>
              <a:rPr lang="en"/>
              <a:t>An Overview of Sass</a:t>
            </a:r>
            <a:endParaRPr/>
          </a:p>
          <a:p>
            <a:pPr marL="457200" lvl="0" indent="-342900" algn="l" rtl="0">
              <a:spcBef>
                <a:spcPts val="0"/>
              </a:spcBef>
              <a:spcAft>
                <a:spcPts val="0"/>
              </a:spcAft>
              <a:buSzPts val="1800"/>
              <a:buAutoNum type="arabicPeriod"/>
            </a:pPr>
            <a:r>
              <a:rPr lang="en"/>
              <a:t>Intro to Sass and How to install Sass</a:t>
            </a:r>
            <a:endParaRPr/>
          </a:p>
          <a:p>
            <a:pPr marL="457200" lvl="0" indent="-342900" algn="l" rtl="0">
              <a:spcBef>
                <a:spcPts val="0"/>
              </a:spcBef>
              <a:spcAft>
                <a:spcPts val="0"/>
              </a:spcAft>
              <a:buSzPts val="1800"/>
              <a:buAutoNum type="arabicPeriod"/>
            </a:pPr>
            <a:r>
              <a:rPr lang="en"/>
              <a:t>How to use it? What will Sass do?</a:t>
            </a:r>
            <a:endParaRPr/>
          </a:p>
          <a:p>
            <a:pPr marL="457200" lvl="0" indent="-342900" algn="l" rtl="0">
              <a:spcBef>
                <a:spcPts val="0"/>
              </a:spcBef>
              <a:spcAft>
                <a:spcPts val="0"/>
              </a:spcAft>
              <a:buSzPts val="1800"/>
              <a:buAutoNum type="arabicPeriod"/>
            </a:pPr>
            <a:r>
              <a:rPr lang="en"/>
              <a:t>Sass, a language tour</a:t>
            </a:r>
            <a:endParaRPr/>
          </a:p>
          <a:p>
            <a:pPr marL="914400" lvl="1" indent="-317500" algn="l" rtl="0">
              <a:spcBef>
                <a:spcPts val="0"/>
              </a:spcBef>
              <a:spcAft>
                <a:spcPts val="0"/>
              </a:spcAft>
              <a:buSzPts val="1400"/>
              <a:buAutoNum type="alphaLcPeriod"/>
            </a:pPr>
            <a:r>
              <a:rPr lang="en"/>
              <a:t>Variables</a:t>
            </a:r>
            <a:endParaRPr/>
          </a:p>
          <a:p>
            <a:pPr marL="914400" lvl="1" indent="-317500" algn="l" rtl="0">
              <a:spcBef>
                <a:spcPts val="0"/>
              </a:spcBef>
              <a:spcAft>
                <a:spcPts val="0"/>
              </a:spcAft>
              <a:buSzPts val="1400"/>
              <a:buAutoNum type="alphaLcPeriod"/>
            </a:pPr>
            <a:r>
              <a:rPr lang="en"/>
              <a:t>Nesting</a:t>
            </a:r>
            <a:endParaRPr/>
          </a:p>
          <a:p>
            <a:pPr marL="914400" lvl="1" indent="-317500" algn="l" rtl="0">
              <a:spcBef>
                <a:spcPts val="0"/>
              </a:spcBef>
              <a:spcAft>
                <a:spcPts val="0"/>
              </a:spcAft>
              <a:buSzPts val="1400"/>
              <a:buAutoNum type="alphaLcPeriod"/>
            </a:pPr>
            <a:r>
              <a:rPr lang="en"/>
              <a:t>Mixins</a:t>
            </a:r>
            <a:endParaRPr/>
          </a:p>
          <a:p>
            <a:pPr marL="914400" lvl="1" indent="-317500" algn="l" rtl="0">
              <a:spcBef>
                <a:spcPts val="0"/>
              </a:spcBef>
              <a:spcAft>
                <a:spcPts val="0"/>
              </a:spcAft>
              <a:buSzPts val="1400"/>
              <a:buAutoNum type="alphaLcPeriod"/>
            </a:pPr>
            <a:r>
              <a:rPr lang="en"/>
              <a:t>Other features</a:t>
            </a:r>
            <a:endParaRPr/>
          </a:p>
          <a:p>
            <a:pPr marL="457200" lvl="0" indent="-342900" algn="l" rtl="0">
              <a:spcBef>
                <a:spcPts val="0"/>
              </a:spcBef>
              <a:spcAft>
                <a:spcPts val="0"/>
              </a:spcAft>
              <a:buSzPts val="1800"/>
              <a:buAutoNum type="arabicPeriod"/>
            </a:pPr>
            <a:r>
              <a:rPr lang="en"/>
              <a:t>Examples</a:t>
            </a:r>
            <a:endParaRPr/>
          </a:p>
          <a:p>
            <a:pPr marL="457200" lvl="0" indent="-342900" algn="l" rtl="0">
              <a:spcBef>
                <a:spcPts val="0"/>
              </a:spcBef>
              <a:spcAft>
                <a:spcPts val="0"/>
              </a:spcAft>
              <a:buSzPts val="1800"/>
              <a:buAutoNum type="arabicPeriod"/>
            </a:pPr>
            <a:r>
              <a:rPr lang="en"/>
              <a:t>Reading</a:t>
            </a:r>
            <a:endParaRPr/>
          </a:p>
          <a:p>
            <a:pPr marL="457200" lvl="0" indent="0" algn="l" rtl="0">
              <a:spcBef>
                <a:spcPts val="1600"/>
              </a:spcBef>
              <a:spcAft>
                <a:spcPts val="0"/>
              </a:spcAft>
              <a:buNone/>
            </a:pPr>
            <a:endParaRPr/>
          </a:p>
          <a:p>
            <a:pPr marL="457200" lvl="0" indent="0" algn="l" rtl="0">
              <a:spcBef>
                <a:spcPts val="1600"/>
              </a:spcBef>
              <a:spcAft>
                <a:spcPts val="160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Expectations - What I expect from you</a:t>
            </a:r>
            <a:endParaRPr/>
          </a:p>
        </p:txBody>
      </p:sp>
      <p:sp>
        <p:nvSpPr>
          <p:cNvPr id="81" name="Google Shape;81;p16"/>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Autofit/>
          </a:bodyPr>
          <a:lstStyle/>
          <a:p>
            <a:pPr>
              <a:buFont typeface="Roboto"/>
              <a:buAutoNum type="arabicPeriod"/>
            </a:pPr>
            <a:r>
              <a:rPr lang="en-US" dirty="0"/>
              <a:t>Pay Attention and ask questions while on session.</a:t>
            </a:r>
          </a:p>
          <a:p>
            <a:pPr>
              <a:buFont typeface="Roboto"/>
              <a:buAutoNum type="arabicPeriod"/>
            </a:pPr>
            <a:r>
              <a:rPr lang="en-US" dirty="0"/>
              <a:t>Follow along the coding exercises.</a:t>
            </a:r>
          </a:p>
          <a:p>
            <a:pPr>
              <a:buFont typeface="Roboto"/>
              <a:buAutoNum type="arabicPeriod"/>
            </a:pPr>
            <a:r>
              <a:rPr lang="en-US" dirty="0"/>
              <a:t>Focus on the task on hand, don’t go wandering.</a:t>
            </a:r>
          </a:p>
          <a:p>
            <a:pPr>
              <a:buFont typeface="Roboto"/>
              <a:buAutoNum type="arabicPeriod"/>
            </a:pPr>
            <a:r>
              <a:rPr lang="en-US" dirty="0"/>
              <a:t>No late submission of Assignments.</a:t>
            </a:r>
          </a:p>
          <a:p>
            <a:pPr>
              <a:buFont typeface="Roboto"/>
              <a:buAutoNum type="arabicPeriod"/>
            </a:pPr>
            <a:r>
              <a:rPr lang="en-US" dirty="0"/>
              <a:t>Commit your codes to your Assignment repositories day-to-day to </a:t>
            </a:r>
            <a:r>
              <a:rPr lang="en-CA" dirty="0"/>
              <a:t>demonstrate incremental development of your solution.</a:t>
            </a:r>
            <a:endParaRPr lang="en-US" dirty="0"/>
          </a:p>
          <a:p>
            <a:pPr>
              <a:buFont typeface="Roboto"/>
              <a:buAutoNum type="arabicPeriod"/>
            </a:pPr>
            <a:r>
              <a:rPr lang="en-US" dirty="0"/>
              <a:t>No cheating on exams.</a:t>
            </a:r>
          </a:p>
          <a:p>
            <a:pPr>
              <a:buFont typeface="Roboto"/>
              <a:buAutoNum type="arabicPeriod"/>
            </a:pPr>
            <a:r>
              <a:rPr lang="en-US" dirty="0"/>
              <a:t>Complete the final project.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7"/>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Sass, Less and CSS</a:t>
            </a:r>
            <a:endParaRPr/>
          </a:p>
        </p:txBody>
      </p:sp>
      <p:sp>
        <p:nvSpPr>
          <p:cNvPr id="87" name="Google Shape;87;p17"/>
          <p:cNvSpPr txBox="1">
            <a:spLocks noGrp="1"/>
          </p:cNvSpPr>
          <p:nvPr>
            <p:ph type="body" idx="1"/>
          </p:nvPr>
        </p:nvSpPr>
        <p:spPr>
          <a:xfrm>
            <a:off x="387900" y="1238199"/>
            <a:ext cx="83682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a:t>You’ve learned CSS in your other courses, so you’ve certainly had some experience with it. Sass and Less just build upon CSS, makes it easier for development, then builds css that is used on your page.</a:t>
            </a:r>
            <a:endParaRPr sz="1400"/>
          </a:p>
          <a:p>
            <a:pPr marL="0" lvl="0" indent="0" algn="l" rtl="0">
              <a:spcBef>
                <a:spcPts val="1600"/>
              </a:spcBef>
              <a:spcAft>
                <a:spcPts val="0"/>
              </a:spcAft>
              <a:buNone/>
            </a:pPr>
            <a:r>
              <a:rPr lang="en" sz="1400"/>
              <a:t>Sass and Less are preprocessors make it easier to read and structure your styles and make it easier to maintain. Less stands for Leaner Stylesheets. Sass stands for Syntactically Awesome Stylesheets.</a:t>
            </a:r>
            <a:endParaRPr sz="1400"/>
          </a:p>
          <a:p>
            <a:pPr marL="0" lvl="0" indent="0" algn="l" rtl="0">
              <a:spcBef>
                <a:spcPts val="1600"/>
              </a:spcBef>
              <a:spcAft>
                <a:spcPts val="0"/>
              </a:spcAft>
              <a:buNone/>
            </a:pPr>
            <a:r>
              <a:rPr lang="en" sz="1400"/>
              <a:t>What do Sass and Less Give us during development?</a:t>
            </a:r>
            <a:endParaRPr sz="1400"/>
          </a:p>
          <a:p>
            <a:pPr marL="457200" lvl="0" indent="-317500" algn="l" rtl="0">
              <a:spcBef>
                <a:spcPts val="1600"/>
              </a:spcBef>
              <a:spcAft>
                <a:spcPts val="0"/>
              </a:spcAft>
              <a:buSzPts val="1400"/>
              <a:buChar char="●"/>
            </a:pPr>
            <a:r>
              <a:rPr lang="en" sz="1400"/>
              <a:t>Variables </a:t>
            </a:r>
            <a:endParaRPr sz="1400"/>
          </a:p>
          <a:p>
            <a:pPr marL="457200" lvl="0" indent="-317500" algn="l" rtl="0">
              <a:spcBef>
                <a:spcPts val="0"/>
              </a:spcBef>
              <a:spcAft>
                <a:spcPts val="0"/>
              </a:spcAft>
              <a:buSzPts val="1400"/>
              <a:buChar char="●"/>
            </a:pPr>
            <a:r>
              <a:rPr lang="en" sz="1400"/>
              <a:t>Mixins</a:t>
            </a:r>
            <a:endParaRPr sz="1400"/>
          </a:p>
          <a:p>
            <a:pPr marL="457200" lvl="0" indent="-317500" algn="l" rtl="0">
              <a:spcBef>
                <a:spcPts val="0"/>
              </a:spcBef>
              <a:spcAft>
                <a:spcPts val="0"/>
              </a:spcAft>
              <a:buSzPts val="1400"/>
              <a:buChar char="●"/>
            </a:pPr>
            <a:r>
              <a:rPr lang="en" sz="1400"/>
              <a:t>Nested</a:t>
            </a:r>
            <a:endParaRPr sz="1400"/>
          </a:p>
          <a:p>
            <a:pPr marL="457200" lvl="0" indent="-317500" algn="l" rtl="0">
              <a:spcBef>
                <a:spcPts val="0"/>
              </a:spcBef>
              <a:spcAft>
                <a:spcPts val="0"/>
              </a:spcAft>
              <a:buSzPts val="1400"/>
              <a:buChar char="●"/>
            </a:pPr>
            <a:r>
              <a:rPr lang="en" sz="1400"/>
              <a:t>Builtin functions</a:t>
            </a:r>
            <a:endParaRPr sz="1400"/>
          </a:p>
          <a:p>
            <a:pPr marL="457200" lvl="0" indent="-317500" algn="l" rtl="0">
              <a:spcBef>
                <a:spcPts val="0"/>
              </a:spcBef>
              <a:spcAft>
                <a:spcPts val="0"/>
              </a:spcAft>
              <a:buSzPts val="1400"/>
              <a:buChar char="●"/>
            </a:pPr>
            <a:r>
              <a:rPr lang="en" sz="1400"/>
              <a:t>Conditions and Loops</a:t>
            </a:r>
            <a:endParaRPr sz="1400"/>
          </a:p>
          <a:p>
            <a:pPr marL="0" lvl="0" indent="0" algn="l" rtl="0">
              <a:spcBef>
                <a:spcPts val="1600"/>
              </a:spcBef>
              <a:spcAft>
                <a:spcPts val="1600"/>
              </a:spcAft>
              <a:buNone/>
            </a:pPr>
            <a:r>
              <a:rPr lang="en" sz="1400" u="sng">
                <a:solidFill>
                  <a:schemeClr val="hlink"/>
                </a:solidFill>
                <a:hlinkClick r:id="rId3"/>
              </a:rPr>
              <a:t>Google Trends CSS Preprocessors popularity comparison</a:t>
            </a:r>
            <a:endParaRPr sz="1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8"/>
          <p:cNvSpPr txBox="1">
            <a:spLocks noGrp="1"/>
          </p:cNvSpPr>
          <p:nvPr>
            <p:ph type="ctrTitle"/>
          </p:nvPr>
        </p:nvSpPr>
        <p:spPr>
          <a:xfrm>
            <a:off x="1635902" y="1211125"/>
            <a:ext cx="5783400" cy="1457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An Overview of Sass</a:t>
            </a:r>
            <a:endParaRPr/>
          </a:p>
        </p:txBody>
      </p:sp>
      <p:sp>
        <p:nvSpPr>
          <p:cNvPr id="93" name="Google Shape;93;p18"/>
          <p:cNvSpPr txBox="1">
            <a:spLocks noGrp="1"/>
          </p:cNvSpPr>
          <p:nvPr>
            <p:ph type="subTitle" idx="1"/>
          </p:nvPr>
        </p:nvSpPr>
        <p:spPr>
          <a:xfrm>
            <a:off x="1680302" y="3049450"/>
            <a:ext cx="5783400" cy="90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This is the more popular preprocessor alternative to Less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9"/>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Intro to Sass and How to install Sass</a:t>
            </a:r>
            <a:endParaRPr/>
          </a:p>
        </p:txBody>
      </p:sp>
      <p:sp>
        <p:nvSpPr>
          <p:cNvPr id="99" name="Google Shape;99;p19"/>
          <p:cNvSpPr txBox="1">
            <a:spLocks noGrp="1"/>
          </p:cNvSpPr>
          <p:nvPr>
            <p:ph type="body" idx="1"/>
          </p:nvPr>
        </p:nvSpPr>
        <p:spPr>
          <a:xfrm>
            <a:off x="387900" y="1238199"/>
            <a:ext cx="83682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a:t>Sass is a preprocessor just like less, the syntax is pretty similar but one thing to note is that it’s a bit more popular. Another important thing to note is that there are two ways to write sass. The indented syntax (uses the .sass extention) and the Scss (uses the .scss extention) syntax which is essentially a superset of CSS with some tweaks (we’ll be using this but you can use both interchangeably). If you click </a:t>
            </a:r>
            <a:r>
              <a:rPr lang="en" sz="1400" u="sng">
                <a:solidFill>
                  <a:schemeClr val="hlink"/>
                </a:solidFill>
                <a:hlinkClick r:id="rId3"/>
              </a:rPr>
              <a:t>here </a:t>
            </a:r>
            <a:r>
              <a:rPr lang="en" sz="1400"/>
              <a:t>you can look at the different syntax.</a:t>
            </a:r>
            <a:endParaRPr sz="1400"/>
          </a:p>
          <a:p>
            <a:pPr marL="0" lvl="0" indent="0" algn="l" rtl="0">
              <a:spcBef>
                <a:spcPts val="1600"/>
              </a:spcBef>
              <a:spcAft>
                <a:spcPts val="0"/>
              </a:spcAft>
              <a:buNone/>
            </a:pPr>
            <a:r>
              <a:rPr lang="en" sz="1400"/>
              <a:t>To install and use Sass (Syntactically Awesome Stylesheets) with js, you need to install it via NPM with the following command (in a project with a package.json):</a:t>
            </a:r>
            <a:endParaRPr sz="1400"/>
          </a:p>
          <a:p>
            <a:pPr marL="0" lvl="0" indent="0" algn="l" rtl="0">
              <a:spcBef>
                <a:spcPts val="1600"/>
              </a:spcBef>
              <a:spcAft>
                <a:spcPts val="0"/>
              </a:spcAft>
              <a:buNone/>
            </a:pPr>
            <a:r>
              <a:rPr lang="en" sz="1400">
                <a:solidFill>
                  <a:srgbClr val="DCDCDC"/>
                </a:solidFill>
                <a:latin typeface="Consolas"/>
                <a:ea typeface="Consolas"/>
                <a:cs typeface="Consolas"/>
                <a:sym typeface="Consolas"/>
              </a:rPr>
              <a:t>npm install node-sass --save-dev</a:t>
            </a:r>
            <a:endParaRPr sz="1400"/>
          </a:p>
          <a:p>
            <a:pPr marL="0" lvl="0" indent="0" algn="l" rtl="0">
              <a:spcBef>
                <a:spcPts val="0"/>
              </a:spcBef>
              <a:spcAft>
                <a:spcPts val="0"/>
              </a:spcAft>
              <a:buNone/>
            </a:pPr>
            <a:br>
              <a:rPr lang="en" sz="1400"/>
            </a:br>
            <a:r>
              <a:rPr lang="en" sz="1400"/>
              <a:t>How can you ensure that this this is installed properly? In your project (the same folder you installed it) you should see output using the following command.</a:t>
            </a:r>
            <a:endParaRPr sz="1400"/>
          </a:p>
          <a:p>
            <a:pPr marL="0" lvl="0" indent="0" algn="l" rtl="0">
              <a:spcBef>
                <a:spcPts val="1600"/>
              </a:spcBef>
              <a:spcAft>
                <a:spcPts val="0"/>
              </a:spcAft>
              <a:buNone/>
            </a:pPr>
            <a:r>
              <a:rPr lang="en" sz="1400">
                <a:solidFill>
                  <a:srgbClr val="DCDCDC"/>
                </a:solidFill>
                <a:latin typeface="Consolas"/>
                <a:ea typeface="Consolas"/>
                <a:cs typeface="Consolas"/>
                <a:sym typeface="Consolas"/>
              </a:rPr>
              <a:t>npx node-sass --help</a:t>
            </a:r>
            <a:endParaRPr sz="1400">
              <a:solidFill>
                <a:srgbClr val="DCDCDC"/>
              </a:solidFill>
              <a:latin typeface="Consolas"/>
              <a:ea typeface="Consolas"/>
              <a:cs typeface="Consolas"/>
              <a:sym typeface="Consolas"/>
            </a:endParaRPr>
          </a:p>
          <a:p>
            <a:pPr marL="0" lvl="0" indent="0" algn="l" rtl="0">
              <a:spcBef>
                <a:spcPts val="0"/>
              </a:spcBef>
              <a:spcAft>
                <a:spcPts val="0"/>
              </a:spcAft>
              <a:buNone/>
            </a:pPr>
            <a:endParaRPr sz="1400">
              <a:solidFill>
                <a:srgbClr val="DCDCDC"/>
              </a:solidFill>
              <a:latin typeface="Consolas"/>
              <a:ea typeface="Consolas"/>
              <a:cs typeface="Consolas"/>
              <a:sym typeface="Consolas"/>
            </a:endParaRPr>
          </a:p>
          <a:p>
            <a:pPr marL="0" lvl="0" indent="0" algn="l" rtl="0">
              <a:spcBef>
                <a:spcPts val="0"/>
              </a:spcBef>
              <a:spcAft>
                <a:spcPts val="0"/>
              </a:spcAft>
              <a:buNone/>
            </a:pPr>
            <a:endParaRPr sz="1400">
              <a:solidFill>
                <a:srgbClr val="DCDCDC"/>
              </a:solidFill>
              <a:latin typeface="Consolas"/>
              <a:ea typeface="Consolas"/>
              <a:cs typeface="Consolas"/>
              <a:sym typeface="Consola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0"/>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How to use it? What will less do?</a:t>
            </a:r>
            <a:endParaRPr/>
          </a:p>
        </p:txBody>
      </p:sp>
      <p:sp>
        <p:nvSpPr>
          <p:cNvPr id="105" name="Google Shape;105;p20"/>
          <p:cNvSpPr txBox="1">
            <a:spLocks noGrp="1"/>
          </p:cNvSpPr>
          <p:nvPr>
            <p:ph type="body" idx="1"/>
          </p:nvPr>
        </p:nvSpPr>
        <p:spPr>
          <a:xfrm>
            <a:off x="387900" y="1230824"/>
            <a:ext cx="83682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Sass will compile “.sass” or “.scss” files into “.css” files that you can link to in your html.</a:t>
            </a:r>
            <a:endParaRPr sz="1200"/>
          </a:p>
          <a:p>
            <a:pPr marL="0" lvl="0" indent="0" algn="l" rtl="0">
              <a:spcBef>
                <a:spcPts val="1600"/>
              </a:spcBef>
              <a:spcAft>
                <a:spcPts val="0"/>
              </a:spcAft>
              <a:buNone/>
            </a:pPr>
            <a:r>
              <a:rPr lang="en" sz="1200"/>
              <a:t>To use less what we need to do is first create sass file and after that we’ll build the css from those sass files! To build the file you use the following command:</a:t>
            </a:r>
            <a:br>
              <a:rPr lang="en" sz="1200"/>
            </a:br>
            <a:br>
              <a:rPr lang="en" sz="1200"/>
            </a:br>
            <a:r>
              <a:rPr lang="en" sz="1200">
                <a:solidFill>
                  <a:srgbClr val="DCDCDC"/>
                </a:solidFill>
                <a:latin typeface="Consolas"/>
                <a:ea typeface="Consolas"/>
                <a:cs typeface="Consolas"/>
                <a:sym typeface="Consolas"/>
              </a:rPr>
              <a:t>npx node-sass &lt;input-sass-file.scss&gt; &lt;output-css-file.css&gt; --watch</a:t>
            </a:r>
            <a:endParaRPr sz="1200"/>
          </a:p>
          <a:p>
            <a:pPr marL="0" lvl="0" indent="0" algn="l" rtl="0">
              <a:spcBef>
                <a:spcPts val="1600"/>
              </a:spcBef>
              <a:spcAft>
                <a:spcPts val="0"/>
              </a:spcAft>
              <a:buNone/>
            </a:pPr>
            <a:r>
              <a:rPr lang="en" sz="1200"/>
              <a:t>Note:</a:t>
            </a:r>
            <a:endParaRPr sz="1200"/>
          </a:p>
          <a:p>
            <a:pPr marL="457200" lvl="0" indent="-304800" algn="l" rtl="0">
              <a:spcBef>
                <a:spcPts val="1600"/>
              </a:spcBef>
              <a:spcAft>
                <a:spcPts val="0"/>
              </a:spcAft>
              <a:buSzPts val="1200"/>
              <a:buChar char="●"/>
            </a:pPr>
            <a:r>
              <a:rPr lang="en" sz="1200"/>
              <a:t>"</a:t>
            </a:r>
            <a:r>
              <a:rPr lang="en" sz="1200">
                <a:solidFill>
                  <a:srgbClr val="DCDCDC"/>
                </a:solidFill>
                <a:latin typeface="Consolas"/>
                <a:ea typeface="Consolas"/>
                <a:cs typeface="Consolas"/>
                <a:sym typeface="Consolas"/>
              </a:rPr>
              <a:t>npx node-sass</a:t>
            </a:r>
            <a:r>
              <a:rPr lang="en" sz="1200"/>
              <a:t>" is the command to build</a:t>
            </a:r>
            <a:endParaRPr sz="1200"/>
          </a:p>
          <a:p>
            <a:pPr marL="457200" lvl="0" indent="-304800" algn="l" rtl="0">
              <a:spcBef>
                <a:spcPts val="0"/>
              </a:spcBef>
              <a:spcAft>
                <a:spcPts val="0"/>
              </a:spcAft>
              <a:buSzPts val="1200"/>
              <a:buChar char="●"/>
            </a:pPr>
            <a:r>
              <a:rPr lang="en" sz="1200"/>
              <a:t>"</a:t>
            </a:r>
            <a:r>
              <a:rPr lang="en" sz="1200">
                <a:solidFill>
                  <a:srgbClr val="DCDCDC"/>
                </a:solidFill>
                <a:latin typeface="Consolas"/>
                <a:ea typeface="Consolas"/>
                <a:cs typeface="Consolas"/>
                <a:sym typeface="Consolas"/>
              </a:rPr>
              <a:t>&lt;input-sass-file.scss&gt;</a:t>
            </a:r>
            <a:r>
              <a:rPr lang="en" sz="1200"/>
              <a:t>" is the less file that you want converted</a:t>
            </a:r>
            <a:endParaRPr sz="1200"/>
          </a:p>
          <a:p>
            <a:pPr marL="457200" lvl="0" indent="-304800" algn="l" rtl="0">
              <a:spcBef>
                <a:spcPts val="0"/>
              </a:spcBef>
              <a:spcAft>
                <a:spcPts val="0"/>
              </a:spcAft>
              <a:buSzPts val="1200"/>
              <a:buChar char="●"/>
            </a:pPr>
            <a:r>
              <a:rPr lang="en" sz="1200"/>
              <a:t>"</a:t>
            </a:r>
            <a:r>
              <a:rPr lang="en" sz="1200">
                <a:solidFill>
                  <a:srgbClr val="DCDCDC"/>
                </a:solidFill>
                <a:latin typeface="Consolas"/>
                <a:ea typeface="Consolas"/>
                <a:cs typeface="Consolas"/>
                <a:sym typeface="Consolas"/>
              </a:rPr>
              <a:t>&lt;output-css-file.css&gt;</a:t>
            </a:r>
            <a:r>
              <a:rPr lang="en" sz="1200"/>
              <a:t>" is the output file that you will link to with your css.</a:t>
            </a:r>
            <a:endParaRPr sz="1200"/>
          </a:p>
          <a:p>
            <a:pPr marL="457200" lvl="0" indent="-304800" algn="l" rtl="0">
              <a:spcBef>
                <a:spcPts val="0"/>
              </a:spcBef>
              <a:spcAft>
                <a:spcPts val="0"/>
              </a:spcAft>
              <a:buSzPts val="1200"/>
              <a:buChar char="●"/>
            </a:pPr>
            <a:r>
              <a:rPr lang="en" sz="1200"/>
              <a:t>"</a:t>
            </a:r>
            <a:r>
              <a:rPr lang="en" sz="1200">
                <a:solidFill>
                  <a:srgbClr val="DCDCDC"/>
                </a:solidFill>
                <a:latin typeface="Consolas"/>
                <a:ea typeface="Consolas"/>
                <a:cs typeface="Consolas"/>
                <a:sym typeface="Consolas"/>
              </a:rPr>
              <a:t>--watch</a:t>
            </a:r>
            <a:r>
              <a:rPr lang="en" sz="1200"/>
              <a:t>" is optional, it builds a new css file every time you save your sass file (you need to keep this running, this will be a more common theme as we go along).</a:t>
            </a:r>
            <a:endParaRPr sz="1200"/>
          </a:p>
          <a:p>
            <a:pPr marL="0" lvl="0" indent="0" algn="l" rtl="0">
              <a:spcBef>
                <a:spcPts val="1600"/>
              </a:spcBef>
              <a:spcAft>
                <a:spcPts val="1600"/>
              </a:spcAft>
              <a:buNone/>
            </a:pPr>
            <a:r>
              <a:rPr lang="en" sz="1200"/>
              <a:t>As well just like we did with less you can include this command in your package.json file, so that you don’t have to remember all of the options that you might have used.</a:t>
            </a:r>
            <a:endParaRPr sz="12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1"/>
          <p:cNvSpPr txBox="1">
            <a:spLocks noGrp="1"/>
          </p:cNvSpPr>
          <p:nvPr>
            <p:ph type="title"/>
          </p:nvPr>
        </p:nvSpPr>
        <p:spPr>
          <a:xfrm>
            <a:off x="248400" y="1440025"/>
            <a:ext cx="4045200" cy="1506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Where are we?</a:t>
            </a:r>
            <a:endParaRPr/>
          </a:p>
        </p:txBody>
      </p:sp>
      <p:sp>
        <p:nvSpPr>
          <p:cNvPr id="111" name="Google Shape;111;p21"/>
          <p:cNvSpPr txBox="1">
            <a:spLocks noGrp="1"/>
          </p:cNvSpPr>
          <p:nvPr>
            <p:ph type="body" idx="2"/>
          </p:nvPr>
        </p:nvSpPr>
        <p:spPr>
          <a:xfrm>
            <a:off x="4946900" y="1086825"/>
            <a:ext cx="3837000" cy="3695100"/>
          </a:xfrm>
          <a:prstGeom prst="rect">
            <a:avLst/>
          </a:prstGeom>
        </p:spPr>
        <p:txBody>
          <a:bodyPr spcFirstLastPara="1" wrap="square" lIns="91425" tIns="91425" rIns="91425" bIns="91425" anchor="ctr" anchorCtr="0">
            <a:noAutofit/>
          </a:bodyPr>
          <a:lstStyle/>
          <a:p>
            <a:pPr marL="457200" lvl="0" indent="-342900" algn="l" rtl="0">
              <a:spcBef>
                <a:spcPts val="0"/>
              </a:spcBef>
              <a:spcAft>
                <a:spcPts val="0"/>
              </a:spcAft>
              <a:buSzPts val="1800"/>
              <a:buAutoNum type="arabicPeriod"/>
            </a:pPr>
            <a:r>
              <a:rPr lang="en"/>
              <a:t>Expectations</a:t>
            </a:r>
            <a:endParaRPr/>
          </a:p>
          <a:p>
            <a:pPr marL="457200" lvl="0" indent="-342900" algn="l" rtl="0">
              <a:spcBef>
                <a:spcPts val="0"/>
              </a:spcBef>
              <a:spcAft>
                <a:spcPts val="0"/>
              </a:spcAft>
              <a:buSzPts val="1800"/>
              <a:buAutoNum type="arabicPeriod"/>
            </a:pPr>
            <a:r>
              <a:rPr lang="en"/>
              <a:t>Sass, Less and CSS</a:t>
            </a:r>
            <a:endParaRPr/>
          </a:p>
          <a:p>
            <a:pPr marL="457200" lvl="0" indent="-342900" algn="l" rtl="0">
              <a:spcBef>
                <a:spcPts val="0"/>
              </a:spcBef>
              <a:spcAft>
                <a:spcPts val="0"/>
              </a:spcAft>
              <a:buSzPts val="1800"/>
              <a:buAutoNum type="arabicPeriod"/>
            </a:pPr>
            <a:r>
              <a:rPr lang="en"/>
              <a:t>An Overview of Sass</a:t>
            </a:r>
            <a:endParaRPr/>
          </a:p>
          <a:p>
            <a:pPr marL="457200" lvl="0" indent="-342900" algn="l" rtl="0">
              <a:spcBef>
                <a:spcPts val="0"/>
              </a:spcBef>
              <a:spcAft>
                <a:spcPts val="0"/>
              </a:spcAft>
              <a:buSzPts val="1800"/>
              <a:buAutoNum type="arabicPeriod"/>
            </a:pPr>
            <a:r>
              <a:rPr lang="en"/>
              <a:t>Intro to Sass and How to install Sass</a:t>
            </a:r>
            <a:endParaRPr/>
          </a:p>
          <a:p>
            <a:pPr marL="457200" lvl="0" indent="-342900" algn="l" rtl="0">
              <a:spcBef>
                <a:spcPts val="0"/>
              </a:spcBef>
              <a:spcAft>
                <a:spcPts val="0"/>
              </a:spcAft>
              <a:buSzPts val="1800"/>
              <a:buAutoNum type="arabicPeriod"/>
            </a:pPr>
            <a:r>
              <a:rPr lang="en"/>
              <a:t>How to use it? What will Sass do?</a:t>
            </a:r>
            <a:endParaRPr/>
          </a:p>
          <a:p>
            <a:pPr marL="457200" lvl="0" indent="-342900" algn="l" rtl="0">
              <a:spcBef>
                <a:spcPts val="0"/>
              </a:spcBef>
              <a:spcAft>
                <a:spcPts val="0"/>
              </a:spcAft>
              <a:buSzPts val="1800"/>
              <a:buAutoNum type="arabicPeriod"/>
            </a:pPr>
            <a:r>
              <a:rPr lang="en"/>
              <a:t>Less, a language tour</a:t>
            </a:r>
            <a:endParaRPr/>
          </a:p>
          <a:p>
            <a:pPr marL="914400" lvl="1" indent="-317500" algn="l" rtl="0">
              <a:spcBef>
                <a:spcPts val="0"/>
              </a:spcBef>
              <a:spcAft>
                <a:spcPts val="0"/>
              </a:spcAft>
              <a:buSzPts val="1400"/>
              <a:buAutoNum type="alphaLcPeriod"/>
            </a:pPr>
            <a:r>
              <a:rPr lang="en"/>
              <a:t>Variables</a:t>
            </a:r>
            <a:endParaRPr/>
          </a:p>
          <a:p>
            <a:pPr marL="914400" lvl="1" indent="-317500" algn="l" rtl="0">
              <a:spcBef>
                <a:spcPts val="0"/>
              </a:spcBef>
              <a:spcAft>
                <a:spcPts val="0"/>
              </a:spcAft>
              <a:buSzPts val="1400"/>
              <a:buAutoNum type="alphaLcPeriod"/>
            </a:pPr>
            <a:r>
              <a:rPr lang="en"/>
              <a:t>Nesting</a:t>
            </a:r>
            <a:endParaRPr/>
          </a:p>
          <a:p>
            <a:pPr marL="914400" lvl="1" indent="-317500" algn="l" rtl="0">
              <a:spcBef>
                <a:spcPts val="0"/>
              </a:spcBef>
              <a:spcAft>
                <a:spcPts val="0"/>
              </a:spcAft>
              <a:buSzPts val="1400"/>
              <a:buAutoNum type="alphaLcPeriod"/>
            </a:pPr>
            <a:r>
              <a:rPr lang="en"/>
              <a:t>Mixins</a:t>
            </a:r>
            <a:endParaRPr/>
          </a:p>
          <a:p>
            <a:pPr marL="914400" lvl="1" indent="-317500" algn="l" rtl="0">
              <a:spcBef>
                <a:spcPts val="0"/>
              </a:spcBef>
              <a:spcAft>
                <a:spcPts val="0"/>
              </a:spcAft>
              <a:buSzPts val="1400"/>
              <a:buAutoNum type="alphaLcPeriod"/>
            </a:pPr>
            <a:r>
              <a:rPr lang="en"/>
              <a:t>Other features</a:t>
            </a:r>
            <a:endParaRPr/>
          </a:p>
          <a:p>
            <a:pPr marL="457200" lvl="0" indent="-342900" algn="l" rtl="0">
              <a:spcBef>
                <a:spcPts val="0"/>
              </a:spcBef>
              <a:spcAft>
                <a:spcPts val="0"/>
              </a:spcAft>
              <a:buSzPts val="1800"/>
              <a:buAutoNum type="arabicPeriod"/>
            </a:pPr>
            <a:r>
              <a:rPr lang="en"/>
              <a:t>Examples</a:t>
            </a:r>
            <a:endParaRPr/>
          </a:p>
          <a:p>
            <a:pPr marL="457200" lvl="0" indent="-342900" algn="l" rtl="0">
              <a:spcBef>
                <a:spcPts val="0"/>
              </a:spcBef>
              <a:spcAft>
                <a:spcPts val="0"/>
              </a:spcAft>
              <a:buSzPts val="1800"/>
              <a:buAutoNum type="arabicPeriod"/>
            </a:pPr>
            <a:r>
              <a:rPr lang="en"/>
              <a:t>Reading</a:t>
            </a:r>
            <a:endParaRPr/>
          </a:p>
          <a:p>
            <a:pPr marL="457200" lvl="0" indent="0" algn="l" rtl="0">
              <a:spcBef>
                <a:spcPts val="1600"/>
              </a:spcBef>
              <a:spcAft>
                <a:spcPts val="0"/>
              </a:spcAft>
              <a:buNone/>
            </a:pPr>
            <a:endParaRPr/>
          </a:p>
          <a:p>
            <a:pPr marL="457200" lvl="0" indent="0" algn="l" rtl="0">
              <a:spcBef>
                <a:spcPts val="1600"/>
              </a:spcBef>
              <a:spcAft>
                <a:spcPts val="160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2"/>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Sass, a language tour</a:t>
            </a:r>
            <a:endParaRPr/>
          </a:p>
        </p:txBody>
      </p:sp>
      <p:sp>
        <p:nvSpPr>
          <p:cNvPr id="117" name="Google Shape;117;p22"/>
          <p:cNvSpPr txBox="1">
            <a:spLocks noGrp="1"/>
          </p:cNvSpPr>
          <p:nvPr>
            <p:ph type="body" idx="1"/>
          </p:nvPr>
        </p:nvSpPr>
        <p:spPr>
          <a:xfrm>
            <a:off x="387900" y="1230824"/>
            <a:ext cx="83682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We’re going to take a look at some of reasons why sass is so powerful and see a couple of examples of them.</a:t>
            </a:r>
            <a:endParaRPr/>
          </a:p>
          <a:p>
            <a:pPr marL="0" lvl="0" indent="0" algn="l" rtl="0">
              <a:spcBef>
                <a:spcPts val="1600"/>
              </a:spcBef>
              <a:spcAft>
                <a:spcPts val="0"/>
              </a:spcAft>
              <a:buNone/>
            </a:pPr>
            <a:r>
              <a:rPr lang="en"/>
              <a:t>Features that we’re going to look at that are awesome:</a:t>
            </a:r>
            <a:endParaRPr/>
          </a:p>
          <a:p>
            <a:pPr marL="457200" lvl="0" indent="-342900" algn="l" rtl="0">
              <a:spcBef>
                <a:spcPts val="1600"/>
              </a:spcBef>
              <a:spcAft>
                <a:spcPts val="0"/>
              </a:spcAft>
              <a:buSzPts val="1800"/>
              <a:buChar char="●"/>
            </a:pPr>
            <a:r>
              <a:rPr lang="en"/>
              <a:t>Variables</a:t>
            </a:r>
            <a:endParaRPr/>
          </a:p>
          <a:p>
            <a:pPr marL="457200" lvl="0" indent="-342900" algn="l" rtl="0">
              <a:spcBef>
                <a:spcPts val="0"/>
              </a:spcBef>
              <a:spcAft>
                <a:spcPts val="0"/>
              </a:spcAft>
              <a:buSzPts val="1800"/>
              <a:buChar char="●"/>
            </a:pPr>
            <a:r>
              <a:rPr lang="en"/>
              <a:t>Nesting and some parent Selectors</a:t>
            </a:r>
            <a:endParaRPr/>
          </a:p>
          <a:p>
            <a:pPr marL="457200" lvl="0" indent="-342900" algn="l" rtl="0">
              <a:spcBef>
                <a:spcPts val="0"/>
              </a:spcBef>
              <a:spcAft>
                <a:spcPts val="0"/>
              </a:spcAft>
              <a:buSzPts val="1800"/>
              <a:buChar char="●"/>
            </a:pPr>
            <a:r>
              <a:rPr lang="en"/>
              <a:t>Mixins</a:t>
            </a:r>
            <a:endParaRPr/>
          </a:p>
          <a:p>
            <a:pPr marL="457200" lvl="0" indent="-342900" algn="l" rtl="0">
              <a:spcBef>
                <a:spcPts val="0"/>
              </a:spcBef>
              <a:spcAft>
                <a:spcPts val="0"/>
              </a:spcAft>
              <a:buSzPts val="1800"/>
              <a:buChar char="●"/>
            </a:pPr>
            <a:r>
              <a:rPr lang="en"/>
              <a:t>Some other features.</a:t>
            </a:r>
            <a:endParaRPr/>
          </a:p>
          <a:p>
            <a:pPr marL="0" lvl="0" indent="0" algn="l" rtl="0">
              <a:spcBef>
                <a:spcPts val="1600"/>
              </a:spcBef>
              <a:spcAft>
                <a:spcPts val="160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3"/>
          <p:cNvSpPr txBox="1">
            <a:spLocks noGrp="1"/>
          </p:cNvSpPr>
          <p:nvPr>
            <p:ph type="title"/>
          </p:nvPr>
        </p:nvSpPr>
        <p:spPr>
          <a:xfrm>
            <a:off x="387900" y="5447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Sass: Variables</a:t>
            </a:r>
            <a:endParaRPr/>
          </a:p>
        </p:txBody>
      </p:sp>
      <p:sp>
        <p:nvSpPr>
          <p:cNvPr id="123" name="Google Shape;123;p23"/>
          <p:cNvSpPr txBox="1">
            <a:spLocks noGrp="1"/>
          </p:cNvSpPr>
          <p:nvPr>
            <p:ph type="body" idx="1"/>
          </p:nvPr>
        </p:nvSpPr>
        <p:spPr>
          <a:xfrm>
            <a:off x="387900" y="1230825"/>
            <a:ext cx="36972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a:t>Sass Variables just like less, allow us to reduce the repetition.</a:t>
            </a:r>
            <a:endParaRPr sz="1400"/>
          </a:p>
          <a:p>
            <a:pPr marL="0" lvl="0" indent="0" algn="l" rtl="0">
              <a:spcBef>
                <a:spcPts val="1600"/>
              </a:spcBef>
              <a:spcAft>
                <a:spcPts val="0"/>
              </a:spcAft>
              <a:buNone/>
            </a:pPr>
            <a:r>
              <a:rPr lang="en" sz="1400"/>
              <a:t>Say for example you’d like to change theme colors for your site? Great! You only have to change in one place which awesome.</a:t>
            </a:r>
            <a:endParaRPr sz="1400"/>
          </a:p>
          <a:p>
            <a:pPr marL="0" lvl="0" indent="0" algn="l" rtl="0">
              <a:spcBef>
                <a:spcPts val="1600"/>
              </a:spcBef>
              <a:spcAft>
                <a:spcPts val="1600"/>
              </a:spcAft>
              <a:buNone/>
            </a:pPr>
            <a:r>
              <a:rPr lang="en" sz="1400"/>
              <a:t>To create variables you just to initialize it with “</a:t>
            </a:r>
            <a:r>
              <a:rPr lang="en" sz="1150">
                <a:solidFill>
                  <a:srgbClr val="ECEFF1"/>
                </a:solidFill>
                <a:latin typeface="Roboto Mono"/>
                <a:ea typeface="Roboto Mono"/>
                <a:cs typeface="Roboto Mono"/>
                <a:sym typeface="Roboto Mono"/>
              </a:rPr>
              <a:t>$</a:t>
            </a:r>
            <a:r>
              <a:rPr lang="en" sz="1400"/>
              <a:t>”, you can see this on the right example.</a:t>
            </a:r>
            <a:endParaRPr sz="1400"/>
          </a:p>
        </p:txBody>
      </p:sp>
      <p:sp>
        <p:nvSpPr>
          <p:cNvPr id="124" name="Google Shape;124;p23"/>
          <p:cNvSpPr txBox="1">
            <a:spLocks noGrp="1"/>
          </p:cNvSpPr>
          <p:nvPr>
            <p:ph type="body" idx="1"/>
          </p:nvPr>
        </p:nvSpPr>
        <p:spPr>
          <a:xfrm>
            <a:off x="5058900" y="335200"/>
            <a:ext cx="3697200" cy="686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400"/>
              <a:t>Example:</a:t>
            </a:r>
            <a:br>
              <a:rPr lang="en" sz="1400"/>
            </a:br>
            <a:r>
              <a:rPr lang="en" sz="1400"/>
              <a:t>Sass file:</a:t>
            </a:r>
            <a:endParaRPr sz="1400"/>
          </a:p>
        </p:txBody>
      </p:sp>
      <p:sp>
        <p:nvSpPr>
          <p:cNvPr id="125" name="Google Shape;125;p23"/>
          <p:cNvSpPr txBox="1">
            <a:spLocks noGrp="1"/>
          </p:cNvSpPr>
          <p:nvPr>
            <p:ph type="body" idx="1"/>
          </p:nvPr>
        </p:nvSpPr>
        <p:spPr>
          <a:xfrm>
            <a:off x="5058900" y="2619988"/>
            <a:ext cx="3697200" cy="686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400"/>
              <a:t>After processing it becomes:</a:t>
            </a:r>
            <a:br>
              <a:rPr lang="en" sz="1400"/>
            </a:br>
            <a:r>
              <a:rPr lang="en" sz="1400"/>
              <a:t>CSS file:</a:t>
            </a:r>
            <a:endParaRPr sz="1400"/>
          </a:p>
        </p:txBody>
      </p:sp>
      <p:sp>
        <p:nvSpPr>
          <p:cNvPr id="126" name="Google Shape;126;p23"/>
          <p:cNvSpPr txBox="1">
            <a:spLocks noGrp="1"/>
          </p:cNvSpPr>
          <p:nvPr>
            <p:ph type="body" idx="1"/>
          </p:nvPr>
        </p:nvSpPr>
        <p:spPr>
          <a:xfrm>
            <a:off x="5058900" y="4407725"/>
            <a:ext cx="3504600" cy="84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Resources:</a:t>
            </a:r>
            <a:br>
              <a:rPr lang="en" sz="1200"/>
            </a:br>
            <a:r>
              <a:rPr lang="en" sz="1100" u="sng">
                <a:solidFill>
                  <a:schemeClr val="hlink"/>
                </a:solidFill>
                <a:latin typeface="Arial"/>
                <a:ea typeface="Arial"/>
                <a:cs typeface="Arial"/>
                <a:sym typeface="Arial"/>
                <a:hlinkClick r:id="rId3"/>
              </a:rPr>
              <a:t>https://sass-lang.com/documentation/variables</a:t>
            </a:r>
            <a:endParaRPr sz="1200"/>
          </a:p>
          <a:p>
            <a:pPr marL="0" lvl="0" indent="0" algn="l" rtl="0">
              <a:spcBef>
                <a:spcPts val="1600"/>
              </a:spcBef>
              <a:spcAft>
                <a:spcPts val="1600"/>
              </a:spcAft>
              <a:buNone/>
            </a:pPr>
            <a:endParaRPr sz="1200"/>
          </a:p>
        </p:txBody>
      </p:sp>
      <p:sp>
        <p:nvSpPr>
          <p:cNvPr id="127" name="Google Shape;127;p23"/>
          <p:cNvSpPr txBox="1"/>
          <p:nvPr/>
        </p:nvSpPr>
        <p:spPr>
          <a:xfrm>
            <a:off x="5284100" y="940625"/>
            <a:ext cx="4026000" cy="204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a:t>
            </a:r>
            <a:r>
              <a:rPr lang="en" sz="1150">
                <a:solidFill>
                  <a:srgbClr val="4DD0E1"/>
                </a:solidFill>
                <a:latin typeface="Roboto Mono"/>
                <a:ea typeface="Roboto Mono"/>
                <a:cs typeface="Roboto Mono"/>
                <a:sym typeface="Roboto Mono"/>
              </a:rPr>
              <a:t>theme-color</a:t>
            </a:r>
            <a:r>
              <a:rPr lang="en" sz="1150">
                <a:solidFill>
                  <a:srgbClr val="ECEFF1"/>
                </a:solidFill>
                <a:latin typeface="Roboto Mono"/>
                <a:ea typeface="Roboto Mono"/>
                <a:cs typeface="Roboto Mono"/>
                <a:sym typeface="Roboto Mono"/>
              </a:rPr>
              <a:t>: </a:t>
            </a:r>
            <a:r>
              <a:rPr lang="en" sz="1150">
                <a:solidFill>
                  <a:srgbClr val="FBC02D"/>
                </a:solidFill>
                <a:latin typeface="Roboto Mono"/>
                <a:ea typeface="Roboto Mono"/>
                <a:cs typeface="Roboto Mono"/>
                <a:sym typeface="Roboto Mono"/>
              </a:rPr>
              <a:t>#fff</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p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background-color</a:t>
            </a:r>
            <a:r>
              <a:rPr lang="en" sz="1150">
                <a:solidFill>
                  <a:srgbClr val="ECEFF1"/>
                </a:solidFill>
                <a:latin typeface="Roboto Mono"/>
                <a:ea typeface="Roboto Mono"/>
                <a:cs typeface="Roboto Mono"/>
                <a:sym typeface="Roboto Mono"/>
              </a:rPr>
              <a:t>: $theme-color;</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a:t>
            </a:r>
            <a:br>
              <a:rPr lang="en" sz="1150">
                <a:solidFill>
                  <a:srgbClr val="ECEFF1"/>
                </a:solidFill>
                <a:latin typeface="Roboto Mono"/>
                <a:ea typeface="Roboto Mono"/>
                <a:cs typeface="Roboto Mono"/>
                <a:sym typeface="Roboto Mono"/>
              </a:rPr>
            </a:b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h1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background-color</a:t>
            </a:r>
            <a:r>
              <a:rPr lang="en" sz="1150">
                <a:solidFill>
                  <a:srgbClr val="ECEFF1"/>
                </a:solidFill>
                <a:latin typeface="Roboto Mono"/>
                <a:ea typeface="Roboto Mono"/>
                <a:cs typeface="Roboto Mono"/>
                <a:sym typeface="Roboto Mono"/>
              </a:rPr>
              <a:t>: $theme-color;</a:t>
            </a:r>
            <a:endParaRPr sz="11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p:txBody>
      </p:sp>
      <p:sp>
        <p:nvSpPr>
          <p:cNvPr id="128" name="Google Shape;128;p23"/>
          <p:cNvSpPr txBox="1"/>
          <p:nvPr/>
        </p:nvSpPr>
        <p:spPr>
          <a:xfrm>
            <a:off x="5284100" y="3145325"/>
            <a:ext cx="3000000" cy="126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p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background-color</a:t>
            </a:r>
            <a:r>
              <a:rPr lang="en" sz="1150">
                <a:solidFill>
                  <a:srgbClr val="ECEFF1"/>
                </a:solidFill>
                <a:latin typeface="Roboto Mono"/>
                <a:ea typeface="Roboto Mono"/>
                <a:cs typeface="Roboto Mono"/>
                <a:sym typeface="Roboto Mono"/>
              </a:rPr>
              <a:t>: </a:t>
            </a:r>
            <a:r>
              <a:rPr lang="en" sz="1150">
                <a:solidFill>
                  <a:srgbClr val="FBC02D"/>
                </a:solidFill>
                <a:latin typeface="Roboto Mono"/>
                <a:ea typeface="Roboto Mono"/>
                <a:cs typeface="Roboto Mono"/>
                <a:sym typeface="Roboto Mono"/>
              </a:rPr>
              <a:t>#fff</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h1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background-color</a:t>
            </a:r>
            <a:r>
              <a:rPr lang="en" sz="1150">
                <a:solidFill>
                  <a:srgbClr val="ECEFF1"/>
                </a:solidFill>
                <a:latin typeface="Roboto Mono"/>
                <a:ea typeface="Roboto Mono"/>
                <a:cs typeface="Roboto Mono"/>
                <a:sym typeface="Roboto Mono"/>
              </a:rPr>
              <a:t>: </a:t>
            </a:r>
            <a:r>
              <a:rPr lang="en" sz="1150">
                <a:solidFill>
                  <a:srgbClr val="FBC02D"/>
                </a:solidFill>
                <a:latin typeface="Roboto Mono"/>
                <a:ea typeface="Roboto Mono"/>
                <a:cs typeface="Roboto Mono"/>
                <a:sym typeface="Roboto Mono"/>
              </a:rPr>
              <a:t>#fff</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4"/>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Sass: Nesting and a bit of parent selectors</a:t>
            </a:r>
            <a:endParaRPr/>
          </a:p>
        </p:txBody>
      </p:sp>
      <p:sp>
        <p:nvSpPr>
          <p:cNvPr id="134" name="Google Shape;134;p24"/>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a:t>CSS doesn’t support the nesting of selectors, and I’m sure that at some point you’ve thought to yourself, why doesn’t CSS have this?</a:t>
            </a:r>
            <a:endParaRPr sz="1400"/>
          </a:p>
          <a:p>
            <a:pPr marL="0" lvl="0" indent="0" algn="l" rtl="0">
              <a:spcBef>
                <a:spcPts val="1600"/>
              </a:spcBef>
              <a:spcAft>
                <a:spcPts val="0"/>
              </a:spcAft>
              <a:buNone/>
            </a:pPr>
            <a:r>
              <a:rPr lang="en" sz="1400"/>
              <a:t>Well, sass does and it’s pretty intuitive (it’s also very similar to less which we took at last class). We’re going to take a look at what this looks like next slide.</a:t>
            </a:r>
            <a:endParaRPr sz="1400"/>
          </a:p>
          <a:p>
            <a:pPr marL="0" lvl="0" indent="0" algn="l" rtl="0">
              <a:spcBef>
                <a:spcPts val="1600"/>
              </a:spcBef>
              <a:spcAft>
                <a:spcPts val="0"/>
              </a:spcAft>
              <a:buNone/>
            </a:pPr>
            <a:r>
              <a:rPr lang="en" sz="1400"/>
              <a:t>If you take a look at the documentation, you can also refer to the parent selector by using the “&amp;” just like less as well.</a:t>
            </a:r>
            <a:endParaRPr sz="1400"/>
          </a:p>
          <a:p>
            <a:pPr marL="0" lvl="0" indent="0" algn="l" rtl="0">
              <a:spcBef>
                <a:spcPts val="1600"/>
              </a:spcBef>
              <a:spcAft>
                <a:spcPts val="0"/>
              </a:spcAft>
              <a:buNone/>
            </a:pPr>
            <a:r>
              <a:rPr lang="en" sz="1400"/>
              <a:t>Let’s take a look at an example of what this looks like.</a:t>
            </a:r>
            <a:endParaRPr sz="1400"/>
          </a:p>
          <a:p>
            <a:pPr marL="0" lvl="0" indent="0" algn="l" rtl="0">
              <a:spcBef>
                <a:spcPts val="1600"/>
              </a:spcBef>
              <a:spcAft>
                <a:spcPts val="1600"/>
              </a:spcAft>
              <a:buNone/>
            </a:pPr>
            <a:endParaRPr sz="1400"/>
          </a:p>
        </p:txBody>
      </p:sp>
      <p:sp>
        <p:nvSpPr>
          <p:cNvPr id="135" name="Google Shape;135;p24"/>
          <p:cNvSpPr txBox="1">
            <a:spLocks noGrp="1"/>
          </p:cNvSpPr>
          <p:nvPr>
            <p:ph type="body" idx="1"/>
          </p:nvPr>
        </p:nvSpPr>
        <p:spPr>
          <a:xfrm>
            <a:off x="4070425" y="4509525"/>
            <a:ext cx="5103300" cy="84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Resources:</a:t>
            </a:r>
            <a:br>
              <a:rPr lang="en" sz="1200"/>
            </a:br>
            <a:r>
              <a:rPr lang="en" sz="1100" u="sng">
                <a:solidFill>
                  <a:schemeClr val="hlink"/>
                </a:solidFill>
                <a:latin typeface="Arial"/>
                <a:ea typeface="Arial"/>
                <a:cs typeface="Arial"/>
                <a:sym typeface="Arial"/>
                <a:hlinkClick r:id="rId3"/>
              </a:rPr>
              <a:t>https://sass-lang.com/documentation/style-rules/parent-selector</a:t>
            </a:r>
            <a:endParaRPr sz="1200"/>
          </a:p>
          <a:p>
            <a:pPr marL="0" lvl="0" indent="0" algn="l" rtl="0">
              <a:spcBef>
                <a:spcPts val="1600"/>
              </a:spcBef>
              <a:spcAft>
                <a:spcPts val="1600"/>
              </a:spcAft>
              <a:buNone/>
            </a:pPr>
            <a:endParaRPr sz="12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5"/>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Sass: Nesting and a bit of parent selectors</a:t>
            </a:r>
            <a:endParaRPr/>
          </a:p>
        </p:txBody>
      </p:sp>
      <p:sp>
        <p:nvSpPr>
          <p:cNvPr id="141" name="Google Shape;141;p25"/>
          <p:cNvSpPr txBox="1">
            <a:spLocks noGrp="1"/>
          </p:cNvSpPr>
          <p:nvPr>
            <p:ph type="body" idx="1"/>
          </p:nvPr>
        </p:nvSpPr>
        <p:spPr>
          <a:xfrm>
            <a:off x="756225" y="1184100"/>
            <a:ext cx="3697200" cy="686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400"/>
              <a:t>Example:</a:t>
            </a:r>
            <a:br>
              <a:rPr lang="en" sz="1400"/>
            </a:br>
            <a:r>
              <a:rPr lang="en" sz="1400"/>
              <a:t>Sass file:</a:t>
            </a:r>
            <a:endParaRPr sz="1400"/>
          </a:p>
        </p:txBody>
      </p:sp>
      <p:sp>
        <p:nvSpPr>
          <p:cNvPr id="142" name="Google Shape;142;p25"/>
          <p:cNvSpPr txBox="1">
            <a:spLocks noGrp="1"/>
          </p:cNvSpPr>
          <p:nvPr>
            <p:ph type="body" idx="1"/>
          </p:nvPr>
        </p:nvSpPr>
        <p:spPr>
          <a:xfrm>
            <a:off x="4698900" y="1184100"/>
            <a:ext cx="3697200" cy="686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400"/>
              <a:t>After processing it becomes:</a:t>
            </a:r>
            <a:br>
              <a:rPr lang="en" sz="1400"/>
            </a:br>
            <a:r>
              <a:rPr lang="en" sz="1400"/>
              <a:t>CSS file:</a:t>
            </a:r>
            <a:endParaRPr sz="1400"/>
          </a:p>
        </p:txBody>
      </p:sp>
      <p:sp>
        <p:nvSpPr>
          <p:cNvPr id="143" name="Google Shape;143;p25"/>
          <p:cNvSpPr txBox="1">
            <a:spLocks noGrp="1"/>
          </p:cNvSpPr>
          <p:nvPr>
            <p:ph type="body" idx="1"/>
          </p:nvPr>
        </p:nvSpPr>
        <p:spPr>
          <a:xfrm>
            <a:off x="6755700" y="4235700"/>
            <a:ext cx="2388300" cy="84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Resources:</a:t>
            </a:r>
            <a:br>
              <a:rPr lang="en" sz="1200"/>
            </a:br>
            <a:r>
              <a:rPr lang="en" sz="1200" u="sng">
                <a:solidFill>
                  <a:schemeClr val="hlink"/>
                </a:solidFill>
                <a:hlinkClick r:id="rId3"/>
              </a:rPr>
              <a:t>http://lesscss.org/features/#parent-selectors-feature</a:t>
            </a:r>
            <a:r>
              <a:rPr lang="en" sz="1200"/>
              <a:t> </a:t>
            </a:r>
            <a:endParaRPr sz="1200"/>
          </a:p>
          <a:p>
            <a:pPr marL="0" lvl="0" indent="0" algn="l" rtl="0">
              <a:spcBef>
                <a:spcPts val="1600"/>
              </a:spcBef>
              <a:spcAft>
                <a:spcPts val="1600"/>
              </a:spcAft>
              <a:buNone/>
            </a:pPr>
            <a:endParaRPr sz="1200"/>
          </a:p>
        </p:txBody>
      </p:sp>
      <p:sp>
        <p:nvSpPr>
          <p:cNvPr id="144" name="Google Shape;144;p25"/>
          <p:cNvSpPr txBox="1"/>
          <p:nvPr/>
        </p:nvSpPr>
        <p:spPr>
          <a:xfrm>
            <a:off x="851075" y="1764350"/>
            <a:ext cx="30000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#main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background-color</a:t>
            </a:r>
            <a:r>
              <a:rPr lang="en" sz="1150">
                <a:solidFill>
                  <a:srgbClr val="ECEFF1"/>
                </a:solidFill>
                <a:latin typeface="Roboto Mono"/>
                <a:ea typeface="Roboto Mono"/>
                <a:cs typeface="Roboto Mono"/>
                <a:sym typeface="Roboto Mono"/>
              </a:rPr>
              <a:t>: </a:t>
            </a:r>
            <a:r>
              <a:rPr lang="en" sz="1150">
                <a:solidFill>
                  <a:srgbClr val="FBC02D"/>
                </a:solidFill>
                <a:latin typeface="Roboto Mono"/>
                <a:ea typeface="Roboto Mono"/>
                <a:cs typeface="Roboto Mono"/>
                <a:sym typeface="Roboto Mono"/>
              </a:rPr>
              <a:t>#fff</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#content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p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height</a:t>
            </a:r>
            <a:r>
              <a:rPr lang="en" sz="1150">
                <a:solidFill>
                  <a:srgbClr val="ECEFF1"/>
                </a:solidFill>
                <a:latin typeface="Roboto Mono"/>
                <a:ea typeface="Roboto Mono"/>
                <a:cs typeface="Roboto Mono"/>
                <a:sym typeface="Roboto Mono"/>
              </a:rPr>
              <a:t>: auto;</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text-decoration</a:t>
            </a:r>
            <a:r>
              <a:rPr lang="en" sz="1150">
                <a:solidFill>
                  <a:srgbClr val="ECEFF1"/>
                </a:solidFill>
                <a:latin typeface="Roboto Mono"/>
                <a:ea typeface="Roboto Mono"/>
                <a:cs typeface="Roboto Mono"/>
                <a:sym typeface="Roboto Mono"/>
              </a:rPr>
              <a:t>: none;</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endParaRPr sz="11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p:txBody>
      </p:sp>
      <p:sp>
        <p:nvSpPr>
          <p:cNvPr id="145" name="Google Shape;145;p25"/>
          <p:cNvSpPr txBox="1"/>
          <p:nvPr/>
        </p:nvSpPr>
        <p:spPr>
          <a:xfrm>
            <a:off x="4698900" y="1764350"/>
            <a:ext cx="30000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#main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background-color</a:t>
            </a:r>
            <a:r>
              <a:rPr lang="en" sz="1150">
                <a:solidFill>
                  <a:srgbClr val="ECEFF1"/>
                </a:solidFill>
                <a:latin typeface="Roboto Mono"/>
                <a:ea typeface="Roboto Mono"/>
                <a:cs typeface="Roboto Mono"/>
                <a:sym typeface="Roboto Mono"/>
              </a:rPr>
              <a:t>: </a:t>
            </a:r>
            <a:r>
              <a:rPr lang="en" sz="1150">
                <a:solidFill>
                  <a:srgbClr val="FBC02D"/>
                </a:solidFill>
                <a:latin typeface="Roboto Mono"/>
                <a:ea typeface="Roboto Mono"/>
                <a:cs typeface="Roboto Mono"/>
                <a:sym typeface="Roboto Mono"/>
              </a:rPr>
              <a:t>#fff</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#main #content p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height</a:t>
            </a:r>
            <a:r>
              <a:rPr lang="en" sz="1150">
                <a:solidFill>
                  <a:srgbClr val="ECEFF1"/>
                </a:solidFill>
                <a:latin typeface="Roboto Mono"/>
                <a:ea typeface="Roboto Mono"/>
                <a:cs typeface="Roboto Mono"/>
                <a:sym typeface="Roboto Mono"/>
              </a:rPr>
              <a:t>: auto;</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#main #content a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text-decoration</a:t>
            </a:r>
            <a:r>
              <a:rPr lang="en" sz="1150">
                <a:solidFill>
                  <a:srgbClr val="ECEFF1"/>
                </a:solidFill>
                <a:latin typeface="Roboto Mono"/>
                <a:ea typeface="Roboto Mono"/>
                <a:cs typeface="Roboto Mono"/>
                <a:sym typeface="Roboto Mono"/>
              </a:rPr>
              <a:t>: none;</a:t>
            </a:r>
            <a:endParaRPr sz="11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Sass: Mixins</a:t>
            </a:r>
            <a:endParaRPr/>
          </a:p>
        </p:txBody>
      </p:sp>
      <p:sp>
        <p:nvSpPr>
          <p:cNvPr id="151" name="Google Shape;151;p26"/>
          <p:cNvSpPr txBox="1">
            <a:spLocks noGrp="1"/>
          </p:cNvSpPr>
          <p:nvPr>
            <p:ph type="body" idx="1"/>
          </p:nvPr>
        </p:nvSpPr>
        <p:spPr>
          <a:xfrm>
            <a:off x="387900" y="1185024"/>
            <a:ext cx="8368200" cy="8340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400"/>
              <a:t>Sass mixins allow you to define styles that you can reuse all over the place. To define a mixin you need to use the “</a:t>
            </a:r>
            <a:r>
              <a:rPr lang="en" sz="1150">
                <a:solidFill>
                  <a:srgbClr val="ECEFF1"/>
                </a:solidFill>
                <a:latin typeface="Roboto Mono"/>
                <a:ea typeface="Roboto Mono"/>
                <a:cs typeface="Roboto Mono"/>
                <a:sym typeface="Roboto Mono"/>
              </a:rPr>
              <a:t>@mixin</a:t>
            </a:r>
            <a:r>
              <a:rPr lang="en" sz="1400"/>
              <a:t>” and to use (and reuse) the mixin somewhere use the “</a:t>
            </a:r>
            <a:r>
              <a:rPr lang="en" sz="1150">
                <a:solidFill>
                  <a:srgbClr val="ECEFF1"/>
                </a:solidFill>
                <a:latin typeface="Roboto Mono"/>
                <a:ea typeface="Roboto Mono"/>
                <a:cs typeface="Roboto Mono"/>
                <a:sym typeface="Roboto Mono"/>
              </a:rPr>
              <a:t>@include</a:t>
            </a:r>
            <a:r>
              <a:rPr lang="en" sz="1400"/>
              <a:t>”. Below is an example </a:t>
            </a:r>
            <a:endParaRPr sz="1400"/>
          </a:p>
        </p:txBody>
      </p:sp>
      <p:sp>
        <p:nvSpPr>
          <p:cNvPr id="152" name="Google Shape;152;p26"/>
          <p:cNvSpPr txBox="1">
            <a:spLocks noGrp="1"/>
          </p:cNvSpPr>
          <p:nvPr>
            <p:ph type="body" idx="1"/>
          </p:nvPr>
        </p:nvSpPr>
        <p:spPr>
          <a:xfrm>
            <a:off x="411425" y="2056550"/>
            <a:ext cx="3697200" cy="686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400"/>
              <a:t>Example:</a:t>
            </a:r>
            <a:br>
              <a:rPr lang="en" sz="1400"/>
            </a:br>
            <a:r>
              <a:rPr lang="en" sz="1400"/>
              <a:t>Sass file:</a:t>
            </a:r>
            <a:endParaRPr sz="1400"/>
          </a:p>
        </p:txBody>
      </p:sp>
      <p:sp>
        <p:nvSpPr>
          <p:cNvPr id="153" name="Google Shape;153;p26"/>
          <p:cNvSpPr txBox="1">
            <a:spLocks noGrp="1"/>
          </p:cNvSpPr>
          <p:nvPr>
            <p:ph type="body" idx="1"/>
          </p:nvPr>
        </p:nvSpPr>
        <p:spPr>
          <a:xfrm>
            <a:off x="3353900" y="2059925"/>
            <a:ext cx="3697200" cy="686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400"/>
              <a:t>After processing it becomes:</a:t>
            </a:r>
            <a:br>
              <a:rPr lang="en" sz="1400"/>
            </a:br>
            <a:r>
              <a:rPr lang="en" sz="1400"/>
              <a:t>CSS file:</a:t>
            </a:r>
            <a:endParaRPr sz="1400"/>
          </a:p>
        </p:txBody>
      </p:sp>
      <p:sp>
        <p:nvSpPr>
          <p:cNvPr id="154" name="Google Shape;154;p26"/>
          <p:cNvSpPr txBox="1">
            <a:spLocks noGrp="1"/>
          </p:cNvSpPr>
          <p:nvPr>
            <p:ph type="body" idx="1"/>
          </p:nvPr>
        </p:nvSpPr>
        <p:spPr>
          <a:xfrm>
            <a:off x="5609700" y="4531725"/>
            <a:ext cx="3578700" cy="84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Resources:</a:t>
            </a:r>
            <a:br>
              <a:rPr lang="en" sz="1200"/>
            </a:br>
            <a:r>
              <a:rPr lang="en" sz="1100" u="sng">
                <a:solidFill>
                  <a:schemeClr val="hlink"/>
                </a:solidFill>
                <a:latin typeface="Arial"/>
                <a:ea typeface="Arial"/>
                <a:cs typeface="Arial"/>
                <a:sym typeface="Arial"/>
                <a:hlinkClick r:id="rId3"/>
              </a:rPr>
              <a:t>https://sass-lang.com/documentation/at-rules/mixin</a:t>
            </a:r>
            <a:endParaRPr sz="1200"/>
          </a:p>
          <a:p>
            <a:pPr marL="0" lvl="0" indent="0" algn="l" rtl="0">
              <a:spcBef>
                <a:spcPts val="1600"/>
              </a:spcBef>
              <a:spcAft>
                <a:spcPts val="1600"/>
              </a:spcAft>
              <a:buNone/>
            </a:pPr>
            <a:endParaRPr sz="1200"/>
          </a:p>
        </p:txBody>
      </p:sp>
      <p:sp>
        <p:nvSpPr>
          <p:cNvPr id="155" name="Google Shape;155;p26"/>
          <p:cNvSpPr txBox="1"/>
          <p:nvPr/>
        </p:nvSpPr>
        <p:spPr>
          <a:xfrm>
            <a:off x="470625" y="2661050"/>
            <a:ext cx="3000000" cy="228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@mixin large-text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font-size</a:t>
            </a:r>
            <a:r>
              <a:rPr lang="en" sz="1150">
                <a:solidFill>
                  <a:srgbClr val="ECEFF1"/>
                </a:solidFill>
                <a:latin typeface="Roboto Mono"/>
                <a:ea typeface="Roboto Mono"/>
                <a:cs typeface="Roboto Mono"/>
                <a:sym typeface="Roboto Mono"/>
              </a:rPr>
              <a:t>: </a:t>
            </a:r>
            <a:r>
              <a:rPr lang="en" sz="1150">
                <a:solidFill>
                  <a:srgbClr val="FBC02D"/>
                </a:solidFill>
                <a:latin typeface="Roboto Mono"/>
                <a:ea typeface="Roboto Mono"/>
                <a:cs typeface="Roboto Mono"/>
                <a:sym typeface="Roboto Mono"/>
              </a:rPr>
              <a:t>25rem</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font-weight</a:t>
            </a:r>
            <a:r>
              <a:rPr lang="en" sz="1150">
                <a:solidFill>
                  <a:srgbClr val="ECEFF1"/>
                </a:solidFill>
                <a:latin typeface="Roboto Mono"/>
                <a:ea typeface="Roboto Mono"/>
                <a:cs typeface="Roboto Mono"/>
                <a:sym typeface="Roboto Mono"/>
              </a:rPr>
              <a:t>: bold;</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h1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@include large-text;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h2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@include large-text;</a:t>
            </a:r>
            <a:endParaRPr sz="11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p:txBody>
      </p:sp>
      <p:sp>
        <p:nvSpPr>
          <p:cNvPr id="156" name="Google Shape;156;p26"/>
          <p:cNvSpPr txBox="1"/>
          <p:nvPr/>
        </p:nvSpPr>
        <p:spPr>
          <a:xfrm>
            <a:off x="3433925" y="2661050"/>
            <a:ext cx="3000000" cy="187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h1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font-size</a:t>
            </a:r>
            <a:r>
              <a:rPr lang="en" sz="1150">
                <a:solidFill>
                  <a:srgbClr val="ECEFF1"/>
                </a:solidFill>
                <a:latin typeface="Roboto Mono"/>
                <a:ea typeface="Roboto Mono"/>
                <a:cs typeface="Roboto Mono"/>
                <a:sym typeface="Roboto Mono"/>
              </a:rPr>
              <a:t>: </a:t>
            </a:r>
            <a:r>
              <a:rPr lang="en" sz="1150">
                <a:solidFill>
                  <a:srgbClr val="FBC02D"/>
                </a:solidFill>
                <a:latin typeface="Roboto Mono"/>
                <a:ea typeface="Roboto Mono"/>
                <a:cs typeface="Roboto Mono"/>
                <a:sym typeface="Roboto Mono"/>
              </a:rPr>
              <a:t>25rem</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font-weight</a:t>
            </a:r>
            <a:r>
              <a:rPr lang="en" sz="1150">
                <a:solidFill>
                  <a:srgbClr val="ECEFF1"/>
                </a:solidFill>
                <a:latin typeface="Roboto Mono"/>
                <a:ea typeface="Roboto Mono"/>
                <a:cs typeface="Roboto Mono"/>
                <a:sym typeface="Roboto Mono"/>
              </a:rPr>
              <a:t>: bold;</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h2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font-size</a:t>
            </a:r>
            <a:r>
              <a:rPr lang="en" sz="1150">
                <a:solidFill>
                  <a:srgbClr val="ECEFF1"/>
                </a:solidFill>
                <a:latin typeface="Roboto Mono"/>
                <a:ea typeface="Roboto Mono"/>
                <a:cs typeface="Roboto Mono"/>
                <a:sym typeface="Roboto Mono"/>
              </a:rPr>
              <a:t>: </a:t>
            </a:r>
            <a:r>
              <a:rPr lang="en" sz="1150">
                <a:solidFill>
                  <a:srgbClr val="FBC02D"/>
                </a:solidFill>
                <a:latin typeface="Roboto Mono"/>
                <a:ea typeface="Roboto Mono"/>
                <a:cs typeface="Roboto Mono"/>
                <a:sym typeface="Roboto Mono"/>
              </a:rPr>
              <a:t>25rem</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font-weight</a:t>
            </a:r>
            <a:r>
              <a:rPr lang="en" sz="1150">
                <a:solidFill>
                  <a:srgbClr val="ECEFF1"/>
                </a:solidFill>
                <a:latin typeface="Roboto Mono"/>
                <a:ea typeface="Roboto Mono"/>
                <a:cs typeface="Roboto Mono"/>
                <a:sym typeface="Roboto Mono"/>
              </a:rPr>
              <a:t>: bold;</a:t>
            </a:r>
            <a:endParaRPr sz="11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7"/>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Sass: Other Features</a:t>
            </a:r>
            <a:endParaRPr/>
          </a:p>
        </p:txBody>
      </p:sp>
      <p:sp>
        <p:nvSpPr>
          <p:cNvPr id="162" name="Google Shape;162;p27"/>
          <p:cNvSpPr txBox="1">
            <a:spLocks noGrp="1"/>
          </p:cNvSpPr>
          <p:nvPr>
            <p:ph type="body" idx="1"/>
          </p:nvPr>
        </p:nvSpPr>
        <p:spPr>
          <a:xfrm>
            <a:off x="387900" y="1185024"/>
            <a:ext cx="8368200" cy="83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There a ton of more features in Sass that make really great to use, and also shorten up your css.</a:t>
            </a:r>
            <a:endParaRPr sz="1200"/>
          </a:p>
          <a:p>
            <a:pPr marL="0" lvl="0" indent="0" algn="l" rtl="0">
              <a:spcBef>
                <a:spcPts val="1600"/>
              </a:spcBef>
              <a:spcAft>
                <a:spcPts val="0"/>
              </a:spcAft>
              <a:buNone/>
            </a:pPr>
            <a:r>
              <a:rPr lang="en" sz="1200"/>
              <a:t>Here’s a few more common ones to be used. (but be careful not all of them are useable in this sass implementation which is “</a:t>
            </a:r>
            <a:r>
              <a:rPr lang="en" sz="1200" u="sng">
                <a:solidFill>
                  <a:schemeClr val="hlink"/>
                </a:solidFill>
                <a:hlinkClick r:id="rId3"/>
              </a:rPr>
              <a:t>libsass</a:t>
            </a:r>
            <a:r>
              <a:rPr lang="en" sz="1200"/>
              <a:t>”):</a:t>
            </a:r>
            <a:endParaRPr sz="1200"/>
          </a:p>
          <a:p>
            <a:pPr marL="457200" lvl="0" indent="-304800" algn="l" rtl="0">
              <a:spcBef>
                <a:spcPts val="1600"/>
              </a:spcBef>
              <a:spcAft>
                <a:spcPts val="0"/>
              </a:spcAft>
              <a:buSzPts val="1200"/>
              <a:buChar char="●"/>
            </a:pPr>
            <a:r>
              <a:rPr lang="en" sz="1200"/>
              <a:t>“</a:t>
            </a:r>
            <a:r>
              <a:rPr lang="en" sz="1200">
                <a:solidFill>
                  <a:srgbClr val="ECEFF1"/>
                </a:solidFill>
                <a:latin typeface="Roboto Mono"/>
                <a:ea typeface="Roboto Mono"/>
                <a:cs typeface="Roboto Mono"/>
                <a:sym typeface="Roboto Mono"/>
              </a:rPr>
              <a:t>@import</a:t>
            </a:r>
            <a:r>
              <a:rPr lang="en" sz="1200"/>
              <a:t>” ability to import other sass files to have access to mixins, functions and vars: </a:t>
            </a:r>
            <a:r>
              <a:rPr lang="en" sz="1200" u="sng">
                <a:solidFill>
                  <a:schemeClr val="hlink"/>
                </a:solidFill>
                <a:hlinkClick r:id="rId4"/>
              </a:rPr>
              <a:t>https://sass-lang.com/documentation/at-rules/import</a:t>
            </a:r>
            <a:r>
              <a:rPr lang="en" sz="1200"/>
              <a:t> </a:t>
            </a:r>
            <a:endParaRPr sz="1200"/>
          </a:p>
          <a:p>
            <a:pPr marL="457200" lvl="0" indent="-304800" algn="l" rtl="0">
              <a:spcBef>
                <a:spcPts val="0"/>
              </a:spcBef>
              <a:spcAft>
                <a:spcPts val="0"/>
              </a:spcAft>
              <a:buSzPts val="1200"/>
              <a:buChar char="●"/>
            </a:pPr>
            <a:r>
              <a:rPr lang="en" sz="1200"/>
              <a:t>“</a:t>
            </a:r>
            <a:r>
              <a:rPr lang="en" sz="1200">
                <a:solidFill>
                  <a:srgbClr val="ECEFF1"/>
                </a:solidFill>
                <a:latin typeface="Roboto Mono"/>
                <a:ea typeface="Roboto Mono"/>
                <a:cs typeface="Roboto Mono"/>
                <a:sym typeface="Roboto Mono"/>
              </a:rPr>
              <a:t>@extend</a:t>
            </a:r>
            <a:r>
              <a:rPr lang="en" sz="1200"/>
              <a:t>” ability to use all of the styles from another class, and apply to another item.</a:t>
            </a:r>
            <a:br>
              <a:rPr lang="en" sz="1200"/>
            </a:br>
            <a:r>
              <a:rPr lang="en" sz="1200" u="sng">
                <a:solidFill>
                  <a:schemeClr val="hlink"/>
                </a:solidFill>
                <a:hlinkClick r:id="rId5"/>
              </a:rPr>
              <a:t>https://sass-lang.com/documentation/at-rules/extend</a:t>
            </a:r>
            <a:r>
              <a:rPr lang="en" sz="1200"/>
              <a:t> </a:t>
            </a:r>
            <a:endParaRPr sz="1200"/>
          </a:p>
          <a:p>
            <a:pPr marL="457200" lvl="0" indent="-304800" algn="l" rtl="0">
              <a:spcBef>
                <a:spcPts val="0"/>
              </a:spcBef>
              <a:spcAft>
                <a:spcPts val="0"/>
              </a:spcAft>
              <a:buSzPts val="1200"/>
              <a:buChar char="●"/>
            </a:pPr>
            <a:r>
              <a:rPr lang="en" sz="1200"/>
              <a:t>Different types of values: numbers, strings, colors, lists, booleans null, maps (like json or js objects).</a:t>
            </a:r>
            <a:br>
              <a:rPr lang="en" sz="1200"/>
            </a:br>
            <a:r>
              <a:rPr lang="en" sz="1200" u="sng">
                <a:solidFill>
                  <a:schemeClr val="hlink"/>
                </a:solidFill>
                <a:hlinkClick r:id="rId6"/>
              </a:rPr>
              <a:t>https://sass-lang.com/documentation/values</a:t>
            </a:r>
            <a:r>
              <a:rPr lang="en" sz="1200"/>
              <a:t> </a:t>
            </a:r>
            <a:endParaRPr sz="1200"/>
          </a:p>
          <a:p>
            <a:pPr marL="457200" lvl="0" indent="-304800" algn="l" rtl="0">
              <a:spcBef>
                <a:spcPts val="0"/>
              </a:spcBef>
              <a:spcAft>
                <a:spcPts val="0"/>
              </a:spcAft>
              <a:buSzPts val="1200"/>
              <a:buChar char="●"/>
            </a:pPr>
            <a:r>
              <a:rPr lang="en" sz="1200"/>
              <a:t>Operators which include math, and comparative operators.</a:t>
            </a:r>
            <a:br>
              <a:rPr lang="en" sz="1200"/>
            </a:br>
            <a:r>
              <a:rPr lang="en" sz="1200" u="sng">
                <a:solidFill>
                  <a:schemeClr val="hlink"/>
                </a:solidFill>
                <a:hlinkClick r:id="rId7"/>
              </a:rPr>
              <a:t>https://sass-lang.com/documentation/operators</a:t>
            </a:r>
            <a:endParaRPr sz="1200"/>
          </a:p>
          <a:p>
            <a:pPr marL="457200" lvl="0" indent="-304800" algn="l" rtl="0">
              <a:spcBef>
                <a:spcPts val="0"/>
              </a:spcBef>
              <a:spcAft>
                <a:spcPts val="0"/>
              </a:spcAft>
              <a:buSzPts val="1200"/>
              <a:buChar char="●"/>
            </a:pPr>
            <a:r>
              <a:rPr lang="en" sz="1200"/>
              <a:t>Functions which allow you calculate some more complicated values:</a:t>
            </a:r>
            <a:br>
              <a:rPr lang="en" sz="1200"/>
            </a:br>
            <a:r>
              <a:rPr lang="en" sz="1200" u="sng">
                <a:solidFill>
                  <a:schemeClr val="hlink"/>
                </a:solidFill>
                <a:hlinkClick r:id="rId8"/>
              </a:rPr>
              <a:t>https://sass-lang.com/documentation/at-rules/function</a:t>
            </a:r>
            <a:r>
              <a:rPr lang="en" sz="1200"/>
              <a:t> </a:t>
            </a:r>
            <a:endParaRPr sz="1200"/>
          </a:p>
          <a:p>
            <a:pPr marL="0" lvl="0" indent="0" algn="l" rtl="0">
              <a:spcBef>
                <a:spcPts val="1600"/>
              </a:spcBef>
              <a:spcAft>
                <a:spcPts val="0"/>
              </a:spcAft>
              <a:buNone/>
            </a:pPr>
            <a:r>
              <a:rPr lang="en" sz="1200"/>
              <a:t>Go take a look, this is a great place to learn Sass.</a:t>
            </a:r>
            <a:endParaRPr sz="1200"/>
          </a:p>
          <a:p>
            <a:pPr marL="0" lvl="0" indent="0" algn="l" rtl="0">
              <a:spcBef>
                <a:spcPts val="1600"/>
              </a:spcBef>
              <a:spcAft>
                <a:spcPts val="1600"/>
              </a:spcAft>
              <a:buNone/>
            </a:pPr>
            <a:endParaRPr sz="12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8"/>
          <p:cNvSpPr txBox="1">
            <a:spLocks noGrp="1"/>
          </p:cNvSpPr>
          <p:nvPr>
            <p:ph type="ctrTitle"/>
          </p:nvPr>
        </p:nvSpPr>
        <p:spPr>
          <a:xfrm>
            <a:off x="1680302" y="1188925"/>
            <a:ext cx="5783400" cy="1457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Examples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9"/>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Reading </a:t>
            </a:r>
            <a:endParaRPr/>
          </a:p>
        </p:txBody>
      </p:sp>
      <p:sp>
        <p:nvSpPr>
          <p:cNvPr id="173" name="Google Shape;173;p29"/>
          <p:cNvSpPr txBox="1">
            <a:spLocks noGrp="1"/>
          </p:cNvSpPr>
          <p:nvPr>
            <p:ph type="body" idx="1"/>
          </p:nvPr>
        </p:nvSpPr>
        <p:spPr>
          <a:xfrm>
            <a:off x="387900" y="1289999"/>
            <a:ext cx="8368200" cy="30789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sz="1400"/>
              <a:t>Node Sass Javascript usage:</a:t>
            </a:r>
            <a:br>
              <a:rPr lang="en" sz="1400"/>
            </a:br>
            <a:r>
              <a:rPr lang="en" sz="1400" u="sng">
                <a:solidFill>
                  <a:schemeClr val="hlink"/>
                </a:solidFill>
                <a:hlinkClick r:id="rId3"/>
              </a:rPr>
              <a:t>https://github.com/andrew/node-sass-example</a:t>
            </a:r>
            <a:endParaRPr sz="1400"/>
          </a:p>
          <a:p>
            <a:pPr marL="457200" lvl="0" indent="-317500" algn="l" rtl="0">
              <a:spcBef>
                <a:spcPts val="0"/>
              </a:spcBef>
              <a:spcAft>
                <a:spcPts val="0"/>
              </a:spcAft>
              <a:buSzPts val="1400"/>
              <a:buChar char="●"/>
            </a:pPr>
            <a:r>
              <a:rPr lang="en" sz="1400"/>
              <a:t>Sass Language Documentation:</a:t>
            </a:r>
            <a:br>
              <a:rPr lang="en" sz="1400"/>
            </a:br>
            <a:r>
              <a:rPr lang="en" sz="1400" u="sng">
                <a:solidFill>
                  <a:schemeClr val="hlink"/>
                </a:solidFill>
                <a:hlinkClick r:id="rId4"/>
              </a:rPr>
              <a:t>https://sass-lang.com/documentation</a:t>
            </a:r>
            <a:r>
              <a:rPr lang="en" sz="1400"/>
              <a:t> </a:t>
            </a:r>
            <a:endParaRPr sz="1400"/>
          </a:p>
          <a:p>
            <a:pPr marL="457200" lvl="0" indent="-317500" algn="l" rtl="0">
              <a:spcBef>
                <a:spcPts val="0"/>
              </a:spcBef>
              <a:spcAft>
                <a:spcPts val="0"/>
              </a:spcAft>
              <a:buSzPts val="1400"/>
              <a:buChar char="●"/>
            </a:pPr>
            <a:r>
              <a:rPr lang="en" sz="1400"/>
              <a:t>Syntax differences between .sass and .scss files.</a:t>
            </a:r>
            <a:br>
              <a:rPr lang="en" sz="1400"/>
            </a:br>
            <a:r>
              <a:rPr lang="en" sz="1400" u="sng">
                <a:solidFill>
                  <a:schemeClr val="hlink"/>
                </a:solidFill>
                <a:hlinkClick r:id="rId5"/>
              </a:rPr>
              <a:t>https://sass-lang.com/documentation/syntax</a:t>
            </a:r>
            <a:r>
              <a:rPr lang="en" sz="1400"/>
              <a:t> </a:t>
            </a:r>
            <a:endParaRPr sz="1400"/>
          </a:p>
          <a:p>
            <a:pPr marL="0" lvl="0" indent="0" algn="l" rtl="0">
              <a:spcBef>
                <a:spcPts val="1600"/>
              </a:spcBef>
              <a:spcAft>
                <a:spcPts val="1600"/>
              </a:spcAft>
              <a:buNone/>
            </a:pPr>
            <a:endParaRPr sz="1400"/>
          </a:p>
        </p:txBody>
      </p:sp>
    </p:spTree>
  </p:cSld>
  <p:clrMapOvr>
    <a:masterClrMapping/>
  </p:clrMapOvr>
</p:sld>
</file>

<file path=ppt/theme/theme1.xml><?xml version="1.0" encoding="utf-8"?>
<a:theme xmlns:a="http://schemas.openxmlformats.org/drawingml/2006/main"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1466</Words>
  <Application>Microsoft Office PowerPoint</Application>
  <PresentationFormat>On-screen Show (16:9)</PresentationFormat>
  <Paragraphs>162</Paragraphs>
  <Slides>17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Roboto</vt:lpstr>
      <vt:lpstr>Consolas</vt:lpstr>
      <vt:lpstr>Roboto Slab</vt:lpstr>
      <vt:lpstr>Roboto Mono</vt:lpstr>
      <vt:lpstr>Marina</vt:lpstr>
      <vt:lpstr>Advanced Javascript CSS Preprocessors: Sass</vt:lpstr>
      <vt:lpstr>Announcements</vt:lpstr>
      <vt:lpstr>Where are we?</vt:lpstr>
      <vt:lpstr>Expectations - What I expect from you</vt:lpstr>
      <vt:lpstr>Sass, Less and CSS</vt:lpstr>
      <vt:lpstr>An Overview of Sass</vt:lpstr>
      <vt:lpstr>Intro to Sass and How to install Sass</vt:lpstr>
      <vt:lpstr>How to use it? What will less do?</vt:lpstr>
      <vt:lpstr>Where are we?</vt:lpstr>
      <vt:lpstr>Sass, a language tour</vt:lpstr>
      <vt:lpstr>Sass: Variables</vt:lpstr>
      <vt:lpstr>Sass: Nesting and a bit of parent selectors</vt:lpstr>
      <vt:lpstr>Sass: Nesting and a bit of parent selectors</vt:lpstr>
      <vt:lpstr>Sass: Mixins</vt:lpstr>
      <vt:lpstr>Sass: Other Features</vt:lpstr>
      <vt:lpstr>Examples</vt:lpstr>
      <vt:lpstr>Reading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Jhimlie Eustaquio</cp:lastModifiedBy>
  <cp:revision>1</cp:revision>
  <dcterms:modified xsi:type="dcterms:W3CDTF">2026-09-26T02:35:17Z</dcterms:modified>
</cp:coreProperties>
</file>