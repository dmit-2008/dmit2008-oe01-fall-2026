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 type="screen16x9"/>
  <p:notesSz cx="6858000" cy="9144000"/>
  <p:embeddedFontLst>
    <p:embeddedFont>
      <p:font typeface="Roboto" panose="02000000000000000000" pitchFamily="2" charset="0"/>
      <p:regular r:id="rId21"/>
      <p:bold r:id="rId22"/>
      <p:italic r:id="rId23"/>
      <p:boldItalic r:id="rId24"/>
    </p:embeddedFont>
    <p:embeddedFont>
      <p:font typeface="Roboto Mono" panose="00000009000000000000" pitchFamily="49" charset="0"/>
      <p:regular r:id="rId25"/>
      <p:bold r:id="rId26"/>
      <p:italic r:id="rId27"/>
      <p:boldItalic r:id="rId28"/>
    </p:embeddedFont>
    <p:embeddedFont>
      <p:font typeface="Roboto Slab" pitchFamily="2" charset="0"/>
      <p:regular r:id="rId29"/>
      <p:bold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font" Target="fonts/font10.fntdata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5ad3a4879e_2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5ad3a4879e_2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4c141908b7_0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4c141908b7_0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5ad3a487a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5ad3a487a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15325edeb50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15325edeb50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15325edeb50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15325edeb50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15325edeb50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15325edeb50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1540d922896_1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1540d922896_1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1540d922896_1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1540d922896_1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7bc53e41fe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7bc53e41fe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7bc53e41fe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7bc53e41fe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7bc53e41fe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7bc53e41fe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7bc53e41fe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7bc53e41fe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7bc53e41fe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7bc53e41fe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7bc53e41fe_0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7bc53e41fe_0_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7c04ea6420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7c04ea6420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7bc0a4b21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7bc0a4b21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7b7fcc6223_3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7b7fcc6223_3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1524800" y="672606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accent5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1" name="Google Shape;11;p2"/>
          <p:cNvSpPr/>
          <p:nvPr/>
        </p:nvSpPr>
        <p:spPr>
          <a:xfrm rot="10800000">
            <a:off x="6537563" y="33429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accent5"/>
            </a:solidFill>
            <a:prstDash val="solid"/>
            <a:miter lim="8000"/>
            <a:headEnd type="none" w="sm" len="sm"/>
            <a:tailEnd type="none" w="sm" len="sm"/>
          </a:ln>
        </p:spPr>
      </p:sp>
      <p:cxnSp>
        <p:nvCxnSpPr>
          <p:cNvPr id="12" name="Google Shape;12;p2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480750" y="1764950"/>
            <a:ext cx="8222100" cy="90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Google Shape;21;p4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p5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7" name="Google Shape;27;p5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1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2"/>
          </p:nvPr>
        </p:nvSpPr>
        <p:spPr>
          <a:xfrm>
            <a:off x="4756200" y="1489825"/>
            <a:ext cx="39999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Google Shape;35;p7"/>
          <p:cNvCxnSpPr/>
          <p:nvPr/>
        </p:nvCxnSpPr>
        <p:spPr>
          <a:xfrm>
            <a:off x="489218" y="1412277"/>
            <a:ext cx="3315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6" name="Google Shape;36;p7"/>
          <p:cNvSpPr txBox="1">
            <a:spLocks noGrp="1"/>
          </p:cNvSpPr>
          <p:nvPr>
            <p:ph type="title"/>
          </p:nvPr>
        </p:nvSpPr>
        <p:spPr>
          <a:xfrm>
            <a:off x="3879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7" name="Google Shape;37;p7"/>
          <p:cNvSpPr txBox="1">
            <a:spLocks noGrp="1"/>
          </p:cNvSpPr>
          <p:nvPr>
            <p:ph type="body" idx="1"/>
          </p:nvPr>
        </p:nvSpPr>
        <p:spPr>
          <a:xfrm>
            <a:off x="387900" y="1594025"/>
            <a:ext cx="2808000" cy="26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1" name="Google Shape;41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4" name="Google Shape;44;p9"/>
          <p:cNvCxnSpPr/>
          <p:nvPr/>
        </p:nvCxnSpPr>
        <p:spPr>
          <a:xfrm>
            <a:off x="5029675" y="4495503"/>
            <a:ext cx="540900" cy="0"/>
          </a:xfrm>
          <a:prstGeom prst="straightConnector1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5" name="Google Shape;45;p9"/>
          <p:cNvSpPr txBox="1">
            <a:spLocks noGrp="1"/>
          </p:cNvSpPr>
          <p:nvPr>
            <p:ph type="title"/>
          </p:nvPr>
        </p:nvSpPr>
        <p:spPr>
          <a:xfrm>
            <a:off x="265500" y="1209075"/>
            <a:ext cx="4045200" cy="150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>
            <a:spLocks noGrp="1"/>
          </p:cNvSpPr>
          <p:nvPr>
            <p:ph type="body" idx="1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>
            <a:endParaRPr/>
          </a:p>
        </p:txBody>
      </p:sp>
      <p:sp>
        <p:nvSpPr>
          <p:cNvPr id="51" name="Google Shape;51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/>
          <p:nvPr/>
        </p:nvSpPr>
        <p:spPr>
          <a:xfrm>
            <a:off x="150" y="5076825"/>
            <a:ext cx="9143700" cy="66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1"/>
          <p:cNvSpPr txBox="1">
            <a:spLocks noGrp="1"/>
          </p:cNvSpPr>
          <p:nvPr>
            <p:ph type="title" hasCustomPrompt="1"/>
          </p:nvPr>
        </p:nvSpPr>
        <p:spPr>
          <a:xfrm>
            <a:off x="387900" y="1152450"/>
            <a:ext cx="8368200" cy="15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>
            <a:spLocks noGrp="1"/>
          </p:cNvSpPr>
          <p:nvPr>
            <p:ph type="body" idx="1"/>
          </p:nvPr>
        </p:nvSpPr>
        <p:spPr>
          <a:xfrm>
            <a:off x="387900" y="2919450"/>
            <a:ext cx="83682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6" name="Google Shape;56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rina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sass-lang.com/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microsoft.com/design/fluent/" TargetMode="External"/><Relationship Id="rId3" Type="http://schemas.openxmlformats.org/officeDocument/2006/relationships/hyperlink" Target="https://v2.grommet.io/" TargetMode="External"/><Relationship Id="rId7" Type="http://schemas.openxmlformats.org/officeDocument/2006/relationships/hyperlink" Target="https://react.semantic-ui.com/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react-bootstrap.github.io/" TargetMode="External"/><Relationship Id="rId5" Type="http://schemas.openxmlformats.org/officeDocument/2006/relationships/hyperlink" Target="https://ant.design/" TargetMode="External"/><Relationship Id="rId4" Type="http://schemas.openxmlformats.org/officeDocument/2006/relationships/hyperlink" Target="https://tailwindcss.com/docs/guides/nextjs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sass-lang.com/documentation/variables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sass-lang.com/documentation/style-rules/parent-selector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://lesscss.org/features/#parent-selectors-feature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sass-lang.com/documentation/at-rules/mixin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hyperlink" Target="https://sass-lang.com/documentation/at-rules/function" TargetMode="External"/><Relationship Id="rId3" Type="http://schemas.openxmlformats.org/officeDocument/2006/relationships/hyperlink" Target="https://github.com/sass/libsass" TargetMode="External"/><Relationship Id="rId7" Type="http://schemas.openxmlformats.org/officeDocument/2006/relationships/hyperlink" Target="https://sass-lang.com/documentation/operators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sass-lang.com/documentation/values" TargetMode="External"/><Relationship Id="rId5" Type="http://schemas.openxmlformats.org/officeDocument/2006/relationships/hyperlink" Target="https://sass-lang.com/documentation/at-rules/extend" TargetMode="External"/><Relationship Id="rId4" Type="http://schemas.openxmlformats.org/officeDocument/2006/relationships/hyperlink" Target="https://sass-lang.com/documentation/at-rules/import" TargetMode="Externa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ndrew/node-sass-example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sass-lang.com/documentation/syntax" TargetMode="External"/><Relationship Id="rId4" Type="http://schemas.openxmlformats.org/officeDocument/2006/relationships/hyperlink" Target="https://sass-lang.com/documentation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 txBox="1">
            <a:spLocks noGrp="1"/>
          </p:cNvSpPr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Advanced Javascript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Material UI</a:t>
            </a:r>
            <a:endParaRPr/>
          </a:p>
        </p:txBody>
      </p:sp>
      <p:sp>
        <p:nvSpPr>
          <p:cNvPr id="64" name="Google Shape;64;p13"/>
          <p:cNvSpPr txBox="1">
            <a:spLocks noGrp="1"/>
          </p:cNvSpPr>
          <p:nvPr>
            <p:ph type="subTitle" idx="1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Javascript DMIT 2008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>
            <a:spLocks noGrp="1"/>
          </p:cNvSpPr>
          <p:nvPr>
            <p:ph type="title"/>
          </p:nvPr>
        </p:nvSpPr>
        <p:spPr>
          <a:xfrm>
            <a:off x="480750" y="1764950"/>
            <a:ext cx="8222100" cy="90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Announcements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248400" y="1440025"/>
            <a:ext cx="4045200" cy="150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Where are we?</a:t>
            </a:r>
            <a:endParaRPr/>
          </a:p>
        </p:txBody>
      </p:sp>
      <p:sp>
        <p:nvSpPr>
          <p:cNvPr id="75" name="Google Shape;75;p15"/>
          <p:cNvSpPr txBox="1">
            <a:spLocks noGrp="1"/>
          </p:cNvSpPr>
          <p:nvPr>
            <p:ph type="body" idx="2"/>
          </p:nvPr>
        </p:nvSpPr>
        <p:spPr>
          <a:xfrm>
            <a:off x="4946900" y="108682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Expectations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MUI Theming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CSS In React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CSS Modules in React and Next.js 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Sass Modules in React and Next.js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Other Options For Styling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An Overview of Sass (Optional) for folks who are interested in this.</a:t>
            </a:r>
            <a:endParaRPr/>
          </a:p>
          <a:p>
            <a:pPr marL="45720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/>
          </a:p>
          <a:p>
            <a:pPr marL="45720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Expectations - What I expect from you</a:t>
            </a:r>
            <a:endParaRPr/>
          </a:p>
        </p:txBody>
      </p:sp>
      <p:sp>
        <p:nvSpPr>
          <p:cNvPr id="81" name="Google Shape;81;p16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Font typeface="Roboto"/>
              <a:buAutoNum type="arabicPeriod"/>
            </a:pPr>
            <a:r>
              <a:rPr lang="en-US" dirty="0"/>
              <a:t>Pay Attention and ask questions while on session.</a:t>
            </a:r>
          </a:p>
          <a:p>
            <a:pPr>
              <a:buFont typeface="Roboto"/>
              <a:buAutoNum type="arabicPeriod"/>
            </a:pPr>
            <a:r>
              <a:rPr lang="en-US" dirty="0"/>
              <a:t>Follow along the coding exercises.</a:t>
            </a:r>
          </a:p>
          <a:p>
            <a:pPr>
              <a:buFont typeface="Roboto"/>
              <a:buAutoNum type="arabicPeriod"/>
            </a:pPr>
            <a:r>
              <a:rPr lang="en-US" dirty="0"/>
              <a:t>Focus on the task on hand, don’t go wandering.</a:t>
            </a:r>
          </a:p>
          <a:p>
            <a:pPr>
              <a:buFont typeface="Roboto"/>
              <a:buAutoNum type="arabicPeriod"/>
            </a:pPr>
            <a:r>
              <a:rPr lang="en-US" dirty="0"/>
              <a:t>No late submission of Assignments.</a:t>
            </a:r>
          </a:p>
          <a:p>
            <a:pPr>
              <a:buFont typeface="Roboto"/>
              <a:buAutoNum type="arabicPeriod"/>
            </a:pPr>
            <a:r>
              <a:rPr lang="en-US" dirty="0"/>
              <a:t>Commit your codes to your Assignment repositories day-to-day to </a:t>
            </a:r>
            <a:r>
              <a:rPr lang="en-CA" dirty="0"/>
              <a:t>demonstrate incremental development of your solution.</a:t>
            </a:r>
            <a:endParaRPr lang="en-US" dirty="0"/>
          </a:p>
          <a:p>
            <a:pPr>
              <a:buFont typeface="Roboto"/>
              <a:buAutoNum type="arabicPeriod"/>
            </a:pPr>
            <a:r>
              <a:rPr lang="en-US" dirty="0"/>
              <a:t>No cheating on exams.</a:t>
            </a:r>
          </a:p>
          <a:p>
            <a:pPr>
              <a:buFont typeface="Roboto"/>
              <a:buAutoNum type="arabicPeriod"/>
            </a:pPr>
            <a:r>
              <a:rPr lang="en-US" dirty="0"/>
              <a:t>Complete the final project.</a:t>
            </a:r>
          </a:p>
          <a:p>
            <a:pPr marL="11430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MUI Theming</a:t>
            </a:r>
            <a:endParaRPr/>
          </a:p>
        </p:txBody>
      </p:sp>
      <p:sp>
        <p:nvSpPr>
          <p:cNvPr id="87" name="Google Shape;87;p17"/>
          <p:cNvSpPr txBox="1">
            <a:spLocks noGrp="1"/>
          </p:cNvSpPr>
          <p:nvPr>
            <p:ph type="body" idx="1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Last class we’ve install Material UI, and we’re going to be using this library throughout the course.</a:t>
            </a:r>
            <a:endParaRPr dirty="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dirty="0"/>
              <a:t>We don’t want all of our sites to look the same if we’re using MUI, so we’re going to change the look by using their concept of “Themes” in our application.</a:t>
            </a:r>
            <a:endParaRPr dirty="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dirty="0"/>
              <a:t>On the right we have an example of the setup.</a:t>
            </a:r>
            <a:endParaRPr dirty="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 dirty="0"/>
          </a:p>
        </p:txBody>
      </p:sp>
      <p:sp>
        <p:nvSpPr>
          <p:cNvPr id="88" name="Google Shape;88;p17"/>
          <p:cNvSpPr txBox="1"/>
          <p:nvPr/>
        </p:nvSpPr>
        <p:spPr>
          <a:xfrm>
            <a:off x="4387800" y="458025"/>
            <a:ext cx="4779000" cy="240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DD0E1"/>
                </a:solidFill>
                <a:latin typeface="Roboto Mono"/>
                <a:ea typeface="Roboto Mono"/>
                <a:cs typeface="Roboto Mono"/>
                <a:sym typeface="Roboto Mono"/>
              </a:rPr>
              <a:t>import</a:t>
            </a:r>
            <a:r>
              <a:rPr lang="en" sz="9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{ createTheme } </a:t>
            </a:r>
            <a:r>
              <a:rPr lang="en" sz="900">
                <a:solidFill>
                  <a:srgbClr val="4DD0E1"/>
                </a:solidFill>
                <a:latin typeface="Roboto Mono"/>
                <a:ea typeface="Roboto Mono"/>
                <a:cs typeface="Roboto Mono"/>
                <a:sym typeface="Roboto Mono"/>
              </a:rPr>
              <a:t>from</a:t>
            </a:r>
            <a:r>
              <a:rPr lang="en" sz="9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900">
                <a:solidFill>
                  <a:srgbClr val="9CCC65"/>
                </a:solidFill>
                <a:latin typeface="Roboto Mono"/>
                <a:ea typeface="Roboto Mono"/>
                <a:cs typeface="Roboto Mono"/>
                <a:sym typeface="Roboto Mono"/>
              </a:rPr>
              <a:t>'@mui/material'</a:t>
            </a:r>
            <a:endParaRPr sz="90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DD0E1"/>
                </a:solidFill>
                <a:latin typeface="Roboto Mono"/>
                <a:ea typeface="Roboto Mono"/>
                <a:cs typeface="Roboto Mono"/>
                <a:sym typeface="Roboto Mono"/>
              </a:rPr>
              <a:t>const</a:t>
            </a:r>
            <a:r>
              <a:rPr lang="en" sz="9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themeOptions = {</a:t>
            </a:r>
            <a:endParaRPr sz="90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en" sz="900">
                <a:solidFill>
                  <a:srgbClr val="4DD0E1"/>
                </a:solidFill>
                <a:latin typeface="Roboto Mono"/>
                <a:ea typeface="Roboto Mono"/>
                <a:cs typeface="Roboto Mono"/>
                <a:sym typeface="Roboto Mono"/>
              </a:rPr>
              <a:t>palette</a:t>
            </a:r>
            <a:r>
              <a:rPr lang="en" sz="9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: {</a:t>
            </a:r>
            <a:endParaRPr sz="90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n" sz="900">
                <a:solidFill>
                  <a:srgbClr val="4DD0E1"/>
                </a:solidFill>
                <a:latin typeface="Roboto Mono"/>
                <a:ea typeface="Roboto Mono"/>
                <a:cs typeface="Roboto Mono"/>
                <a:sym typeface="Roboto Mono"/>
              </a:rPr>
              <a:t>primary</a:t>
            </a:r>
            <a:r>
              <a:rPr lang="en" sz="9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: {</a:t>
            </a:r>
            <a:endParaRPr sz="90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    </a:t>
            </a:r>
            <a:r>
              <a:rPr lang="en" sz="900">
                <a:solidFill>
                  <a:srgbClr val="4DD0E1"/>
                </a:solidFill>
                <a:latin typeface="Roboto Mono"/>
                <a:ea typeface="Roboto Mono"/>
                <a:cs typeface="Roboto Mono"/>
                <a:sym typeface="Roboto Mono"/>
              </a:rPr>
              <a:t>light</a:t>
            </a:r>
            <a:r>
              <a:rPr lang="en" sz="9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n" sz="900">
                <a:solidFill>
                  <a:srgbClr val="9CCC65"/>
                </a:solidFill>
                <a:latin typeface="Roboto Mono"/>
                <a:ea typeface="Roboto Mono"/>
                <a:cs typeface="Roboto Mono"/>
                <a:sym typeface="Roboto Mono"/>
              </a:rPr>
              <a:t>'#757ce8'</a:t>
            </a:r>
            <a:r>
              <a:rPr lang="en" sz="9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 sz="90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  },</a:t>
            </a:r>
            <a:endParaRPr sz="90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n" sz="900">
                <a:solidFill>
                  <a:srgbClr val="4DD0E1"/>
                </a:solidFill>
                <a:latin typeface="Roboto Mono"/>
                <a:ea typeface="Roboto Mono"/>
                <a:cs typeface="Roboto Mono"/>
                <a:sym typeface="Roboto Mono"/>
              </a:rPr>
              <a:t>secondary</a:t>
            </a:r>
            <a:r>
              <a:rPr lang="en" sz="9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: {</a:t>
            </a:r>
            <a:endParaRPr sz="90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    </a:t>
            </a:r>
            <a:r>
              <a:rPr lang="en" sz="900">
                <a:solidFill>
                  <a:srgbClr val="4DD0E1"/>
                </a:solidFill>
                <a:latin typeface="Roboto Mono"/>
                <a:ea typeface="Roboto Mono"/>
                <a:cs typeface="Roboto Mono"/>
                <a:sym typeface="Roboto Mono"/>
              </a:rPr>
              <a:t>light</a:t>
            </a:r>
            <a:r>
              <a:rPr lang="en" sz="9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n" sz="900">
                <a:solidFill>
                  <a:srgbClr val="9CCC65"/>
                </a:solidFill>
                <a:latin typeface="Roboto Mono"/>
                <a:ea typeface="Roboto Mono"/>
                <a:cs typeface="Roboto Mono"/>
                <a:sym typeface="Roboto Mono"/>
              </a:rPr>
              <a:t>'#ff7961'</a:t>
            </a:r>
            <a:r>
              <a:rPr lang="en" sz="9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 sz="90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  },</a:t>
            </a:r>
            <a:endParaRPr sz="90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},</a:t>
            </a:r>
            <a:endParaRPr sz="90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};</a:t>
            </a:r>
            <a:endParaRPr sz="90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DD0E1"/>
                </a:solidFill>
                <a:latin typeface="Roboto Mono"/>
                <a:ea typeface="Roboto Mono"/>
                <a:cs typeface="Roboto Mono"/>
                <a:sym typeface="Roboto Mono"/>
              </a:rPr>
              <a:t>const</a:t>
            </a:r>
            <a:r>
              <a:rPr lang="en" sz="9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theme = createTheme(themeOptions);</a:t>
            </a:r>
            <a:endParaRPr sz="90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467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DD0E1"/>
                </a:solidFill>
                <a:latin typeface="Roboto Mono"/>
                <a:ea typeface="Roboto Mono"/>
                <a:cs typeface="Roboto Mono"/>
                <a:sym typeface="Roboto Mono"/>
              </a:rPr>
              <a:t>export</a:t>
            </a:r>
            <a:r>
              <a:rPr lang="en" sz="9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{ theme }</a:t>
            </a:r>
            <a:endParaRPr sz="90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89" name="Google Shape;89;p17"/>
          <p:cNvSpPr txBox="1"/>
          <p:nvPr/>
        </p:nvSpPr>
        <p:spPr>
          <a:xfrm>
            <a:off x="4387800" y="3317650"/>
            <a:ext cx="4404600" cy="15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DD0E1"/>
                </a:solidFill>
                <a:latin typeface="Roboto Mono"/>
                <a:ea typeface="Roboto Mono"/>
                <a:cs typeface="Roboto Mono"/>
                <a:sym typeface="Roboto Mono"/>
              </a:rPr>
              <a:t>import</a:t>
            </a:r>
            <a:r>
              <a:rPr lang="en" sz="9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{ ThemeProvider } </a:t>
            </a:r>
            <a:r>
              <a:rPr lang="en" sz="900">
                <a:solidFill>
                  <a:srgbClr val="4DD0E1"/>
                </a:solidFill>
                <a:latin typeface="Roboto Mono"/>
                <a:ea typeface="Roboto Mono"/>
                <a:cs typeface="Roboto Mono"/>
                <a:sym typeface="Roboto Mono"/>
              </a:rPr>
              <a:t>from</a:t>
            </a:r>
            <a:r>
              <a:rPr lang="en" sz="9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900">
                <a:solidFill>
                  <a:srgbClr val="9CCC65"/>
                </a:solidFill>
                <a:latin typeface="Roboto Mono"/>
                <a:ea typeface="Roboto Mono"/>
                <a:cs typeface="Roboto Mono"/>
                <a:sym typeface="Roboto Mono"/>
              </a:rPr>
              <a:t>'@mui/material'</a:t>
            </a:r>
            <a:r>
              <a:rPr lang="en" sz="9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90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DD0E1"/>
                </a:solidFill>
                <a:latin typeface="Roboto Mono"/>
                <a:ea typeface="Roboto Mono"/>
                <a:cs typeface="Roboto Mono"/>
                <a:sym typeface="Roboto Mono"/>
              </a:rPr>
              <a:t>import</a:t>
            </a:r>
            <a:r>
              <a:rPr lang="en" sz="9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{ theme } </a:t>
            </a:r>
            <a:r>
              <a:rPr lang="en" sz="900">
                <a:solidFill>
                  <a:srgbClr val="4DD0E1"/>
                </a:solidFill>
                <a:latin typeface="Roboto Mono"/>
                <a:ea typeface="Roboto Mono"/>
                <a:cs typeface="Roboto Mono"/>
                <a:sym typeface="Roboto Mono"/>
              </a:rPr>
              <a:t>from</a:t>
            </a:r>
            <a:r>
              <a:rPr lang="en" sz="9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900">
                <a:solidFill>
                  <a:srgbClr val="9CCC65"/>
                </a:solidFill>
                <a:latin typeface="Roboto Mono"/>
                <a:ea typeface="Roboto Mono"/>
                <a:cs typeface="Roboto Mono"/>
                <a:sym typeface="Roboto Mono"/>
              </a:rPr>
              <a:t>'../utils/theme/config.js'</a:t>
            </a:r>
            <a:endParaRPr sz="90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DD0E1"/>
                </a:solidFill>
                <a:latin typeface="Roboto Mono"/>
                <a:ea typeface="Roboto Mono"/>
                <a:cs typeface="Roboto Mono"/>
                <a:sym typeface="Roboto Mono"/>
              </a:rPr>
              <a:t>function</a:t>
            </a:r>
            <a:r>
              <a:rPr lang="en" sz="9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MyApp({ Component, pageProps }) {</a:t>
            </a:r>
            <a:endParaRPr sz="90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en" sz="900">
                <a:solidFill>
                  <a:srgbClr val="4DD0E1"/>
                </a:solidFill>
                <a:latin typeface="Roboto Mono"/>
                <a:ea typeface="Roboto Mono"/>
                <a:cs typeface="Roboto Mono"/>
                <a:sym typeface="Roboto Mono"/>
              </a:rPr>
              <a:t>return</a:t>
            </a:r>
            <a:r>
              <a:rPr lang="en" sz="9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&lt;ThemeProvider theme={theme}&gt;</a:t>
            </a:r>
            <a:endParaRPr sz="90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  &lt;Component {...pageProps} /&gt;</a:t>
            </a:r>
            <a:endParaRPr sz="90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&lt;/ThemeProvider&gt;</a:t>
            </a:r>
            <a:endParaRPr sz="90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90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467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DD0E1"/>
                </a:solidFill>
                <a:latin typeface="Roboto Mono"/>
                <a:ea typeface="Roboto Mono"/>
                <a:cs typeface="Roboto Mono"/>
                <a:sym typeface="Roboto Mono"/>
              </a:rPr>
              <a:t>export</a:t>
            </a:r>
            <a:r>
              <a:rPr lang="en" sz="9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900">
                <a:solidFill>
                  <a:srgbClr val="4DD0E1"/>
                </a:solidFill>
                <a:latin typeface="Roboto Mono"/>
                <a:ea typeface="Roboto Mono"/>
                <a:cs typeface="Roboto Mono"/>
                <a:sym typeface="Roboto Mono"/>
              </a:rPr>
              <a:t>default</a:t>
            </a:r>
            <a:r>
              <a:rPr lang="en" sz="9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MyApp</a:t>
            </a:r>
            <a:endParaRPr sz="90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>
            <a:off x="4387800" y="3011625"/>
            <a:ext cx="3999900" cy="47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pages/_app.js</a:t>
            </a:r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body" idx="1"/>
          </p:nvPr>
        </p:nvSpPr>
        <p:spPr>
          <a:xfrm>
            <a:off x="4387800" y="177400"/>
            <a:ext cx="3999900" cy="47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utils/theme/config.js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8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CSS In React</a:t>
            </a:r>
            <a:endParaRPr/>
          </a:p>
        </p:txBody>
      </p:sp>
      <p:sp>
        <p:nvSpPr>
          <p:cNvPr id="97" name="Google Shape;97;p18"/>
          <p:cNvSpPr txBox="1">
            <a:spLocks noGrp="1"/>
          </p:cNvSpPr>
          <p:nvPr>
            <p:ph type="body" idx="1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CSS in React can be applied globally by just importing the css file like we have in the “JavaScript Refresh” piece of the course where we import bootstrap.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On the right we have our example of the previous page but we import the global styles above it.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98" name="Google Shape;98;p18"/>
          <p:cNvSpPr txBox="1"/>
          <p:nvPr/>
        </p:nvSpPr>
        <p:spPr>
          <a:xfrm>
            <a:off x="4515225" y="1489825"/>
            <a:ext cx="5916600" cy="26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F06292"/>
                </a:solidFill>
                <a:latin typeface="Roboto Mono"/>
                <a:ea typeface="Roboto Mono"/>
                <a:cs typeface="Roboto Mono"/>
                <a:sym typeface="Roboto Mono"/>
              </a:rPr>
              <a:t>// global styles that you'd like applied.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4DD0E1"/>
                </a:solidFill>
                <a:latin typeface="Roboto Mono"/>
                <a:ea typeface="Roboto Mono"/>
                <a:cs typeface="Roboto Mono"/>
                <a:sym typeface="Roboto Mono"/>
              </a:rPr>
              <a:t>import</a:t>
            </a: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1150">
                <a:solidFill>
                  <a:srgbClr val="9CCC65"/>
                </a:solidFill>
                <a:latin typeface="Roboto Mono"/>
                <a:ea typeface="Roboto Mono"/>
                <a:cs typeface="Roboto Mono"/>
                <a:sym typeface="Roboto Mono"/>
              </a:rPr>
              <a:t>'../styles/globals.css'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F06292"/>
                </a:solidFill>
                <a:latin typeface="Roboto Mono"/>
                <a:ea typeface="Roboto Mono"/>
                <a:cs typeface="Roboto Mono"/>
                <a:sym typeface="Roboto Mono"/>
              </a:rPr>
              <a:t>// theme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4DD0E1"/>
                </a:solidFill>
                <a:latin typeface="Roboto Mono"/>
                <a:ea typeface="Roboto Mono"/>
                <a:cs typeface="Roboto Mono"/>
                <a:sym typeface="Roboto Mono"/>
              </a:rPr>
              <a:t>import</a:t>
            </a: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{ ThemeProvider } </a:t>
            </a:r>
            <a:r>
              <a:rPr lang="en" sz="1150">
                <a:solidFill>
                  <a:srgbClr val="4DD0E1"/>
                </a:solidFill>
                <a:latin typeface="Roboto Mono"/>
                <a:ea typeface="Roboto Mono"/>
                <a:cs typeface="Roboto Mono"/>
                <a:sym typeface="Roboto Mono"/>
              </a:rPr>
              <a:t>from</a:t>
            </a: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1150">
                <a:solidFill>
                  <a:srgbClr val="9CCC65"/>
                </a:solidFill>
                <a:latin typeface="Roboto Mono"/>
                <a:ea typeface="Roboto Mono"/>
                <a:cs typeface="Roboto Mono"/>
                <a:sym typeface="Roboto Mono"/>
              </a:rPr>
              <a:t>'@mui/material'</a:t>
            </a: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4DD0E1"/>
                </a:solidFill>
                <a:latin typeface="Roboto Mono"/>
                <a:ea typeface="Roboto Mono"/>
                <a:cs typeface="Roboto Mono"/>
                <a:sym typeface="Roboto Mono"/>
              </a:rPr>
              <a:t>import</a:t>
            </a: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{ theme } </a:t>
            </a:r>
            <a:r>
              <a:rPr lang="en" sz="1150">
                <a:solidFill>
                  <a:srgbClr val="4DD0E1"/>
                </a:solidFill>
                <a:latin typeface="Roboto Mono"/>
                <a:ea typeface="Roboto Mono"/>
                <a:cs typeface="Roboto Mono"/>
                <a:sym typeface="Roboto Mono"/>
              </a:rPr>
              <a:t>from</a:t>
            </a: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1150">
                <a:solidFill>
                  <a:srgbClr val="9CCC65"/>
                </a:solidFill>
                <a:latin typeface="Roboto Mono"/>
                <a:ea typeface="Roboto Mono"/>
                <a:cs typeface="Roboto Mono"/>
                <a:sym typeface="Roboto Mono"/>
              </a:rPr>
              <a:t>'../utils/theme/config.js'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4DD0E1"/>
                </a:solidFill>
                <a:latin typeface="Roboto Mono"/>
                <a:ea typeface="Roboto Mono"/>
                <a:cs typeface="Roboto Mono"/>
                <a:sym typeface="Roboto Mono"/>
              </a:rPr>
              <a:t>function</a:t>
            </a: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MyApp({ Component, pageProps }) {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en" sz="1150">
                <a:solidFill>
                  <a:srgbClr val="4DD0E1"/>
                </a:solidFill>
                <a:latin typeface="Roboto Mono"/>
                <a:ea typeface="Roboto Mono"/>
                <a:cs typeface="Roboto Mono"/>
                <a:sym typeface="Roboto Mono"/>
              </a:rPr>
              <a:t>return</a:t>
            </a: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&lt;ThemeProvider theme={theme}&gt;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  &lt;Component {...pageProps} /&gt;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&lt;/ThemeProvider&gt;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467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4DD0E1"/>
                </a:solidFill>
                <a:latin typeface="Roboto Mono"/>
                <a:ea typeface="Roboto Mono"/>
                <a:cs typeface="Roboto Mono"/>
                <a:sym typeface="Roboto Mono"/>
              </a:rPr>
              <a:t>export</a:t>
            </a: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1150">
                <a:solidFill>
                  <a:srgbClr val="4DD0E1"/>
                </a:solidFill>
                <a:latin typeface="Roboto Mono"/>
                <a:ea typeface="Roboto Mono"/>
                <a:cs typeface="Roboto Mono"/>
                <a:sym typeface="Roboto Mono"/>
              </a:rPr>
              <a:t>default</a:t>
            </a: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MyApp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99" name="Google Shape;99;p18"/>
          <p:cNvSpPr txBox="1">
            <a:spLocks noGrp="1"/>
          </p:cNvSpPr>
          <p:nvPr>
            <p:ph type="body" idx="1"/>
          </p:nvPr>
        </p:nvSpPr>
        <p:spPr>
          <a:xfrm>
            <a:off x="4515225" y="1144125"/>
            <a:ext cx="3999900" cy="47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pages/_app.js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CSS Modules In React (Next.js Especially)</a:t>
            </a:r>
            <a:endParaRPr/>
          </a:p>
        </p:txBody>
      </p:sp>
      <p:sp>
        <p:nvSpPr>
          <p:cNvPr id="105" name="Google Shape;105;p19"/>
          <p:cNvSpPr txBox="1">
            <a:spLocks noGrp="1"/>
          </p:cNvSpPr>
          <p:nvPr>
            <p:ph type="body" idx="1"/>
          </p:nvPr>
        </p:nvSpPr>
        <p:spPr>
          <a:xfrm>
            <a:off x="279900" y="1262525"/>
            <a:ext cx="41079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Out of the box, you’ll see that Next.js uses a CSS Modules. This is a bit different than global CSS in that it keeps the styling scoped to that specific component (and won’t affect anything else.</a:t>
            </a:r>
            <a:endParaRPr sz="110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100"/>
              <a:t>You can see that we name our CSS file “</a:t>
            </a:r>
            <a:r>
              <a:rPr lang="en" sz="1000">
                <a:solidFill>
                  <a:srgbClr val="9CCC65"/>
                </a:solidFill>
                <a:latin typeface="Roboto Mono"/>
                <a:ea typeface="Roboto Mono"/>
                <a:cs typeface="Roboto Mono"/>
                <a:sym typeface="Roboto Mono"/>
              </a:rPr>
              <a:t>Home.module.css</a:t>
            </a:r>
            <a:r>
              <a:rPr lang="en" sz="1100"/>
              <a:t>” rather than “</a:t>
            </a:r>
            <a:r>
              <a:rPr lang="en" sz="1000">
                <a:solidFill>
                  <a:srgbClr val="9CCC65"/>
                </a:solidFill>
                <a:latin typeface="Roboto Mono"/>
                <a:ea typeface="Roboto Mono"/>
                <a:cs typeface="Roboto Mono"/>
                <a:sym typeface="Roboto Mono"/>
              </a:rPr>
              <a:t>Home.css</a:t>
            </a:r>
            <a:r>
              <a:rPr lang="en" sz="1100"/>
              <a:t>” and you need to import it like below:</a:t>
            </a:r>
            <a:br>
              <a:rPr lang="en" sz="1100"/>
            </a:br>
            <a:r>
              <a:rPr lang="en" sz="1000">
                <a:solidFill>
                  <a:srgbClr val="4DD0E1"/>
                </a:solidFill>
                <a:latin typeface="Roboto Mono"/>
                <a:ea typeface="Roboto Mono"/>
                <a:cs typeface="Roboto Mono"/>
                <a:sym typeface="Roboto Mono"/>
              </a:rPr>
              <a:t>import</a:t>
            </a:r>
            <a:r>
              <a:rPr lang="en" sz="10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styles </a:t>
            </a:r>
            <a:r>
              <a:rPr lang="en" sz="1000">
                <a:solidFill>
                  <a:srgbClr val="4DD0E1"/>
                </a:solidFill>
                <a:latin typeface="Roboto Mono"/>
                <a:ea typeface="Roboto Mono"/>
                <a:cs typeface="Roboto Mono"/>
                <a:sym typeface="Roboto Mono"/>
              </a:rPr>
              <a:t>from</a:t>
            </a:r>
            <a:r>
              <a:rPr lang="en" sz="10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1000">
                <a:solidFill>
                  <a:srgbClr val="9CCC65"/>
                </a:solidFill>
                <a:latin typeface="Roboto Mono"/>
                <a:ea typeface="Roboto Mono"/>
                <a:cs typeface="Roboto Mono"/>
                <a:sym typeface="Roboto Mono"/>
              </a:rPr>
              <a:t>'../styles/Home.module.css'</a:t>
            </a:r>
            <a:endParaRPr sz="110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100"/>
              <a:t>Then to use any of the classes say the “</a:t>
            </a:r>
            <a:r>
              <a:rPr lang="en" sz="10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main</a:t>
            </a:r>
            <a:r>
              <a:rPr lang="en" sz="1100"/>
              <a:t>” class you’d use the className like below:</a:t>
            </a:r>
            <a:br>
              <a:rPr lang="en" sz="1100"/>
            </a:br>
            <a:r>
              <a:rPr lang="en" sz="10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&lt;main className={styles.main}&gt;</a:t>
            </a:r>
            <a:endParaRPr sz="110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100"/>
              <a:t>If you would like to use two together you’d write it like so:</a:t>
            </a:r>
            <a:br>
              <a:rPr lang="en" sz="1100"/>
            </a:br>
            <a:r>
              <a:rPr lang="en" sz="10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&lt;main className={`${styles.main} ${styles.title}`}&gt;</a:t>
            </a:r>
            <a:endParaRPr sz="100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100"/>
              <a:t>This will only affect this specific component, even if other components use the same class names for styling.</a:t>
            </a:r>
            <a:endParaRPr sz="100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06" name="Google Shape;106;p19"/>
          <p:cNvSpPr txBox="1"/>
          <p:nvPr/>
        </p:nvSpPr>
        <p:spPr>
          <a:xfrm>
            <a:off x="4387800" y="1262525"/>
            <a:ext cx="5482200" cy="374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4DD0E1"/>
                </a:solidFill>
                <a:latin typeface="Roboto Mono"/>
                <a:ea typeface="Roboto Mono"/>
                <a:cs typeface="Roboto Mono"/>
                <a:sym typeface="Roboto Mono"/>
              </a:rPr>
              <a:t>import</a:t>
            </a:r>
            <a:r>
              <a:rPr lang="en" sz="11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Head </a:t>
            </a:r>
            <a:r>
              <a:rPr lang="en" sz="1100">
                <a:solidFill>
                  <a:srgbClr val="4DD0E1"/>
                </a:solidFill>
                <a:latin typeface="Roboto Mono"/>
                <a:ea typeface="Roboto Mono"/>
                <a:cs typeface="Roboto Mono"/>
                <a:sym typeface="Roboto Mono"/>
              </a:rPr>
              <a:t>from</a:t>
            </a:r>
            <a:r>
              <a:rPr lang="en" sz="11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1100">
                <a:solidFill>
                  <a:srgbClr val="9CCC65"/>
                </a:solidFill>
                <a:latin typeface="Roboto Mono"/>
                <a:ea typeface="Roboto Mono"/>
                <a:cs typeface="Roboto Mono"/>
                <a:sym typeface="Roboto Mono"/>
              </a:rPr>
              <a:t>'next/head'</a:t>
            </a:r>
            <a:endParaRPr sz="110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4DD0E1"/>
                </a:solidFill>
                <a:latin typeface="Roboto Mono"/>
                <a:ea typeface="Roboto Mono"/>
                <a:cs typeface="Roboto Mono"/>
                <a:sym typeface="Roboto Mono"/>
              </a:rPr>
              <a:t>import</a:t>
            </a:r>
            <a:r>
              <a:rPr lang="en" sz="11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Image </a:t>
            </a:r>
            <a:r>
              <a:rPr lang="en" sz="1100">
                <a:solidFill>
                  <a:srgbClr val="4DD0E1"/>
                </a:solidFill>
                <a:latin typeface="Roboto Mono"/>
                <a:ea typeface="Roboto Mono"/>
                <a:cs typeface="Roboto Mono"/>
                <a:sym typeface="Roboto Mono"/>
              </a:rPr>
              <a:t>from</a:t>
            </a:r>
            <a:r>
              <a:rPr lang="en" sz="11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1100">
                <a:solidFill>
                  <a:srgbClr val="9CCC65"/>
                </a:solidFill>
                <a:latin typeface="Roboto Mono"/>
                <a:ea typeface="Roboto Mono"/>
                <a:cs typeface="Roboto Mono"/>
                <a:sym typeface="Roboto Mono"/>
              </a:rPr>
              <a:t>'next/image'</a:t>
            </a:r>
            <a:endParaRPr sz="110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4DD0E1"/>
                </a:solidFill>
                <a:latin typeface="Roboto Mono"/>
                <a:ea typeface="Roboto Mono"/>
                <a:cs typeface="Roboto Mono"/>
                <a:sym typeface="Roboto Mono"/>
              </a:rPr>
              <a:t>import</a:t>
            </a:r>
            <a:r>
              <a:rPr lang="en" sz="11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styles </a:t>
            </a:r>
            <a:r>
              <a:rPr lang="en" sz="1100">
                <a:solidFill>
                  <a:srgbClr val="4DD0E1"/>
                </a:solidFill>
                <a:latin typeface="Roboto Mono"/>
                <a:ea typeface="Roboto Mono"/>
                <a:cs typeface="Roboto Mono"/>
                <a:sym typeface="Roboto Mono"/>
              </a:rPr>
              <a:t>from</a:t>
            </a:r>
            <a:r>
              <a:rPr lang="en" sz="11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1100">
                <a:solidFill>
                  <a:srgbClr val="9CCC65"/>
                </a:solidFill>
                <a:latin typeface="Roboto Mono"/>
                <a:ea typeface="Roboto Mono"/>
                <a:cs typeface="Roboto Mono"/>
                <a:sym typeface="Roboto Mono"/>
              </a:rPr>
              <a:t>'../styles/Home.module.css'</a:t>
            </a:r>
            <a:endParaRPr sz="110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4DD0E1"/>
                </a:solidFill>
                <a:latin typeface="Roboto Mono"/>
                <a:ea typeface="Roboto Mono"/>
                <a:cs typeface="Roboto Mono"/>
                <a:sym typeface="Roboto Mono"/>
              </a:rPr>
              <a:t>export</a:t>
            </a:r>
            <a:r>
              <a:rPr lang="en" sz="11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1100">
                <a:solidFill>
                  <a:srgbClr val="4DD0E1"/>
                </a:solidFill>
                <a:latin typeface="Roboto Mono"/>
                <a:ea typeface="Roboto Mono"/>
                <a:cs typeface="Roboto Mono"/>
                <a:sym typeface="Roboto Mono"/>
              </a:rPr>
              <a:t>default</a:t>
            </a:r>
            <a:r>
              <a:rPr lang="en" sz="11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1100">
                <a:solidFill>
                  <a:srgbClr val="4DD0E1"/>
                </a:solidFill>
                <a:latin typeface="Roboto Mono"/>
                <a:ea typeface="Roboto Mono"/>
                <a:cs typeface="Roboto Mono"/>
                <a:sym typeface="Roboto Mono"/>
              </a:rPr>
              <a:t>function</a:t>
            </a:r>
            <a:r>
              <a:rPr lang="en" sz="11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Home() {</a:t>
            </a:r>
            <a:endParaRPr sz="110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en" sz="1100">
                <a:solidFill>
                  <a:srgbClr val="4DD0E1"/>
                </a:solidFill>
                <a:latin typeface="Roboto Mono"/>
                <a:ea typeface="Roboto Mono"/>
                <a:cs typeface="Roboto Mono"/>
                <a:sym typeface="Roboto Mono"/>
              </a:rPr>
              <a:t>return</a:t>
            </a:r>
            <a:r>
              <a:rPr lang="en" sz="11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(</a:t>
            </a:r>
            <a:endParaRPr sz="110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  &lt;div className={styles.container}&gt;</a:t>
            </a:r>
            <a:endParaRPr sz="110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    &lt;Head&gt;</a:t>
            </a:r>
            <a:endParaRPr sz="120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      &lt;title&gt;Create Next App&lt;/title&gt;</a:t>
            </a:r>
            <a:endParaRPr sz="110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      &lt;meta name=</a:t>
            </a:r>
            <a:r>
              <a:rPr lang="en" sz="1100">
                <a:solidFill>
                  <a:srgbClr val="9CCC65"/>
                </a:solidFill>
                <a:latin typeface="Roboto Mono"/>
                <a:ea typeface="Roboto Mono"/>
                <a:cs typeface="Roboto Mono"/>
                <a:sym typeface="Roboto Mono"/>
              </a:rPr>
              <a:t>"description"</a:t>
            </a:r>
            <a:endParaRPr sz="110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          content=</a:t>
            </a:r>
            <a:r>
              <a:rPr lang="en" sz="1100">
                <a:solidFill>
                  <a:srgbClr val="9CCC65"/>
                </a:solidFill>
                <a:latin typeface="Roboto Mono"/>
                <a:ea typeface="Roboto Mono"/>
                <a:cs typeface="Roboto Mono"/>
                <a:sym typeface="Roboto Mono"/>
              </a:rPr>
              <a:t>"Generated by create next app"</a:t>
            </a:r>
            <a:r>
              <a:rPr lang="en" sz="11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/&gt;</a:t>
            </a:r>
            <a:endParaRPr sz="110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      &lt;link rel=</a:t>
            </a:r>
            <a:r>
              <a:rPr lang="en" sz="1100">
                <a:solidFill>
                  <a:srgbClr val="9CCC65"/>
                </a:solidFill>
                <a:latin typeface="Roboto Mono"/>
                <a:ea typeface="Roboto Mono"/>
                <a:cs typeface="Roboto Mono"/>
                <a:sym typeface="Roboto Mono"/>
              </a:rPr>
              <a:t>"icon"</a:t>
            </a:r>
            <a:r>
              <a:rPr lang="en" sz="11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href=</a:t>
            </a:r>
            <a:r>
              <a:rPr lang="en" sz="1100">
                <a:solidFill>
                  <a:srgbClr val="9CCC65"/>
                </a:solidFill>
                <a:latin typeface="Roboto Mono"/>
                <a:ea typeface="Roboto Mono"/>
                <a:cs typeface="Roboto Mono"/>
                <a:sym typeface="Roboto Mono"/>
              </a:rPr>
              <a:t>"/favicon.ico"</a:t>
            </a:r>
            <a:r>
              <a:rPr lang="en" sz="11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/&gt;</a:t>
            </a:r>
            <a:endParaRPr sz="110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    &lt;/Head&gt;</a:t>
            </a:r>
            <a:endParaRPr sz="110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    &lt;main className={styles.main}&gt;</a:t>
            </a:r>
            <a:endParaRPr sz="110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      &lt;h1 className={styles.title}&gt;</a:t>
            </a:r>
            <a:endParaRPr sz="110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        Welcome to DMIT2008</a:t>
            </a:r>
            <a:endParaRPr sz="110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      &lt;/h1&gt;</a:t>
            </a:r>
            <a:endParaRPr sz="110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    &lt;/main&gt;</a:t>
            </a:r>
            <a:endParaRPr sz="110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  &lt;/div&gt;</a:t>
            </a:r>
            <a:endParaRPr sz="110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467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110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0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Next.js Sass Modules</a:t>
            </a:r>
            <a:endParaRPr/>
          </a:p>
        </p:txBody>
      </p:sp>
      <p:sp>
        <p:nvSpPr>
          <p:cNvPr id="112" name="Google Shape;112;p20"/>
          <p:cNvSpPr txBox="1">
            <a:spLocks noGrp="1"/>
          </p:cNvSpPr>
          <p:nvPr>
            <p:ph type="body" idx="1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Sass Modules are really similar to CSS Modules except they use the </a:t>
            </a:r>
            <a:r>
              <a:rPr lang="en" u="sng">
                <a:solidFill>
                  <a:schemeClr val="hlink"/>
                </a:solidFill>
                <a:hlinkClick r:id="rId3"/>
              </a:rPr>
              <a:t>Sass Language</a:t>
            </a:r>
            <a:r>
              <a:rPr lang="en"/>
              <a:t>. You’ll have to add a bit of configuration (shown on the right) so that we can have sass watching the styles.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We’ll be doing this in an example, but the guts of the ideas is the exact same as CSS Modules.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On the right we show that we need to install sass to get it to work, and the configuration required.</a:t>
            </a:r>
            <a:endParaRPr/>
          </a:p>
        </p:txBody>
      </p:sp>
      <p:sp>
        <p:nvSpPr>
          <p:cNvPr id="113" name="Google Shape;113;p20"/>
          <p:cNvSpPr txBox="1"/>
          <p:nvPr/>
        </p:nvSpPr>
        <p:spPr>
          <a:xfrm>
            <a:off x="4566400" y="2673150"/>
            <a:ext cx="4654800" cy="14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4DD0E1"/>
                </a:solidFill>
                <a:latin typeface="Roboto Mono"/>
                <a:ea typeface="Roboto Mono"/>
                <a:cs typeface="Roboto Mono"/>
                <a:sym typeface="Roboto Mono"/>
              </a:rPr>
              <a:t>const</a:t>
            </a: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path = require(</a:t>
            </a:r>
            <a:r>
              <a:rPr lang="en" sz="1150">
                <a:solidFill>
                  <a:srgbClr val="9CCC65"/>
                </a:solidFill>
                <a:latin typeface="Roboto Mono"/>
                <a:ea typeface="Roboto Mono"/>
                <a:cs typeface="Roboto Mono"/>
                <a:sym typeface="Roboto Mono"/>
              </a:rPr>
              <a:t>'path'</a:t>
            </a: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module.exports = {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en" sz="1150">
                <a:solidFill>
                  <a:srgbClr val="4DD0E1"/>
                </a:solidFill>
                <a:latin typeface="Roboto Mono"/>
                <a:ea typeface="Roboto Mono"/>
                <a:cs typeface="Roboto Mono"/>
                <a:sym typeface="Roboto Mono"/>
              </a:rPr>
              <a:t>sassOptions</a:t>
            </a: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: {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n" sz="1150">
                <a:solidFill>
                  <a:srgbClr val="4DD0E1"/>
                </a:solidFill>
                <a:latin typeface="Roboto Mono"/>
                <a:ea typeface="Roboto Mono"/>
                <a:cs typeface="Roboto Mono"/>
                <a:sym typeface="Roboto Mono"/>
              </a:rPr>
              <a:t>includePaths</a:t>
            </a: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: [path.join(__dirname, </a:t>
            </a:r>
            <a:r>
              <a:rPr lang="en" sz="1150">
                <a:solidFill>
                  <a:srgbClr val="9CCC65"/>
                </a:solidFill>
                <a:latin typeface="Roboto Mono"/>
                <a:ea typeface="Roboto Mono"/>
                <a:cs typeface="Roboto Mono"/>
                <a:sym typeface="Roboto Mono"/>
              </a:rPr>
              <a:t>'styles'</a:t>
            </a: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)],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},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467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14" name="Google Shape;114;p20"/>
          <p:cNvSpPr txBox="1">
            <a:spLocks noGrp="1"/>
          </p:cNvSpPr>
          <p:nvPr>
            <p:ph type="body" idx="1"/>
          </p:nvPr>
        </p:nvSpPr>
        <p:spPr>
          <a:xfrm>
            <a:off x="4566400" y="2288425"/>
            <a:ext cx="3999900" cy="47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Next.config.js add the following</a:t>
            </a:r>
            <a:endParaRPr/>
          </a:p>
        </p:txBody>
      </p:sp>
      <p:sp>
        <p:nvSpPr>
          <p:cNvPr id="115" name="Google Shape;115;p20"/>
          <p:cNvSpPr txBox="1"/>
          <p:nvPr/>
        </p:nvSpPr>
        <p:spPr>
          <a:xfrm>
            <a:off x="4566400" y="1926625"/>
            <a:ext cx="3000000" cy="36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467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npm install sass --save-dev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16" name="Google Shape;116;p20"/>
          <p:cNvSpPr txBox="1">
            <a:spLocks noGrp="1"/>
          </p:cNvSpPr>
          <p:nvPr>
            <p:ph type="body" idx="1"/>
          </p:nvPr>
        </p:nvSpPr>
        <p:spPr>
          <a:xfrm>
            <a:off x="4566400" y="1452025"/>
            <a:ext cx="3999900" cy="47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Install Sass into your project.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1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Other Options For Styling</a:t>
            </a:r>
            <a:endParaRPr/>
          </a:p>
        </p:txBody>
      </p:sp>
      <p:sp>
        <p:nvSpPr>
          <p:cNvPr id="122" name="Google Shape;122;p21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We’ve taken a look at a couple of ways to style and customize our application with UI libraries. Below is a list of other things that you can take a look at.</a:t>
            </a:r>
            <a:endParaRPr/>
          </a:p>
          <a:p>
            <a:pPr marL="457200" lvl="0" indent="-342900" algn="l" rtl="0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Grommet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4"/>
              </a:rPr>
              <a:t>Tailwind.css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5"/>
              </a:rPr>
              <a:t>Ant.design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6"/>
              </a:rPr>
              <a:t>React-Bootstrap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7"/>
              </a:rPr>
              <a:t>Semantic UI React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8"/>
              </a:rPr>
              <a:t>Fluent UI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/>
          <p:cNvSpPr txBox="1">
            <a:spLocks noGrp="1"/>
          </p:cNvSpPr>
          <p:nvPr>
            <p:ph type="ctrTitle"/>
          </p:nvPr>
        </p:nvSpPr>
        <p:spPr>
          <a:xfrm>
            <a:off x="1635902" y="1211125"/>
            <a:ext cx="5783400" cy="14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 Overview of Sass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3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Sass, a language tour</a:t>
            </a:r>
            <a:endParaRPr/>
          </a:p>
        </p:txBody>
      </p:sp>
      <p:sp>
        <p:nvSpPr>
          <p:cNvPr id="133" name="Google Shape;133;p23"/>
          <p:cNvSpPr txBox="1">
            <a:spLocks noGrp="1"/>
          </p:cNvSpPr>
          <p:nvPr>
            <p:ph type="body" idx="1"/>
          </p:nvPr>
        </p:nvSpPr>
        <p:spPr>
          <a:xfrm>
            <a:off x="387900" y="1230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Import Note: The details of Sass are not required for this course.</a:t>
            </a:r>
            <a:endParaRPr b="1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We’re going to take a look at some of reasons why sass is so powerful and see a couple of examples of them.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Features that we’re going to look at that are awesome:</a:t>
            </a:r>
            <a:endParaRPr/>
          </a:p>
          <a:p>
            <a:pPr marL="457200" lvl="0" indent="-342900" algn="l" rtl="0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Variables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Nesting and some parent Selectors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Mixins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Some other features.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4"/>
          <p:cNvSpPr txBox="1">
            <a:spLocks noGrp="1"/>
          </p:cNvSpPr>
          <p:nvPr>
            <p:ph type="title"/>
          </p:nvPr>
        </p:nvSpPr>
        <p:spPr>
          <a:xfrm>
            <a:off x="387900" y="5447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Sass: Variables</a:t>
            </a:r>
            <a:endParaRPr/>
          </a:p>
        </p:txBody>
      </p:sp>
      <p:sp>
        <p:nvSpPr>
          <p:cNvPr id="139" name="Google Shape;139;p24"/>
          <p:cNvSpPr txBox="1">
            <a:spLocks noGrp="1"/>
          </p:cNvSpPr>
          <p:nvPr>
            <p:ph type="body" idx="1"/>
          </p:nvPr>
        </p:nvSpPr>
        <p:spPr>
          <a:xfrm>
            <a:off x="387900" y="1230825"/>
            <a:ext cx="3697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Sass Variables just like less, allow us to reduce the repetition.</a:t>
            </a:r>
            <a:endParaRPr sz="140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/>
              <a:t>Say for example you’d like to change theme colors for your site? Great! You only have to change in one place which awesome.</a:t>
            </a:r>
            <a:endParaRPr sz="1400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400"/>
              <a:t>To create variables you just to initialize it with “</a:t>
            </a: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$</a:t>
            </a:r>
            <a:r>
              <a:rPr lang="en" sz="1400"/>
              <a:t>”, you can see this on the right example.</a:t>
            </a:r>
            <a:endParaRPr sz="1400"/>
          </a:p>
        </p:txBody>
      </p:sp>
      <p:sp>
        <p:nvSpPr>
          <p:cNvPr id="140" name="Google Shape;140;p24"/>
          <p:cNvSpPr txBox="1">
            <a:spLocks noGrp="1"/>
          </p:cNvSpPr>
          <p:nvPr>
            <p:ph type="body" idx="1"/>
          </p:nvPr>
        </p:nvSpPr>
        <p:spPr>
          <a:xfrm>
            <a:off x="5058900" y="335200"/>
            <a:ext cx="3697200" cy="6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400"/>
              <a:t>Example:</a:t>
            </a:r>
            <a:br>
              <a:rPr lang="en" sz="1400"/>
            </a:br>
            <a:r>
              <a:rPr lang="en" sz="1400"/>
              <a:t>Sass file:</a:t>
            </a:r>
            <a:endParaRPr sz="1400"/>
          </a:p>
        </p:txBody>
      </p:sp>
      <p:sp>
        <p:nvSpPr>
          <p:cNvPr id="141" name="Google Shape;141;p24"/>
          <p:cNvSpPr txBox="1">
            <a:spLocks noGrp="1"/>
          </p:cNvSpPr>
          <p:nvPr>
            <p:ph type="body" idx="1"/>
          </p:nvPr>
        </p:nvSpPr>
        <p:spPr>
          <a:xfrm>
            <a:off x="5058900" y="2619988"/>
            <a:ext cx="3697200" cy="6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400"/>
              <a:t>After processing it becomes:</a:t>
            </a:r>
            <a:br>
              <a:rPr lang="en" sz="1400"/>
            </a:br>
            <a:r>
              <a:rPr lang="en" sz="1400"/>
              <a:t>CSS file:</a:t>
            </a:r>
            <a:endParaRPr sz="1400"/>
          </a:p>
        </p:txBody>
      </p:sp>
      <p:sp>
        <p:nvSpPr>
          <p:cNvPr id="142" name="Google Shape;142;p24"/>
          <p:cNvSpPr txBox="1">
            <a:spLocks noGrp="1"/>
          </p:cNvSpPr>
          <p:nvPr>
            <p:ph type="body" idx="1"/>
          </p:nvPr>
        </p:nvSpPr>
        <p:spPr>
          <a:xfrm>
            <a:off x="5058900" y="4407725"/>
            <a:ext cx="3504600" cy="8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Resources:</a:t>
            </a:r>
            <a:br>
              <a:rPr lang="en" sz="1200"/>
            </a:br>
            <a:r>
              <a:rPr lang="en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https://sass-lang.com/documentation/variables</a:t>
            </a:r>
            <a:endParaRPr sz="1200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 sz="1200"/>
          </a:p>
        </p:txBody>
      </p:sp>
      <p:sp>
        <p:nvSpPr>
          <p:cNvPr id="143" name="Google Shape;143;p24"/>
          <p:cNvSpPr txBox="1"/>
          <p:nvPr/>
        </p:nvSpPr>
        <p:spPr>
          <a:xfrm>
            <a:off x="5284100" y="940625"/>
            <a:ext cx="4026000" cy="204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$</a:t>
            </a:r>
            <a:r>
              <a:rPr lang="en" sz="1150">
                <a:solidFill>
                  <a:srgbClr val="4DD0E1"/>
                </a:solidFill>
                <a:latin typeface="Roboto Mono"/>
                <a:ea typeface="Roboto Mono"/>
                <a:cs typeface="Roboto Mono"/>
                <a:sym typeface="Roboto Mono"/>
              </a:rPr>
              <a:t>theme-color</a:t>
            </a: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n" sz="1150">
                <a:solidFill>
                  <a:srgbClr val="FBC02D"/>
                </a:solidFill>
                <a:latin typeface="Roboto Mono"/>
                <a:ea typeface="Roboto Mono"/>
                <a:cs typeface="Roboto Mono"/>
                <a:sym typeface="Roboto Mono"/>
              </a:rPr>
              <a:t>#fff</a:t>
            </a: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p {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en" sz="1150">
                <a:solidFill>
                  <a:srgbClr val="4DD0E1"/>
                </a:solidFill>
                <a:latin typeface="Roboto Mono"/>
                <a:ea typeface="Roboto Mono"/>
                <a:cs typeface="Roboto Mono"/>
                <a:sym typeface="Roboto Mono"/>
              </a:rPr>
              <a:t>background-color</a:t>
            </a: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: $theme-color;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b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h1 {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en" sz="1150">
                <a:solidFill>
                  <a:srgbClr val="4DD0E1"/>
                </a:solidFill>
                <a:latin typeface="Roboto Mono"/>
                <a:ea typeface="Roboto Mono"/>
                <a:cs typeface="Roboto Mono"/>
                <a:sym typeface="Roboto Mono"/>
              </a:rPr>
              <a:t>background-color</a:t>
            </a: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: $theme-color;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467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44" name="Google Shape;144;p24"/>
          <p:cNvSpPr txBox="1"/>
          <p:nvPr/>
        </p:nvSpPr>
        <p:spPr>
          <a:xfrm>
            <a:off x="5284100" y="3145325"/>
            <a:ext cx="3000000" cy="126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p {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en" sz="1150">
                <a:solidFill>
                  <a:srgbClr val="4DD0E1"/>
                </a:solidFill>
                <a:latin typeface="Roboto Mono"/>
                <a:ea typeface="Roboto Mono"/>
                <a:cs typeface="Roboto Mono"/>
                <a:sym typeface="Roboto Mono"/>
              </a:rPr>
              <a:t>background-color</a:t>
            </a: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n" sz="1150">
                <a:solidFill>
                  <a:srgbClr val="FBC02D"/>
                </a:solidFill>
                <a:latin typeface="Roboto Mono"/>
                <a:ea typeface="Roboto Mono"/>
                <a:cs typeface="Roboto Mono"/>
                <a:sym typeface="Roboto Mono"/>
              </a:rPr>
              <a:t>#fff</a:t>
            </a: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h1 {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en" sz="1150">
                <a:solidFill>
                  <a:srgbClr val="4DD0E1"/>
                </a:solidFill>
                <a:latin typeface="Roboto Mono"/>
                <a:ea typeface="Roboto Mono"/>
                <a:cs typeface="Roboto Mono"/>
                <a:sym typeface="Roboto Mono"/>
              </a:rPr>
              <a:t>background-color</a:t>
            </a: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n" sz="1150">
                <a:solidFill>
                  <a:srgbClr val="FBC02D"/>
                </a:solidFill>
                <a:latin typeface="Roboto Mono"/>
                <a:ea typeface="Roboto Mono"/>
                <a:cs typeface="Roboto Mono"/>
                <a:sym typeface="Roboto Mono"/>
              </a:rPr>
              <a:t>#fff</a:t>
            </a: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467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5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Sass: Nesting and a bit of parent selectors</a:t>
            </a:r>
            <a:endParaRPr/>
          </a:p>
        </p:txBody>
      </p:sp>
      <p:sp>
        <p:nvSpPr>
          <p:cNvPr id="150" name="Google Shape;150;p25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CSS doesn’t support the nesting of selectors, and I’m sure that at some point you’ve thought to yourself, why doesn’t CSS have this?</a:t>
            </a:r>
            <a:endParaRPr sz="140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/>
              <a:t>Well, sass does and it’s pretty intuitive (it’s also very similar to less which we took at last class). We’re going to take a look at what this looks like next slide.</a:t>
            </a:r>
            <a:endParaRPr sz="140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/>
              <a:t>If you take a look at the documentation, you can also refer to the parent selector by using the “&amp;” just like less as well.</a:t>
            </a:r>
            <a:endParaRPr sz="140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/>
              <a:t>Let’s take a look at an example of what this looks like.</a:t>
            </a:r>
            <a:endParaRPr sz="1400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 sz="1400"/>
          </a:p>
        </p:txBody>
      </p:sp>
      <p:sp>
        <p:nvSpPr>
          <p:cNvPr id="151" name="Google Shape;151;p25"/>
          <p:cNvSpPr txBox="1">
            <a:spLocks noGrp="1"/>
          </p:cNvSpPr>
          <p:nvPr>
            <p:ph type="body" idx="1"/>
          </p:nvPr>
        </p:nvSpPr>
        <p:spPr>
          <a:xfrm>
            <a:off x="4070425" y="4509525"/>
            <a:ext cx="5103300" cy="8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Resources:</a:t>
            </a:r>
            <a:br>
              <a:rPr lang="en" sz="1200"/>
            </a:br>
            <a:r>
              <a:rPr lang="en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https://sass-lang.com/documentation/style-rules/parent-selector</a:t>
            </a:r>
            <a:endParaRPr sz="1200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 sz="12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6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Sass: Nesting and a bit of parent selectors</a:t>
            </a:r>
            <a:endParaRPr/>
          </a:p>
        </p:txBody>
      </p:sp>
      <p:sp>
        <p:nvSpPr>
          <p:cNvPr id="157" name="Google Shape;157;p26"/>
          <p:cNvSpPr txBox="1">
            <a:spLocks noGrp="1"/>
          </p:cNvSpPr>
          <p:nvPr>
            <p:ph type="body" idx="1"/>
          </p:nvPr>
        </p:nvSpPr>
        <p:spPr>
          <a:xfrm>
            <a:off x="756225" y="1184100"/>
            <a:ext cx="3697200" cy="6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400"/>
              <a:t>Example:</a:t>
            </a:r>
            <a:br>
              <a:rPr lang="en" sz="1400"/>
            </a:br>
            <a:r>
              <a:rPr lang="en" sz="1400"/>
              <a:t>Sass file:</a:t>
            </a:r>
            <a:endParaRPr sz="1400"/>
          </a:p>
        </p:txBody>
      </p:sp>
      <p:sp>
        <p:nvSpPr>
          <p:cNvPr id="158" name="Google Shape;158;p26"/>
          <p:cNvSpPr txBox="1">
            <a:spLocks noGrp="1"/>
          </p:cNvSpPr>
          <p:nvPr>
            <p:ph type="body" idx="1"/>
          </p:nvPr>
        </p:nvSpPr>
        <p:spPr>
          <a:xfrm>
            <a:off x="4698900" y="1184100"/>
            <a:ext cx="3697200" cy="6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400"/>
              <a:t>After processing it becomes:</a:t>
            </a:r>
            <a:br>
              <a:rPr lang="en" sz="1400"/>
            </a:br>
            <a:r>
              <a:rPr lang="en" sz="1400"/>
              <a:t>CSS file:</a:t>
            </a:r>
            <a:endParaRPr sz="1400"/>
          </a:p>
        </p:txBody>
      </p:sp>
      <p:sp>
        <p:nvSpPr>
          <p:cNvPr id="159" name="Google Shape;159;p26"/>
          <p:cNvSpPr txBox="1">
            <a:spLocks noGrp="1"/>
          </p:cNvSpPr>
          <p:nvPr>
            <p:ph type="body" idx="1"/>
          </p:nvPr>
        </p:nvSpPr>
        <p:spPr>
          <a:xfrm>
            <a:off x="6755700" y="4235700"/>
            <a:ext cx="2388300" cy="8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Resources:</a:t>
            </a:r>
            <a:br>
              <a:rPr lang="en" sz="1200"/>
            </a:br>
            <a:r>
              <a:rPr lang="en" sz="1200" u="sng">
                <a:solidFill>
                  <a:schemeClr val="hlink"/>
                </a:solidFill>
                <a:hlinkClick r:id="rId3"/>
              </a:rPr>
              <a:t>http://lesscss.org/features/#parent-selectors-feature</a:t>
            </a:r>
            <a:r>
              <a:rPr lang="en" sz="1200"/>
              <a:t> </a:t>
            </a:r>
            <a:endParaRPr sz="1200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 sz="1200"/>
          </a:p>
        </p:txBody>
      </p:sp>
      <p:sp>
        <p:nvSpPr>
          <p:cNvPr id="160" name="Google Shape;160;p26"/>
          <p:cNvSpPr txBox="1"/>
          <p:nvPr/>
        </p:nvSpPr>
        <p:spPr>
          <a:xfrm>
            <a:off x="851075" y="176435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#main {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en" sz="1150">
                <a:solidFill>
                  <a:srgbClr val="4DD0E1"/>
                </a:solidFill>
                <a:latin typeface="Roboto Mono"/>
                <a:ea typeface="Roboto Mono"/>
                <a:cs typeface="Roboto Mono"/>
                <a:sym typeface="Roboto Mono"/>
              </a:rPr>
              <a:t>background-color</a:t>
            </a: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n" sz="1150">
                <a:solidFill>
                  <a:srgbClr val="FBC02D"/>
                </a:solidFill>
                <a:latin typeface="Roboto Mono"/>
                <a:ea typeface="Roboto Mono"/>
                <a:cs typeface="Roboto Mono"/>
                <a:sym typeface="Roboto Mono"/>
              </a:rPr>
              <a:t>#fff</a:t>
            </a: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#content {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  p {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    </a:t>
            </a:r>
            <a:r>
              <a:rPr lang="en" sz="1150">
                <a:solidFill>
                  <a:srgbClr val="4DD0E1"/>
                </a:solidFill>
                <a:latin typeface="Roboto Mono"/>
                <a:ea typeface="Roboto Mono"/>
                <a:cs typeface="Roboto Mono"/>
                <a:sym typeface="Roboto Mono"/>
              </a:rPr>
              <a:t>height</a:t>
            </a: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: auto;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  }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  a {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    </a:t>
            </a:r>
            <a:r>
              <a:rPr lang="en" sz="1150">
                <a:solidFill>
                  <a:srgbClr val="4DD0E1"/>
                </a:solidFill>
                <a:latin typeface="Roboto Mono"/>
                <a:ea typeface="Roboto Mono"/>
                <a:cs typeface="Roboto Mono"/>
                <a:sym typeface="Roboto Mono"/>
              </a:rPr>
              <a:t>text-decoration</a:t>
            </a: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: none;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  }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}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467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61" name="Google Shape;161;p26"/>
          <p:cNvSpPr txBox="1"/>
          <p:nvPr/>
        </p:nvSpPr>
        <p:spPr>
          <a:xfrm>
            <a:off x="4698900" y="176435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#main {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en" sz="1150">
                <a:solidFill>
                  <a:srgbClr val="4DD0E1"/>
                </a:solidFill>
                <a:latin typeface="Roboto Mono"/>
                <a:ea typeface="Roboto Mono"/>
                <a:cs typeface="Roboto Mono"/>
                <a:sym typeface="Roboto Mono"/>
              </a:rPr>
              <a:t>background-color</a:t>
            </a: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n" sz="1150">
                <a:solidFill>
                  <a:srgbClr val="FBC02D"/>
                </a:solidFill>
                <a:latin typeface="Roboto Mono"/>
                <a:ea typeface="Roboto Mono"/>
                <a:cs typeface="Roboto Mono"/>
                <a:sym typeface="Roboto Mono"/>
              </a:rPr>
              <a:t>#fff</a:t>
            </a: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#main #content p {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en" sz="1150">
                <a:solidFill>
                  <a:srgbClr val="4DD0E1"/>
                </a:solidFill>
                <a:latin typeface="Roboto Mono"/>
                <a:ea typeface="Roboto Mono"/>
                <a:cs typeface="Roboto Mono"/>
                <a:sym typeface="Roboto Mono"/>
              </a:rPr>
              <a:t>height</a:t>
            </a: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: auto;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#main #content a {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en" sz="1150">
                <a:solidFill>
                  <a:srgbClr val="4DD0E1"/>
                </a:solidFill>
                <a:latin typeface="Roboto Mono"/>
                <a:ea typeface="Roboto Mono"/>
                <a:cs typeface="Roboto Mono"/>
                <a:sym typeface="Roboto Mono"/>
              </a:rPr>
              <a:t>text-decoration</a:t>
            </a: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: none;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467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7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Sass: Mixins</a:t>
            </a:r>
            <a:endParaRPr/>
          </a:p>
        </p:txBody>
      </p:sp>
      <p:sp>
        <p:nvSpPr>
          <p:cNvPr id="167" name="Google Shape;167;p27"/>
          <p:cNvSpPr txBox="1">
            <a:spLocks noGrp="1"/>
          </p:cNvSpPr>
          <p:nvPr>
            <p:ph type="body" idx="1"/>
          </p:nvPr>
        </p:nvSpPr>
        <p:spPr>
          <a:xfrm>
            <a:off x="387900" y="1185024"/>
            <a:ext cx="8368200" cy="83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400"/>
              <a:t>Sass mixins allow you to define styles that you can reuse all over the place. To define a mixin you need to use the “</a:t>
            </a: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@mixin</a:t>
            </a:r>
            <a:r>
              <a:rPr lang="en" sz="1400"/>
              <a:t>” and to use (and reuse) the mixin somewhere use the “</a:t>
            </a: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@include</a:t>
            </a:r>
            <a:r>
              <a:rPr lang="en" sz="1400"/>
              <a:t>”. Below is an example </a:t>
            </a:r>
            <a:endParaRPr sz="1400"/>
          </a:p>
        </p:txBody>
      </p:sp>
      <p:sp>
        <p:nvSpPr>
          <p:cNvPr id="168" name="Google Shape;168;p27"/>
          <p:cNvSpPr txBox="1">
            <a:spLocks noGrp="1"/>
          </p:cNvSpPr>
          <p:nvPr>
            <p:ph type="body" idx="1"/>
          </p:nvPr>
        </p:nvSpPr>
        <p:spPr>
          <a:xfrm>
            <a:off x="411425" y="2056550"/>
            <a:ext cx="3697200" cy="6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400"/>
              <a:t>Example:</a:t>
            </a:r>
            <a:br>
              <a:rPr lang="en" sz="1400"/>
            </a:br>
            <a:r>
              <a:rPr lang="en" sz="1400"/>
              <a:t>Sass file:</a:t>
            </a:r>
            <a:endParaRPr sz="1400"/>
          </a:p>
        </p:txBody>
      </p:sp>
      <p:sp>
        <p:nvSpPr>
          <p:cNvPr id="169" name="Google Shape;169;p27"/>
          <p:cNvSpPr txBox="1">
            <a:spLocks noGrp="1"/>
          </p:cNvSpPr>
          <p:nvPr>
            <p:ph type="body" idx="1"/>
          </p:nvPr>
        </p:nvSpPr>
        <p:spPr>
          <a:xfrm>
            <a:off x="3353900" y="2059925"/>
            <a:ext cx="3697200" cy="6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400"/>
              <a:t>After processing it becomes:</a:t>
            </a:r>
            <a:br>
              <a:rPr lang="en" sz="1400"/>
            </a:br>
            <a:r>
              <a:rPr lang="en" sz="1400"/>
              <a:t>CSS file:</a:t>
            </a:r>
            <a:endParaRPr sz="1400"/>
          </a:p>
        </p:txBody>
      </p:sp>
      <p:sp>
        <p:nvSpPr>
          <p:cNvPr id="170" name="Google Shape;170;p27"/>
          <p:cNvSpPr txBox="1">
            <a:spLocks noGrp="1"/>
          </p:cNvSpPr>
          <p:nvPr>
            <p:ph type="body" idx="1"/>
          </p:nvPr>
        </p:nvSpPr>
        <p:spPr>
          <a:xfrm>
            <a:off x="5609700" y="4531725"/>
            <a:ext cx="3578700" cy="8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Resources:</a:t>
            </a:r>
            <a:br>
              <a:rPr lang="en" sz="1200"/>
            </a:br>
            <a:r>
              <a:rPr lang="en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https://sass-lang.com/documentation/at-rules/mixin</a:t>
            </a:r>
            <a:endParaRPr sz="1200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 sz="1200"/>
          </a:p>
        </p:txBody>
      </p:sp>
      <p:sp>
        <p:nvSpPr>
          <p:cNvPr id="171" name="Google Shape;171;p27"/>
          <p:cNvSpPr txBox="1"/>
          <p:nvPr/>
        </p:nvSpPr>
        <p:spPr>
          <a:xfrm>
            <a:off x="470625" y="2661050"/>
            <a:ext cx="3000000" cy="22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@mixin large-text {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en" sz="1150">
                <a:solidFill>
                  <a:srgbClr val="4DD0E1"/>
                </a:solidFill>
                <a:latin typeface="Roboto Mono"/>
                <a:ea typeface="Roboto Mono"/>
                <a:cs typeface="Roboto Mono"/>
                <a:sym typeface="Roboto Mono"/>
              </a:rPr>
              <a:t>font-size</a:t>
            </a: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n" sz="1150">
                <a:solidFill>
                  <a:srgbClr val="FBC02D"/>
                </a:solidFill>
                <a:latin typeface="Roboto Mono"/>
                <a:ea typeface="Roboto Mono"/>
                <a:cs typeface="Roboto Mono"/>
                <a:sym typeface="Roboto Mono"/>
              </a:rPr>
              <a:t>25rem</a:t>
            </a: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en" sz="1150">
                <a:solidFill>
                  <a:srgbClr val="4DD0E1"/>
                </a:solidFill>
                <a:latin typeface="Roboto Mono"/>
                <a:ea typeface="Roboto Mono"/>
                <a:cs typeface="Roboto Mono"/>
                <a:sym typeface="Roboto Mono"/>
              </a:rPr>
              <a:t>font-weight</a:t>
            </a: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: bold;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h1 {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@include large-text;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h2 {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@include large-text;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467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72" name="Google Shape;172;p27"/>
          <p:cNvSpPr txBox="1"/>
          <p:nvPr/>
        </p:nvSpPr>
        <p:spPr>
          <a:xfrm>
            <a:off x="3433925" y="2661050"/>
            <a:ext cx="3000000" cy="18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h1 {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en" sz="1150">
                <a:solidFill>
                  <a:srgbClr val="4DD0E1"/>
                </a:solidFill>
                <a:latin typeface="Roboto Mono"/>
                <a:ea typeface="Roboto Mono"/>
                <a:cs typeface="Roboto Mono"/>
                <a:sym typeface="Roboto Mono"/>
              </a:rPr>
              <a:t>font-size</a:t>
            </a: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n" sz="1150">
                <a:solidFill>
                  <a:srgbClr val="FBC02D"/>
                </a:solidFill>
                <a:latin typeface="Roboto Mono"/>
                <a:ea typeface="Roboto Mono"/>
                <a:cs typeface="Roboto Mono"/>
                <a:sym typeface="Roboto Mono"/>
              </a:rPr>
              <a:t>25rem</a:t>
            </a: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en" sz="1150">
                <a:solidFill>
                  <a:srgbClr val="4DD0E1"/>
                </a:solidFill>
                <a:latin typeface="Roboto Mono"/>
                <a:ea typeface="Roboto Mono"/>
                <a:cs typeface="Roboto Mono"/>
                <a:sym typeface="Roboto Mono"/>
              </a:rPr>
              <a:t>font-weight</a:t>
            </a: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: bold;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h2 {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en" sz="1150">
                <a:solidFill>
                  <a:srgbClr val="4DD0E1"/>
                </a:solidFill>
                <a:latin typeface="Roboto Mono"/>
                <a:ea typeface="Roboto Mono"/>
                <a:cs typeface="Roboto Mono"/>
                <a:sym typeface="Roboto Mono"/>
              </a:rPr>
              <a:t>font-size</a:t>
            </a: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n" sz="1150">
                <a:solidFill>
                  <a:srgbClr val="FBC02D"/>
                </a:solidFill>
                <a:latin typeface="Roboto Mono"/>
                <a:ea typeface="Roboto Mono"/>
                <a:cs typeface="Roboto Mono"/>
                <a:sym typeface="Roboto Mono"/>
              </a:rPr>
              <a:t>25rem</a:t>
            </a: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en" sz="1150">
                <a:solidFill>
                  <a:srgbClr val="4DD0E1"/>
                </a:solidFill>
                <a:latin typeface="Roboto Mono"/>
                <a:ea typeface="Roboto Mono"/>
                <a:cs typeface="Roboto Mono"/>
                <a:sym typeface="Roboto Mono"/>
              </a:rPr>
              <a:t>font-weight</a:t>
            </a: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: bold;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467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8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Sass: Other Features</a:t>
            </a:r>
            <a:endParaRPr/>
          </a:p>
        </p:txBody>
      </p:sp>
      <p:sp>
        <p:nvSpPr>
          <p:cNvPr id="178" name="Google Shape;178;p28"/>
          <p:cNvSpPr txBox="1">
            <a:spLocks noGrp="1"/>
          </p:cNvSpPr>
          <p:nvPr>
            <p:ph type="body" idx="1"/>
          </p:nvPr>
        </p:nvSpPr>
        <p:spPr>
          <a:xfrm>
            <a:off x="387900" y="1185024"/>
            <a:ext cx="8368200" cy="83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There a ton of more features in Sass that make really great to use, and also shorten up your css.</a:t>
            </a:r>
            <a:endParaRPr sz="120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200"/>
              <a:t>Here’s a few more common ones to be used. (but be careful not all of them are useable in this sass implementation which is “</a:t>
            </a:r>
            <a:r>
              <a:rPr lang="en" sz="1200" u="sng">
                <a:solidFill>
                  <a:schemeClr val="hlink"/>
                </a:solidFill>
                <a:hlinkClick r:id="rId3"/>
              </a:rPr>
              <a:t>libsass</a:t>
            </a:r>
            <a:r>
              <a:rPr lang="en" sz="1200"/>
              <a:t>”):</a:t>
            </a:r>
            <a:endParaRPr sz="1200"/>
          </a:p>
          <a:p>
            <a:pPr marL="457200" lvl="0" indent="-304800" algn="l" rtl="0">
              <a:spcBef>
                <a:spcPts val="160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“</a:t>
            </a:r>
            <a:r>
              <a:rPr lang="en" sz="12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@import</a:t>
            </a:r>
            <a:r>
              <a:rPr lang="en" sz="1200"/>
              <a:t>” ability to import other sass files to have access to mixins, functions and vars: </a:t>
            </a:r>
            <a:r>
              <a:rPr lang="en" sz="1200" u="sng">
                <a:solidFill>
                  <a:schemeClr val="hlink"/>
                </a:solidFill>
                <a:hlinkClick r:id="rId4"/>
              </a:rPr>
              <a:t>https://sass-lang.com/documentation/at-rules/import</a:t>
            </a:r>
            <a:r>
              <a:rPr lang="en" sz="1200"/>
              <a:t> </a:t>
            </a:r>
            <a:endParaRPr sz="1200"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“</a:t>
            </a:r>
            <a:r>
              <a:rPr lang="en" sz="12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@extend</a:t>
            </a:r>
            <a:r>
              <a:rPr lang="en" sz="1200"/>
              <a:t>” ability to use all of the styles from another class, and apply to another item.</a:t>
            </a:r>
            <a:br>
              <a:rPr lang="en" sz="1200"/>
            </a:br>
            <a:r>
              <a:rPr lang="en" sz="1200" u="sng">
                <a:solidFill>
                  <a:schemeClr val="hlink"/>
                </a:solidFill>
                <a:hlinkClick r:id="rId5"/>
              </a:rPr>
              <a:t>https://sass-lang.com/documentation/at-rules/extend</a:t>
            </a:r>
            <a:r>
              <a:rPr lang="en" sz="1200"/>
              <a:t> </a:t>
            </a:r>
            <a:endParaRPr sz="1200"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Different types of values: numbers, strings, colors, lists, booleans null, maps (like json or js objects).</a:t>
            </a:r>
            <a:br>
              <a:rPr lang="en" sz="1200"/>
            </a:br>
            <a:r>
              <a:rPr lang="en" sz="1200" u="sng">
                <a:solidFill>
                  <a:schemeClr val="hlink"/>
                </a:solidFill>
                <a:hlinkClick r:id="rId6"/>
              </a:rPr>
              <a:t>https://sass-lang.com/documentation/values</a:t>
            </a:r>
            <a:r>
              <a:rPr lang="en" sz="1200"/>
              <a:t> </a:t>
            </a:r>
            <a:endParaRPr sz="1200"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Operators which include math, and comparative operators.</a:t>
            </a:r>
            <a:br>
              <a:rPr lang="en" sz="1200"/>
            </a:br>
            <a:r>
              <a:rPr lang="en" sz="1200" u="sng">
                <a:solidFill>
                  <a:schemeClr val="hlink"/>
                </a:solidFill>
                <a:hlinkClick r:id="rId7"/>
              </a:rPr>
              <a:t>https://sass-lang.com/documentation/operators</a:t>
            </a:r>
            <a:endParaRPr sz="1200"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Functions which allow you calculate some more complicated values:</a:t>
            </a:r>
            <a:br>
              <a:rPr lang="en" sz="1200"/>
            </a:br>
            <a:r>
              <a:rPr lang="en" sz="1200" u="sng">
                <a:solidFill>
                  <a:schemeClr val="hlink"/>
                </a:solidFill>
                <a:hlinkClick r:id="rId8"/>
              </a:rPr>
              <a:t>https://sass-lang.com/documentation/at-rules/function</a:t>
            </a:r>
            <a:r>
              <a:rPr lang="en" sz="1200"/>
              <a:t> </a:t>
            </a:r>
            <a:endParaRPr sz="120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200"/>
              <a:t>Go take a look, this is a great place to learn Sass.</a:t>
            </a:r>
            <a:endParaRPr sz="1200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 sz="12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9"/>
          <p:cNvSpPr txBox="1">
            <a:spLocks noGrp="1"/>
          </p:cNvSpPr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Examples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0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Reading </a:t>
            </a:r>
            <a:endParaRPr/>
          </a:p>
        </p:txBody>
      </p:sp>
      <p:sp>
        <p:nvSpPr>
          <p:cNvPr id="189" name="Google Shape;189;p30"/>
          <p:cNvSpPr txBox="1">
            <a:spLocks noGrp="1"/>
          </p:cNvSpPr>
          <p:nvPr>
            <p:ph type="body" idx="1"/>
          </p:nvPr>
        </p:nvSpPr>
        <p:spPr>
          <a:xfrm>
            <a:off x="387900" y="1289999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Node Sass Javascript usage:</a:t>
            </a:r>
            <a:br>
              <a:rPr lang="en" sz="1400"/>
            </a:br>
            <a:r>
              <a:rPr lang="en" sz="1400" u="sng">
                <a:solidFill>
                  <a:schemeClr val="hlink"/>
                </a:solidFill>
                <a:hlinkClick r:id="rId3"/>
              </a:rPr>
              <a:t>https://github.com/andrew/node-sass-example</a:t>
            </a:r>
            <a:endParaRPr sz="140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Sass Language Documentation:</a:t>
            </a:r>
            <a:br>
              <a:rPr lang="en" sz="1400"/>
            </a:br>
            <a:r>
              <a:rPr lang="en" sz="1400" u="sng">
                <a:solidFill>
                  <a:schemeClr val="hlink"/>
                </a:solidFill>
                <a:hlinkClick r:id="rId4"/>
              </a:rPr>
              <a:t>https://sass-lang.com/documentation</a:t>
            </a:r>
            <a:r>
              <a:rPr lang="en" sz="1400"/>
              <a:t> </a:t>
            </a:r>
            <a:endParaRPr sz="140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Syntax differences between .sass and .scss files.</a:t>
            </a:r>
            <a:br>
              <a:rPr lang="en" sz="1400"/>
            </a:br>
            <a:r>
              <a:rPr lang="en" sz="1400" u="sng">
                <a:solidFill>
                  <a:schemeClr val="hlink"/>
                </a:solidFill>
                <a:hlinkClick r:id="rId5"/>
              </a:rPr>
              <a:t>https://sass-lang.com/documentation/syntax</a:t>
            </a:r>
            <a:r>
              <a:rPr lang="en" sz="1400"/>
              <a:t> </a:t>
            </a:r>
            <a:endParaRPr sz="1400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 sz="1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arina">
  <a:themeElements>
    <a:clrScheme name="Marina">
      <a:dk1>
        <a:srgbClr val="FFFFFF"/>
      </a:dk1>
      <a:lt1>
        <a:srgbClr val="00517C"/>
      </a:lt1>
      <a:dk2>
        <a:srgbClr val="004065"/>
      </a:dk2>
      <a:lt2>
        <a:srgbClr val="CFD8DC"/>
      </a:lt2>
      <a:accent1>
        <a:srgbClr val="0277BD"/>
      </a:accent1>
      <a:accent2>
        <a:srgbClr val="558B2F"/>
      </a:accent2>
      <a:accent3>
        <a:srgbClr val="009688"/>
      </a:accent3>
      <a:accent4>
        <a:srgbClr val="039BE5"/>
      </a:accent4>
      <a:accent5>
        <a:srgbClr val="8BC34A"/>
      </a:accent5>
      <a:accent6>
        <a:srgbClr val="FFEB38"/>
      </a:accent6>
      <a:hlink>
        <a:srgbClr val="8BC34A"/>
      </a:hlink>
      <a:folHlink>
        <a:srgbClr val="8BC3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3010</TotalTime>
  <Words>1753</Words>
  <Application>Microsoft Office PowerPoint</Application>
  <PresentationFormat>On-screen Show (16:9)</PresentationFormat>
  <Paragraphs>218</Paragraphs>
  <Slides>18</Slides>
  <Notes>18</Notes>
  <HiddenSlides>7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Roboto Mono</vt:lpstr>
      <vt:lpstr>Roboto Slab</vt:lpstr>
      <vt:lpstr>Roboto</vt:lpstr>
      <vt:lpstr>Arial</vt:lpstr>
      <vt:lpstr>Marina</vt:lpstr>
      <vt:lpstr>Advanced Javascript Material UI</vt:lpstr>
      <vt:lpstr>Announcements</vt:lpstr>
      <vt:lpstr>Where are we?</vt:lpstr>
      <vt:lpstr>Expectations - What I expect from you</vt:lpstr>
      <vt:lpstr>MUI Theming</vt:lpstr>
      <vt:lpstr>CSS In React</vt:lpstr>
      <vt:lpstr>CSS Modules In React (Next.js Especially)</vt:lpstr>
      <vt:lpstr>Next.js Sass Modules</vt:lpstr>
      <vt:lpstr>Other Options For Styling</vt:lpstr>
      <vt:lpstr>An Overview of Sass</vt:lpstr>
      <vt:lpstr>Sass, a language tour</vt:lpstr>
      <vt:lpstr>Sass: Variables</vt:lpstr>
      <vt:lpstr>Sass: Nesting and a bit of parent selectors</vt:lpstr>
      <vt:lpstr>Sass: Nesting and a bit of parent selectors</vt:lpstr>
      <vt:lpstr>Sass: Mixins</vt:lpstr>
      <vt:lpstr>Sass: Other Features</vt:lpstr>
      <vt:lpstr>Examples</vt:lpstr>
      <vt:lpstr>Reading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Jhimlie Eustaquio</cp:lastModifiedBy>
  <cp:revision>2</cp:revision>
  <dcterms:modified xsi:type="dcterms:W3CDTF">2026-09-30T19:56:56Z</dcterms:modified>
</cp:coreProperties>
</file>