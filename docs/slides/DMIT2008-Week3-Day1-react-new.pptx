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embeddedFontLst>
    <p:embeddedFont>
      <p:font typeface="Roboto" panose="02000000000000000000" pitchFamily="2" charset="0"/>
      <p:regular r:id="rId24"/>
      <p:bold r:id="rId25"/>
      <p:italic r:id="rId26"/>
      <p:boldItalic r:id="rId27"/>
    </p:embeddedFont>
    <p:embeddedFont>
      <p:font typeface="Roboto Mono" panose="00000009000000000000" pitchFamily="49" charset="0"/>
      <p:regular r:id="rId28"/>
      <p:bold r:id="rId29"/>
      <p:italic r:id="rId30"/>
      <p:boldItalic r:id="rId31"/>
    </p:embeddedFont>
    <p:embeddedFont>
      <p:font typeface="Roboto Slab" pitchFamily="2" charset="0"/>
      <p:regular r:id="rId32"/>
      <p:bold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874" y="77"/>
      </p:cViewPr>
      <p:guideLst/>
    </p:cSldViewPr>
  </p:slideViewPr>
  <p:notesTextViewPr>
    <p:cViewPr>
      <p:scale>
        <a:sx n="1" d="1"/>
        <a:sy n="1" d="1"/>
      </p:scale>
      <p:origin x="0" y="-29"/>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openxmlformats.org/officeDocument/2006/relationships/font" Target="fonts/font10.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font" Target="fonts/font9.fntdata"/><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font" Target="fonts/font7.fntdata"/><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 name="Google Shape;61;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5ad3a4879e_2_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5ad3a4879e_2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g4c141908b7_0_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 name="Google Shape;72;g4c141908b7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g80fb9f6395_4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 name="Google Shape;78;g80fb9f6395_4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g80ce8dd93d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g80ce8dd93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813d6757f1_0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813d6757f1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813d6757f1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 name="Google Shape;97;g813d6757f1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g12f06f6e180_0_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 name="Google Shape;103;g12f06f6e180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12f06f6e180_0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 name="Google Shape;109;g12f06f6e180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12f06f6e180_0_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12f06f6e180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813d6757f1_0_7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813d6757f1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813d6757f1_0_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813d6757f1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12f06f6e180_0_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3" name="Google Shape;133;g12f06f6e180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g813d6757f1_0_7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813d6757f1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813d6757f1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 name="Google Shape;145;g813d6757f1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JSX is an HTML like syntax that is value returned from every </a:t>
            </a:r>
            <a:r>
              <a:rPr lang="en-US"/>
              <a:t>React Component.</a:t>
            </a:r>
          </a:p>
          <a:p>
            <a:pPr marL="0" lvl="0" indent="0" algn="l" rtl="0">
              <a:spcBef>
                <a:spcPts val="0"/>
              </a:spcBef>
              <a:spcAft>
                <a:spcPts val="0"/>
              </a:spcAft>
              <a:buNone/>
            </a:pPr>
            <a:r>
              <a:rPr lang="en-US" dirty="0"/>
              <a:t>Components are special JS functions that we can use inside our JSX. This is super powerful because we’re kind of making our own html syntax.</a:t>
            </a:r>
            <a:endParaRP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813d6757f1_0_10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813d6757f1_0_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813d6757f1_0_1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 name="Google Shape;165;g813d6757f1_0_1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12f06f6e180_0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5" name="Google Shape;175;g12f06f6e180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12f06f6e180_0_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1" name="Google Shape;181;g12f06f6e180_0_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12f06f6e180_0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12f06f6e180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7b7fcc6223_3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3" name="Google Shape;193;g7b7fcc6223_3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p:nvPr/>
        </p:nvSpPr>
        <p:spPr>
          <a:xfrm>
            <a:off x="1524800" y="672606"/>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accent5"/>
            </a:solidFill>
            <a:prstDash val="solid"/>
            <a:miter lim="8000"/>
            <a:headEnd type="none" w="sm" len="sm"/>
            <a:tailEnd type="none" w="sm" len="sm"/>
          </a:ln>
        </p:spPr>
      </p:sp>
      <p:sp>
        <p:nvSpPr>
          <p:cNvPr id="11" name="Google Shape;11;p2"/>
          <p:cNvSpPr/>
          <p:nvPr/>
        </p:nvSpPr>
        <p:spPr>
          <a:xfrm rot="10800000">
            <a:off x="6537563" y="3342925"/>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accent5"/>
            </a:solidFill>
            <a:prstDash val="solid"/>
            <a:miter lim="8000"/>
            <a:headEnd type="none" w="sm" len="sm"/>
            <a:tailEnd type="none" w="sm" len="sm"/>
          </a:ln>
        </p:spPr>
      </p:sp>
      <p:cxnSp>
        <p:nvCxnSpPr>
          <p:cNvPr id="12" name="Google Shape;12;p2"/>
          <p:cNvCxnSpPr/>
          <p:nvPr/>
        </p:nvCxnSpPr>
        <p:spPr>
          <a:xfrm>
            <a:off x="4359602" y="2817464"/>
            <a:ext cx="424800" cy="0"/>
          </a:xfrm>
          <a:prstGeom prst="straightConnector1">
            <a:avLst/>
          </a:prstGeom>
          <a:noFill/>
          <a:ln w="38100" cap="flat" cmpd="sng">
            <a:solidFill>
              <a:schemeClr val="accent4"/>
            </a:solidFill>
            <a:prstDash val="solid"/>
            <a:round/>
            <a:headEnd type="none" w="sm" len="sm"/>
            <a:tailEnd type="none" w="sm" len="sm"/>
          </a:ln>
        </p:spPr>
      </p:cxnSp>
      <p:sp>
        <p:nvSpPr>
          <p:cNvPr id="13" name="Google Shape;13;p2"/>
          <p:cNvSpPr txBox="1">
            <a:spLocks noGrp="1"/>
          </p:cNvSpPr>
          <p:nvPr>
            <p:ph type="ctrTitle"/>
          </p:nvPr>
        </p:nvSpPr>
        <p:spPr>
          <a:xfrm>
            <a:off x="1680302" y="1188925"/>
            <a:ext cx="5783400" cy="1457400"/>
          </a:xfrm>
          <a:prstGeom prst="rect">
            <a:avLst/>
          </a:prstGeom>
        </p:spPr>
        <p:txBody>
          <a:bodyPr spcFirstLastPara="1" wrap="square" lIns="91425" tIns="91425" rIns="91425" bIns="91425" anchor="b" anchorCtr="0">
            <a:noAutofit/>
          </a:bodyPr>
          <a:lstStyle>
            <a:lvl1pPr lvl="0" algn="ctr">
              <a:spcBef>
                <a:spcPts val="0"/>
              </a:spcBef>
              <a:spcAft>
                <a:spcPts val="0"/>
              </a:spcAft>
              <a:buSzPts val="4000"/>
              <a:buNone/>
              <a:defRPr sz="4000"/>
            </a:lvl1pPr>
            <a:lvl2pPr lvl="1" algn="ctr">
              <a:spcBef>
                <a:spcPts val="0"/>
              </a:spcBef>
              <a:spcAft>
                <a:spcPts val="0"/>
              </a:spcAft>
              <a:buSzPts val="4000"/>
              <a:buNone/>
              <a:defRPr sz="4000"/>
            </a:lvl2pPr>
            <a:lvl3pPr lvl="2" algn="ctr">
              <a:spcBef>
                <a:spcPts val="0"/>
              </a:spcBef>
              <a:spcAft>
                <a:spcPts val="0"/>
              </a:spcAft>
              <a:buSzPts val="4000"/>
              <a:buNone/>
              <a:defRPr sz="4000"/>
            </a:lvl3pPr>
            <a:lvl4pPr lvl="3" algn="ctr">
              <a:spcBef>
                <a:spcPts val="0"/>
              </a:spcBef>
              <a:spcAft>
                <a:spcPts val="0"/>
              </a:spcAft>
              <a:buSzPts val="4000"/>
              <a:buNone/>
              <a:defRPr sz="4000"/>
            </a:lvl4pPr>
            <a:lvl5pPr lvl="4" algn="ctr">
              <a:spcBef>
                <a:spcPts val="0"/>
              </a:spcBef>
              <a:spcAft>
                <a:spcPts val="0"/>
              </a:spcAft>
              <a:buSzPts val="4000"/>
              <a:buNone/>
              <a:defRPr sz="4000"/>
            </a:lvl5pPr>
            <a:lvl6pPr lvl="5" algn="ctr">
              <a:spcBef>
                <a:spcPts val="0"/>
              </a:spcBef>
              <a:spcAft>
                <a:spcPts val="0"/>
              </a:spcAft>
              <a:buSzPts val="4000"/>
              <a:buNone/>
              <a:defRPr sz="4000"/>
            </a:lvl6pPr>
            <a:lvl7pPr lvl="6" algn="ctr">
              <a:spcBef>
                <a:spcPts val="0"/>
              </a:spcBef>
              <a:spcAft>
                <a:spcPts val="0"/>
              </a:spcAft>
              <a:buSzPts val="4000"/>
              <a:buNone/>
              <a:defRPr sz="4000"/>
            </a:lvl7pPr>
            <a:lvl8pPr lvl="7" algn="ctr">
              <a:spcBef>
                <a:spcPts val="0"/>
              </a:spcBef>
              <a:spcAft>
                <a:spcPts val="0"/>
              </a:spcAft>
              <a:buSzPts val="4000"/>
              <a:buNone/>
              <a:defRPr sz="4000"/>
            </a:lvl8pPr>
            <a:lvl9pPr lvl="8" algn="ctr">
              <a:spcBef>
                <a:spcPts val="0"/>
              </a:spcBef>
              <a:spcAft>
                <a:spcPts val="0"/>
              </a:spcAft>
              <a:buSzPts val="4000"/>
              <a:buNone/>
              <a:defRPr sz="4000"/>
            </a:lvl9pPr>
          </a:lstStyle>
          <a:p>
            <a:endParaRPr/>
          </a:p>
        </p:txBody>
      </p:sp>
      <p:sp>
        <p:nvSpPr>
          <p:cNvPr id="14" name="Google Shape;14;p2"/>
          <p:cNvSpPr txBox="1">
            <a:spLocks noGrp="1"/>
          </p:cNvSpPr>
          <p:nvPr>
            <p:ph type="subTitle" idx="1"/>
          </p:nvPr>
        </p:nvSpPr>
        <p:spPr>
          <a:xfrm>
            <a:off x="1680302" y="3049450"/>
            <a:ext cx="5783400" cy="9090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1pPr>
            <a:lvl2pPr lvl="1"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2pPr>
            <a:lvl3pPr lvl="2"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3pPr>
            <a:lvl4pPr lvl="3"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4pPr>
            <a:lvl5pPr lvl="4"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5pPr>
            <a:lvl6pPr lvl="5"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6pPr>
            <a:lvl7pPr lvl="6"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7pPr>
            <a:lvl8pPr lvl="7"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8pPr>
            <a:lvl9pPr lvl="8"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9pPr>
          </a:lstStyle>
          <a:p>
            <a:endParaRPr/>
          </a:p>
        </p:txBody>
      </p:sp>
      <p:sp>
        <p:nvSpPr>
          <p:cNvPr id="15" name="Google Shape;15;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6"/>
        <p:cNvGrpSpPr/>
        <p:nvPr/>
      </p:nvGrpSpPr>
      <p:grpSpPr>
        <a:xfrm>
          <a:off x="0" y="0"/>
          <a:ext cx="0" cy="0"/>
          <a:chOff x="0" y="0"/>
          <a:chExt cx="0" cy="0"/>
        </a:xfrm>
      </p:grpSpPr>
      <p:cxnSp>
        <p:nvCxnSpPr>
          <p:cNvPr id="17" name="Google Shape;17;p3"/>
          <p:cNvCxnSpPr/>
          <p:nvPr/>
        </p:nvCxnSpPr>
        <p:spPr>
          <a:xfrm>
            <a:off x="4359602" y="2817464"/>
            <a:ext cx="424800" cy="0"/>
          </a:xfrm>
          <a:prstGeom prst="straightConnector1">
            <a:avLst/>
          </a:prstGeom>
          <a:noFill/>
          <a:ln w="38100" cap="flat" cmpd="sng">
            <a:solidFill>
              <a:schemeClr val="accent4"/>
            </a:solidFill>
            <a:prstDash val="solid"/>
            <a:round/>
            <a:headEnd type="none" w="sm" len="sm"/>
            <a:tailEnd type="none" w="sm" len="sm"/>
          </a:ln>
        </p:spPr>
      </p:cxnSp>
      <p:sp>
        <p:nvSpPr>
          <p:cNvPr id="18" name="Google Shape;18;p3"/>
          <p:cNvSpPr txBox="1">
            <a:spLocks noGrp="1"/>
          </p:cNvSpPr>
          <p:nvPr>
            <p:ph type="title"/>
          </p:nvPr>
        </p:nvSpPr>
        <p:spPr>
          <a:xfrm>
            <a:off x="480750" y="1764950"/>
            <a:ext cx="8222100" cy="907500"/>
          </a:xfrm>
          <a:prstGeom prst="rect">
            <a:avLst/>
          </a:prstGeom>
        </p:spPr>
        <p:txBody>
          <a:bodyPr spcFirstLastPara="1" wrap="square" lIns="91425" tIns="91425" rIns="91425" bIns="91425" anchor="b" anchorCtr="0">
            <a:no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19" name="Google Shape;19;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
        <p:cNvGrpSpPr/>
        <p:nvPr/>
      </p:nvGrpSpPr>
      <p:grpSpPr>
        <a:xfrm>
          <a:off x="0" y="0"/>
          <a:ext cx="0" cy="0"/>
          <a:chOff x="0" y="0"/>
          <a:chExt cx="0" cy="0"/>
        </a:xfrm>
      </p:grpSpPr>
      <p:cxnSp>
        <p:nvCxnSpPr>
          <p:cNvPr id="21" name="Google Shape;21;p4"/>
          <p:cNvCxnSpPr/>
          <p:nvPr/>
        </p:nvCxnSpPr>
        <p:spPr>
          <a:xfrm>
            <a:off x="492563" y="1260284"/>
            <a:ext cx="424800" cy="0"/>
          </a:xfrm>
          <a:prstGeom prst="straightConnector1">
            <a:avLst/>
          </a:prstGeom>
          <a:noFill/>
          <a:ln w="38100" cap="flat" cmpd="sng">
            <a:solidFill>
              <a:schemeClr val="accent4"/>
            </a:solidFill>
            <a:prstDash val="solid"/>
            <a:round/>
            <a:headEnd type="none" w="sm" len="sm"/>
            <a:tailEnd type="none" w="sm" len="sm"/>
          </a:ln>
        </p:spPr>
      </p:cxnSp>
      <p:sp>
        <p:nvSpPr>
          <p:cNvPr id="22" name="Google Shape;22;p4"/>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3" name="Google Shape;23;p4"/>
          <p:cNvSpPr txBox="1">
            <a:spLocks noGrp="1"/>
          </p:cNvSpPr>
          <p:nvPr>
            <p:ph type="body" idx="1"/>
          </p:nvPr>
        </p:nvSpPr>
        <p:spPr>
          <a:xfrm>
            <a:off x="387900" y="1489824"/>
            <a:ext cx="8368200" cy="30789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24" name="Google Shape;24;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5"/>
        <p:cNvGrpSpPr/>
        <p:nvPr/>
      </p:nvGrpSpPr>
      <p:grpSpPr>
        <a:xfrm>
          <a:off x="0" y="0"/>
          <a:ext cx="0" cy="0"/>
          <a:chOff x="0" y="0"/>
          <a:chExt cx="0" cy="0"/>
        </a:xfrm>
      </p:grpSpPr>
      <p:cxnSp>
        <p:nvCxnSpPr>
          <p:cNvPr id="26" name="Google Shape;26;p5"/>
          <p:cNvCxnSpPr/>
          <p:nvPr/>
        </p:nvCxnSpPr>
        <p:spPr>
          <a:xfrm>
            <a:off x="492563" y="1260284"/>
            <a:ext cx="424800" cy="0"/>
          </a:xfrm>
          <a:prstGeom prst="straightConnector1">
            <a:avLst/>
          </a:prstGeom>
          <a:noFill/>
          <a:ln w="38100" cap="flat" cmpd="sng">
            <a:solidFill>
              <a:schemeClr val="accent4"/>
            </a:solidFill>
            <a:prstDash val="solid"/>
            <a:round/>
            <a:headEnd type="none" w="sm" len="sm"/>
            <a:tailEnd type="none" w="sm" len="sm"/>
          </a:ln>
        </p:spPr>
      </p:cxnSp>
      <p:sp>
        <p:nvSpPr>
          <p:cNvPr id="27" name="Google Shape;27;p5"/>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8" name="Google Shape;28;p5"/>
          <p:cNvSpPr txBox="1">
            <a:spLocks noGrp="1"/>
          </p:cNvSpPr>
          <p:nvPr>
            <p:ph type="body" idx="1"/>
          </p:nvPr>
        </p:nvSpPr>
        <p:spPr>
          <a:xfrm>
            <a:off x="387900" y="1489825"/>
            <a:ext cx="3999900" cy="30789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9" name="Google Shape;29;p5"/>
          <p:cNvSpPr txBox="1">
            <a:spLocks noGrp="1"/>
          </p:cNvSpPr>
          <p:nvPr>
            <p:ph type="body" idx="2"/>
          </p:nvPr>
        </p:nvSpPr>
        <p:spPr>
          <a:xfrm>
            <a:off x="4756200" y="1489825"/>
            <a:ext cx="3999900" cy="30789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0" name="Google Shape;30;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1"/>
        <p:cNvGrpSpPr/>
        <p:nvPr/>
      </p:nvGrpSpPr>
      <p:grpSpPr>
        <a:xfrm>
          <a:off x="0" y="0"/>
          <a:ext cx="0" cy="0"/>
          <a:chOff x="0" y="0"/>
          <a:chExt cx="0" cy="0"/>
        </a:xfrm>
      </p:grpSpPr>
      <p:sp>
        <p:nvSpPr>
          <p:cNvPr id="32" name="Google Shape;32;p6"/>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3" name="Google Shape;33;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4"/>
        <p:cNvGrpSpPr/>
        <p:nvPr/>
      </p:nvGrpSpPr>
      <p:grpSpPr>
        <a:xfrm>
          <a:off x="0" y="0"/>
          <a:ext cx="0" cy="0"/>
          <a:chOff x="0" y="0"/>
          <a:chExt cx="0" cy="0"/>
        </a:xfrm>
      </p:grpSpPr>
      <p:cxnSp>
        <p:nvCxnSpPr>
          <p:cNvPr id="35" name="Google Shape;35;p7"/>
          <p:cNvCxnSpPr/>
          <p:nvPr/>
        </p:nvCxnSpPr>
        <p:spPr>
          <a:xfrm>
            <a:off x="489218" y="1412277"/>
            <a:ext cx="331500" cy="0"/>
          </a:xfrm>
          <a:prstGeom prst="straightConnector1">
            <a:avLst/>
          </a:prstGeom>
          <a:noFill/>
          <a:ln w="38100" cap="flat" cmpd="sng">
            <a:solidFill>
              <a:schemeClr val="accent4"/>
            </a:solidFill>
            <a:prstDash val="solid"/>
            <a:round/>
            <a:headEnd type="none" w="sm" len="sm"/>
            <a:tailEnd type="none" w="sm" len="sm"/>
          </a:ln>
        </p:spPr>
      </p:cxnSp>
      <p:sp>
        <p:nvSpPr>
          <p:cNvPr id="36" name="Google Shape;36;p7"/>
          <p:cNvSpPr txBox="1">
            <a:spLocks noGrp="1"/>
          </p:cNvSpPr>
          <p:nvPr>
            <p:ph type="title"/>
          </p:nvPr>
        </p:nvSpPr>
        <p:spPr>
          <a:xfrm>
            <a:off x="3879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7" name="Google Shape;37;p7"/>
          <p:cNvSpPr txBox="1">
            <a:spLocks noGrp="1"/>
          </p:cNvSpPr>
          <p:nvPr>
            <p:ph type="body" idx="1"/>
          </p:nvPr>
        </p:nvSpPr>
        <p:spPr>
          <a:xfrm>
            <a:off x="387900" y="1594025"/>
            <a:ext cx="2808000" cy="26811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8" name="Google Shape;38;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9"/>
        <p:cNvGrpSpPr/>
        <p:nvPr/>
      </p:nvGrpSpPr>
      <p:grpSpPr>
        <a:xfrm>
          <a:off x="0" y="0"/>
          <a:ext cx="0" cy="0"/>
          <a:chOff x="0" y="0"/>
          <a:chExt cx="0" cy="0"/>
        </a:xfrm>
      </p:grpSpPr>
      <p:sp>
        <p:nvSpPr>
          <p:cNvPr id="40" name="Google Shape;40;p8"/>
          <p:cNvSpPr txBox="1">
            <a:spLocks noGrp="1"/>
          </p:cNvSpPr>
          <p:nvPr>
            <p:ph type="title"/>
          </p:nvPr>
        </p:nvSpPr>
        <p:spPr>
          <a:xfrm>
            <a:off x="490250" y="526350"/>
            <a:ext cx="56187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1" name="Google Shape;41;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2"/>
        <p:cNvGrpSpPr/>
        <p:nvPr/>
      </p:nvGrpSpPr>
      <p:grpSpPr>
        <a:xfrm>
          <a:off x="0" y="0"/>
          <a:ext cx="0" cy="0"/>
          <a:chOff x="0" y="0"/>
          <a:chExt cx="0" cy="0"/>
        </a:xfrm>
      </p:grpSpPr>
      <p:sp>
        <p:nvSpPr>
          <p:cNvPr id="43" name="Google Shape;43;p9"/>
          <p:cNvSpPr/>
          <p:nvPr/>
        </p:nvSpPr>
        <p:spPr>
          <a:xfrm>
            <a:off x="4572000" y="-75"/>
            <a:ext cx="45720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4" name="Google Shape;44;p9"/>
          <p:cNvCxnSpPr/>
          <p:nvPr/>
        </p:nvCxnSpPr>
        <p:spPr>
          <a:xfrm>
            <a:off x="5029675" y="4495503"/>
            <a:ext cx="540900" cy="0"/>
          </a:xfrm>
          <a:prstGeom prst="straightConnector1">
            <a:avLst/>
          </a:prstGeom>
          <a:noFill/>
          <a:ln w="38100" cap="flat" cmpd="sng">
            <a:solidFill>
              <a:schemeClr val="accent5"/>
            </a:solidFill>
            <a:prstDash val="solid"/>
            <a:round/>
            <a:headEnd type="none" w="sm" len="sm"/>
            <a:tailEnd type="none" w="sm" len="sm"/>
          </a:ln>
        </p:spPr>
      </p:cxnSp>
      <p:sp>
        <p:nvSpPr>
          <p:cNvPr id="45" name="Google Shape;45;p9"/>
          <p:cNvSpPr txBox="1">
            <a:spLocks noGrp="1"/>
          </p:cNvSpPr>
          <p:nvPr>
            <p:ph type="title"/>
          </p:nvPr>
        </p:nvSpPr>
        <p:spPr>
          <a:xfrm>
            <a:off x="265500" y="1209075"/>
            <a:ext cx="4045200" cy="1506300"/>
          </a:xfrm>
          <a:prstGeom prst="rect">
            <a:avLst/>
          </a:prstGeom>
        </p:spPr>
        <p:txBody>
          <a:bodyPr spcFirstLastPara="1" wrap="square" lIns="91425" tIns="91425" rIns="91425" bIns="91425" anchor="b" anchorCtr="0">
            <a:noAutofit/>
          </a:bodyPr>
          <a:lstStyle>
            <a:lvl1pPr lvl="0" algn="ctr">
              <a:spcBef>
                <a:spcPts val="0"/>
              </a:spcBef>
              <a:spcAft>
                <a:spcPts val="0"/>
              </a:spcAft>
              <a:buSzPts val="3800"/>
              <a:buNone/>
              <a:defRPr sz="3800"/>
            </a:lvl1pPr>
            <a:lvl2pPr lvl="1" algn="ctr">
              <a:spcBef>
                <a:spcPts val="0"/>
              </a:spcBef>
              <a:spcAft>
                <a:spcPts val="0"/>
              </a:spcAft>
              <a:buSzPts val="3800"/>
              <a:buNone/>
              <a:defRPr sz="3800"/>
            </a:lvl2pPr>
            <a:lvl3pPr lvl="2" algn="ctr">
              <a:spcBef>
                <a:spcPts val="0"/>
              </a:spcBef>
              <a:spcAft>
                <a:spcPts val="0"/>
              </a:spcAft>
              <a:buSzPts val="3800"/>
              <a:buNone/>
              <a:defRPr sz="3800"/>
            </a:lvl3pPr>
            <a:lvl4pPr lvl="3" algn="ctr">
              <a:spcBef>
                <a:spcPts val="0"/>
              </a:spcBef>
              <a:spcAft>
                <a:spcPts val="0"/>
              </a:spcAft>
              <a:buSzPts val="3800"/>
              <a:buNone/>
              <a:defRPr sz="3800"/>
            </a:lvl4pPr>
            <a:lvl5pPr lvl="4" algn="ctr">
              <a:spcBef>
                <a:spcPts val="0"/>
              </a:spcBef>
              <a:spcAft>
                <a:spcPts val="0"/>
              </a:spcAft>
              <a:buSzPts val="3800"/>
              <a:buNone/>
              <a:defRPr sz="3800"/>
            </a:lvl5pPr>
            <a:lvl6pPr lvl="5" algn="ctr">
              <a:spcBef>
                <a:spcPts val="0"/>
              </a:spcBef>
              <a:spcAft>
                <a:spcPts val="0"/>
              </a:spcAft>
              <a:buSzPts val="3800"/>
              <a:buNone/>
              <a:defRPr sz="3800"/>
            </a:lvl6pPr>
            <a:lvl7pPr lvl="6" algn="ctr">
              <a:spcBef>
                <a:spcPts val="0"/>
              </a:spcBef>
              <a:spcAft>
                <a:spcPts val="0"/>
              </a:spcAft>
              <a:buSzPts val="3800"/>
              <a:buNone/>
              <a:defRPr sz="3800"/>
            </a:lvl7pPr>
            <a:lvl8pPr lvl="7" algn="ctr">
              <a:spcBef>
                <a:spcPts val="0"/>
              </a:spcBef>
              <a:spcAft>
                <a:spcPts val="0"/>
              </a:spcAft>
              <a:buSzPts val="3800"/>
              <a:buNone/>
              <a:defRPr sz="3800"/>
            </a:lvl8pPr>
            <a:lvl9pPr lvl="8" algn="ctr">
              <a:spcBef>
                <a:spcPts val="0"/>
              </a:spcBef>
              <a:spcAft>
                <a:spcPts val="0"/>
              </a:spcAft>
              <a:buSzPts val="3800"/>
              <a:buNone/>
              <a:defRPr sz="3800"/>
            </a:lvl9pPr>
          </a:lstStyle>
          <a:p>
            <a:endParaRPr/>
          </a:p>
        </p:txBody>
      </p:sp>
      <p:sp>
        <p:nvSpPr>
          <p:cNvPr id="46" name="Google Shape;46;p9"/>
          <p:cNvSpPr txBox="1">
            <a:spLocks noGrp="1"/>
          </p:cNvSpPr>
          <p:nvPr>
            <p:ph type="subTitle" idx="1"/>
          </p:nvPr>
        </p:nvSpPr>
        <p:spPr>
          <a:xfrm>
            <a:off x="265500" y="2769001"/>
            <a:ext cx="4045200" cy="1345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Clr>
                <a:schemeClr val="accent5"/>
              </a:buClr>
              <a:buSzPts val="2100"/>
              <a:buNone/>
              <a:defRPr sz="2100">
                <a:solidFill>
                  <a:schemeClr val="accent5"/>
                </a:solidFill>
              </a:defRPr>
            </a:lvl1pPr>
            <a:lvl2pPr lvl="1" algn="ctr">
              <a:lnSpc>
                <a:spcPct val="100000"/>
              </a:lnSpc>
              <a:spcBef>
                <a:spcPts val="0"/>
              </a:spcBef>
              <a:spcAft>
                <a:spcPts val="0"/>
              </a:spcAft>
              <a:buClr>
                <a:schemeClr val="accent5"/>
              </a:buClr>
              <a:buSzPts val="2100"/>
              <a:buNone/>
              <a:defRPr sz="2100">
                <a:solidFill>
                  <a:schemeClr val="accent5"/>
                </a:solidFill>
              </a:defRPr>
            </a:lvl2pPr>
            <a:lvl3pPr lvl="2" algn="ctr">
              <a:lnSpc>
                <a:spcPct val="100000"/>
              </a:lnSpc>
              <a:spcBef>
                <a:spcPts val="0"/>
              </a:spcBef>
              <a:spcAft>
                <a:spcPts val="0"/>
              </a:spcAft>
              <a:buClr>
                <a:schemeClr val="accent5"/>
              </a:buClr>
              <a:buSzPts val="2100"/>
              <a:buNone/>
              <a:defRPr sz="2100">
                <a:solidFill>
                  <a:schemeClr val="accent5"/>
                </a:solidFill>
              </a:defRPr>
            </a:lvl3pPr>
            <a:lvl4pPr lvl="3" algn="ctr">
              <a:lnSpc>
                <a:spcPct val="100000"/>
              </a:lnSpc>
              <a:spcBef>
                <a:spcPts val="0"/>
              </a:spcBef>
              <a:spcAft>
                <a:spcPts val="0"/>
              </a:spcAft>
              <a:buClr>
                <a:schemeClr val="accent5"/>
              </a:buClr>
              <a:buSzPts val="2100"/>
              <a:buNone/>
              <a:defRPr sz="2100">
                <a:solidFill>
                  <a:schemeClr val="accent5"/>
                </a:solidFill>
              </a:defRPr>
            </a:lvl4pPr>
            <a:lvl5pPr lvl="4" algn="ctr">
              <a:lnSpc>
                <a:spcPct val="100000"/>
              </a:lnSpc>
              <a:spcBef>
                <a:spcPts val="0"/>
              </a:spcBef>
              <a:spcAft>
                <a:spcPts val="0"/>
              </a:spcAft>
              <a:buClr>
                <a:schemeClr val="accent5"/>
              </a:buClr>
              <a:buSzPts val="2100"/>
              <a:buNone/>
              <a:defRPr sz="2100">
                <a:solidFill>
                  <a:schemeClr val="accent5"/>
                </a:solidFill>
              </a:defRPr>
            </a:lvl5pPr>
            <a:lvl6pPr lvl="5" algn="ctr">
              <a:lnSpc>
                <a:spcPct val="100000"/>
              </a:lnSpc>
              <a:spcBef>
                <a:spcPts val="0"/>
              </a:spcBef>
              <a:spcAft>
                <a:spcPts val="0"/>
              </a:spcAft>
              <a:buClr>
                <a:schemeClr val="accent5"/>
              </a:buClr>
              <a:buSzPts val="2100"/>
              <a:buNone/>
              <a:defRPr sz="2100">
                <a:solidFill>
                  <a:schemeClr val="accent5"/>
                </a:solidFill>
              </a:defRPr>
            </a:lvl6pPr>
            <a:lvl7pPr lvl="6" algn="ctr">
              <a:lnSpc>
                <a:spcPct val="100000"/>
              </a:lnSpc>
              <a:spcBef>
                <a:spcPts val="0"/>
              </a:spcBef>
              <a:spcAft>
                <a:spcPts val="0"/>
              </a:spcAft>
              <a:buClr>
                <a:schemeClr val="accent5"/>
              </a:buClr>
              <a:buSzPts val="2100"/>
              <a:buNone/>
              <a:defRPr sz="2100">
                <a:solidFill>
                  <a:schemeClr val="accent5"/>
                </a:solidFill>
              </a:defRPr>
            </a:lvl7pPr>
            <a:lvl8pPr lvl="7" algn="ctr">
              <a:lnSpc>
                <a:spcPct val="100000"/>
              </a:lnSpc>
              <a:spcBef>
                <a:spcPts val="0"/>
              </a:spcBef>
              <a:spcAft>
                <a:spcPts val="0"/>
              </a:spcAft>
              <a:buClr>
                <a:schemeClr val="accent5"/>
              </a:buClr>
              <a:buSzPts val="2100"/>
              <a:buNone/>
              <a:defRPr sz="2100">
                <a:solidFill>
                  <a:schemeClr val="accent5"/>
                </a:solidFill>
              </a:defRPr>
            </a:lvl8pPr>
            <a:lvl9pPr lvl="8" algn="ctr">
              <a:lnSpc>
                <a:spcPct val="100000"/>
              </a:lnSpc>
              <a:spcBef>
                <a:spcPts val="0"/>
              </a:spcBef>
              <a:spcAft>
                <a:spcPts val="0"/>
              </a:spcAft>
              <a:buClr>
                <a:schemeClr val="accent5"/>
              </a:buClr>
              <a:buSzPts val="2100"/>
              <a:buNone/>
              <a:defRPr sz="2100">
                <a:solidFill>
                  <a:schemeClr val="accent5"/>
                </a:solidFill>
              </a:defRPr>
            </a:lvl9pPr>
          </a:lstStyle>
          <a:p>
            <a:endParaRPr/>
          </a:p>
        </p:txBody>
      </p:sp>
      <p:sp>
        <p:nvSpPr>
          <p:cNvPr id="47" name="Google Shape;47;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8" name="Google Shape;48;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9"/>
        <p:cNvGrpSpPr/>
        <p:nvPr/>
      </p:nvGrpSpPr>
      <p:grpSpPr>
        <a:xfrm>
          <a:off x="0" y="0"/>
          <a:ext cx="0" cy="0"/>
          <a:chOff x="0" y="0"/>
          <a:chExt cx="0" cy="0"/>
        </a:xfrm>
      </p:grpSpPr>
      <p:sp>
        <p:nvSpPr>
          <p:cNvPr id="50" name="Google Shape;50;p10"/>
          <p:cNvSpPr txBox="1">
            <a:spLocks noGrp="1"/>
          </p:cNvSpPr>
          <p:nvPr>
            <p:ph type="body" idx="1"/>
          </p:nvPr>
        </p:nvSpPr>
        <p:spPr>
          <a:xfrm>
            <a:off x="319500" y="4233725"/>
            <a:ext cx="5998800" cy="5988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Font typeface="Roboto Slab"/>
              <a:buNone/>
              <a:defRPr>
                <a:latin typeface="Roboto Slab"/>
                <a:ea typeface="Roboto Slab"/>
                <a:cs typeface="Roboto Slab"/>
                <a:sym typeface="Roboto Slab"/>
              </a:defRPr>
            </a:lvl1pPr>
          </a:lstStyle>
          <a:p>
            <a:endParaRPr/>
          </a:p>
        </p:txBody>
      </p:sp>
      <p:sp>
        <p:nvSpPr>
          <p:cNvPr id="51" name="Google Shape;51;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2"/>
        <p:cNvGrpSpPr/>
        <p:nvPr/>
      </p:nvGrpSpPr>
      <p:grpSpPr>
        <a:xfrm>
          <a:off x="0" y="0"/>
          <a:ext cx="0" cy="0"/>
          <a:chOff x="0" y="0"/>
          <a:chExt cx="0" cy="0"/>
        </a:xfrm>
      </p:grpSpPr>
      <p:sp>
        <p:nvSpPr>
          <p:cNvPr id="53" name="Google Shape;53;p11"/>
          <p:cNvSpPr/>
          <p:nvPr/>
        </p:nvSpPr>
        <p:spPr>
          <a:xfrm>
            <a:off x="150" y="5076825"/>
            <a:ext cx="9143700" cy="666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11"/>
          <p:cNvSpPr txBox="1">
            <a:spLocks noGrp="1"/>
          </p:cNvSpPr>
          <p:nvPr>
            <p:ph type="title" hasCustomPrompt="1"/>
          </p:nvPr>
        </p:nvSpPr>
        <p:spPr>
          <a:xfrm>
            <a:off x="387900" y="1152450"/>
            <a:ext cx="8368200" cy="1538400"/>
          </a:xfrm>
          <a:prstGeom prst="rect">
            <a:avLst/>
          </a:prstGeom>
        </p:spPr>
        <p:txBody>
          <a:bodyPr spcFirstLastPara="1" wrap="square" lIns="91425" tIns="91425" rIns="91425" bIns="91425" anchor="ctr" anchorCtr="0">
            <a:noAutofit/>
          </a:bodyPr>
          <a:lstStyle>
            <a:lvl1pPr lvl="0" algn="ctr">
              <a:spcBef>
                <a:spcPts val="0"/>
              </a:spcBef>
              <a:spcAft>
                <a:spcPts val="0"/>
              </a:spcAft>
              <a:buClr>
                <a:schemeClr val="accent5"/>
              </a:buClr>
              <a:buSzPts val="13000"/>
              <a:buNone/>
              <a:defRPr sz="13000">
                <a:solidFill>
                  <a:schemeClr val="accent5"/>
                </a:solidFill>
              </a:defRPr>
            </a:lvl1pPr>
            <a:lvl2pPr lvl="1" algn="ctr">
              <a:spcBef>
                <a:spcPts val="0"/>
              </a:spcBef>
              <a:spcAft>
                <a:spcPts val="0"/>
              </a:spcAft>
              <a:buClr>
                <a:schemeClr val="accent5"/>
              </a:buClr>
              <a:buSzPts val="13000"/>
              <a:buNone/>
              <a:defRPr sz="13000">
                <a:solidFill>
                  <a:schemeClr val="accent5"/>
                </a:solidFill>
              </a:defRPr>
            </a:lvl2pPr>
            <a:lvl3pPr lvl="2" algn="ctr">
              <a:spcBef>
                <a:spcPts val="0"/>
              </a:spcBef>
              <a:spcAft>
                <a:spcPts val="0"/>
              </a:spcAft>
              <a:buClr>
                <a:schemeClr val="accent5"/>
              </a:buClr>
              <a:buSzPts val="13000"/>
              <a:buNone/>
              <a:defRPr sz="13000">
                <a:solidFill>
                  <a:schemeClr val="accent5"/>
                </a:solidFill>
              </a:defRPr>
            </a:lvl3pPr>
            <a:lvl4pPr lvl="3" algn="ctr">
              <a:spcBef>
                <a:spcPts val="0"/>
              </a:spcBef>
              <a:spcAft>
                <a:spcPts val="0"/>
              </a:spcAft>
              <a:buClr>
                <a:schemeClr val="accent5"/>
              </a:buClr>
              <a:buSzPts val="13000"/>
              <a:buNone/>
              <a:defRPr sz="13000">
                <a:solidFill>
                  <a:schemeClr val="accent5"/>
                </a:solidFill>
              </a:defRPr>
            </a:lvl4pPr>
            <a:lvl5pPr lvl="4" algn="ctr">
              <a:spcBef>
                <a:spcPts val="0"/>
              </a:spcBef>
              <a:spcAft>
                <a:spcPts val="0"/>
              </a:spcAft>
              <a:buClr>
                <a:schemeClr val="accent5"/>
              </a:buClr>
              <a:buSzPts val="13000"/>
              <a:buNone/>
              <a:defRPr sz="13000">
                <a:solidFill>
                  <a:schemeClr val="accent5"/>
                </a:solidFill>
              </a:defRPr>
            </a:lvl5pPr>
            <a:lvl6pPr lvl="5" algn="ctr">
              <a:spcBef>
                <a:spcPts val="0"/>
              </a:spcBef>
              <a:spcAft>
                <a:spcPts val="0"/>
              </a:spcAft>
              <a:buClr>
                <a:schemeClr val="accent5"/>
              </a:buClr>
              <a:buSzPts val="13000"/>
              <a:buNone/>
              <a:defRPr sz="13000">
                <a:solidFill>
                  <a:schemeClr val="accent5"/>
                </a:solidFill>
              </a:defRPr>
            </a:lvl6pPr>
            <a:lvl7pPr lvl="6" algn="ctr">
              <a:spcBef>
                <a:spcPts val="0"/>
              </a:spcBef>
              <a:spcAft>
                <a:spcPts val="0"/>
              </a:spcAft>
              <a:buClr>
                <a:schemeClr val="accent5"/>
              </a:buClr>
              <a:buSzPts val="13000"/>
              <a:buNone/>
              <a:defRPr sz="13000">
                <a:solidFill>
                  <a:schemeClr val="accent5"/>
                </a:solidFill>
              </a:defRPr>
            </a:lvl7pPr>
            <a:lvl8pPr lvl="7" algn="ctr">
              <a:spcBef>
                <a:spcPts val="0"/>
              </a:spcBef>
              <a:spcAft>
                <a:spcPts val="0"/>
              </a:spcAft>
              <a:buClr>
                <a:schemeClr val="accent5"/>
              </a:buClr>
              <a:buSzPts val="13000"/>
              <a:buNone/>
              <a:defRPr sz="13000">
                <a:solidFill>
                  <a:schemeClr val="accent5"/>
                </a:solidFill>
              </a:defRPr>
            </a:lvl8pPr>
            <a:lvl9pPr lvl="8" algn="ctr">
              <a:spcBef>
                <a:spcPts val="0"/>
              </a:spcBef>
              <a:spcAft>
                <a:spcPts val="0"/>
              </a:spcAft>
              <a:buClr>
                <a:schemeClr val="accent5"/>
              </a:buClr>
              <a:buSzPts val="13000"/>
              <a:buNone/>
              <a:defRPr sz="13000">
                <a:solidFill>
                  <a:schemeClr val="accent5"/>
                </a:solidFill>
              </a:defRPr>
            </a:lvl9pPr>
          </a:lstStyle>
          <a:p>
            <a:r>
              <a:t>xx%</a:t>
            </a:r>
          </a:p>
        </p:txBody>
      </p:sp>
      <p:sp>
        <p:nvSpPr>
          <p:cNvPr id="55" name="Google Shape;55;p11"/>
          <p:cNvSpPr txBox="1">
            <a:spLocks noGrp="1"/>
          </p:cNvSpPr>
          <p:nvPr>
            <p:ph type="body" idx="1"/>
          </p:nvPr>
        </p:nvSpPr>
        <p:spPr>
          <a:xfrm>
            <a:off x="387900" y="2919450"/>
            <a:ext cx="8368200" cy="10716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56" name="Google Shape;5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7"/>
        <p:cNvGrpSpPr/>
        <p:nvPr/>
      </p:nvGrpSpPr>
      <p:grpSpPr>
        <a:xfrm>
          <a:off x="0" y="0"/>
          <a:ext cx="0" cy="0"/>
          <a:chOff x="0" y="0"/>
          <a:chExt cx="0" cy="0"/>
        </a:xfrm>
      </p:grpSpPr>
      <p:sp>
        <p:nvSpPr>
          <p:cNvPr id="58" name="Google Shape;58;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rina">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87900" y="458025"/>
            <a:ext cx="8368200" cy="686100"/>
          </a:xfrm>
          <a:prstGeom prst="rect">
            <a:avLst/>
          </a:prstGeom>
          <a:noFill/>
          <a:ln>
            <a:noFill/>
          </a:ln>
        </p:spPr>
        <p:txBody>
          <a:bodyPr spcFirstLastPara="1" wrap="square" lIns="91425" tIns="91425" rIns="91425" bIns="91425" anchor="b" anchorCtr="0">
            <a:noAutofit/>
          </a:bodyPr>
          <a:lstStyle>
            <a:lvl1pPr lvl="0">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1pPr>
            <a:lvl2pPr lvl="1">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2pPr>
            <a:lvl3pPr lvl="2">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3pPr>
            <a:lvl4pPr lvl="3">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4pPr>
            <a:lvl5pPr lvl="4">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5pPr>
            <a:lvl6pPr lvl="5">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6pPr>
            <a:lvl7pPr lvl="6">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7pPr>
            <a:lvl8pPr lvl="7">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8pPr>
            <a:lvl9pPr lvl="8">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9pPr>
          </a:lstStyle>
          <a:p>
            <a:endParaRPr/>
          </a:p>
        </p:txBody>
      </p:sp>
      <p:sp>
        <p:nvSpPr>
          <p:cNvPr id="7" name="Google Shape;7;p1"/>
          <p:cNvSpPr txBox="1">
            <a:spLocks noGrp="1"/>
          </p:cNvSpPr>
          <p:nvPr>
            <p:ph type="body" idx="1"/>
          </p:nvPr>
        </p:nvSpPr>
        <p:spPr>
          <a:xfrm>
            <a:off x="387900" y="1489824"/>
            <a:ext cx="8368200" cy="30789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2pPr>
            <a:lvl3pPr marL="1371600" lvl="2"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3pPr>
            <a:lvl4pPr marL="1828800" lvl="3"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4pPr>
            <a:lvl5pPr marL="2286000" lvl="4"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5pPr>
            <a:lvl6pPr marL="2743200" lvl="5"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6pPr>
            <a:lvl7pPr marL="3200400" lvl="6"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7pPr>
            <a:lvl8pPr marL="3657600" lvl="7"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8pPr>
            <a:lvl9pPr marL="4114800" lvl="8" indent="-317500">
              <a:lnSpc>
                <a:spcPct val="115000"/>
              </a:lnSpc>
              <a:spcBef>
                <a:spcPts val="1600"/>
              </a:spcBef>
              <a:spcAft>
                <a:spcPts val="1600"/>
              </a:spcAft>
              <a:buClr>
                <a:schemeClr val="dk1"/>
              </a:buClr>
              <a:buSzPts val="1400"/>
              <a:buFont typeface="Roboto"/>
              <a:buChar char="■"/>
              <a:defRPr>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1"/>
                </a:solidFill>
                <a:latin typeface="Roboto"/>
                <a:ea typeface="Roboto"/>
                <a:cs typeface="Roboto"/>
                <a:sym typeface="Roboto"/>
              </a:defRPr>
            </a:lvl1pPr>
            <a:lvl2pPr lvl="1" algn="r">
              <a:buNone/>
              <a:defRPr sz="1000">
                <a:solidFill>
                  <a:schemeClr val="dk1"/>
                </a:solidFill>
                <a:latin typeface="Roboto"/>
                <a:ea typeface="Roboto"/>
                <a:cs typeface="Roboto"/>
                <a:sym typeface="Roboto"/>
              </a:defRPr>
            </a:lvl2pPr>
            <a:lvl3pPr lvl="2" algn="r">
              <a:buNone/>
              <a:defRPr sz="1000">
                <a:solidFill>
                  <a:schemeClr val="dk1"/>
                </a:solidFill>
                <a:latin typeface="Roboto"/>
                <a:ea typeface="Roboto"/>
                <a:cs typeface="Roboto"/>
                <a:sym typeface="Roboto"/>
              </a:defRPr>
            </a:lvl3pPr>
            <a:lvl4pPr lvl="3" algn="r">
              <a:buNone/>
              <a:defRPr sz="1000">
                <a:solidFill>
                  <a:schemeClr val="dk1"/>
                </a:solidFill>
                <a:latin typeface="Roboto"/>
                <a:ea typeface="Roboto"/>
                <a:cs typeface="Roboto"/>
                <a:sym typeface="Roboto"/>
              </a:defRPr>
            </a:lvl4pPr>
            <a:lvl5pPr lvl="4" algn="r">
              <a:buNone/>
              <a:defRPr sz="1000">
                <a:solidFill>
                  <a:schemeClr val="dk1"/>
                </a:solidFill>
                <a:latin typeface="Roboto"/>
                <a:ea typeface="Roboto"/>
                <a:cs typeface="Roboto"/>
                <a:sym typeface="Roboto"/>
              </a:defRPr>
            </a:lvl5pPr>
            <a:lvl6pPr lvl="5" algn="r">
              <a:buNone/>
              <a:defRPr sz="1000">
                <a:solidFill>
                  <a:schemeClr val="dk1"/>
                </a:solidFill>
                <a:latin typeface="Roboto"/>
                <a:ea typeface="Roboto"/>
                <a:cs typeface="Roboto"/>
                <a:sym typeface="Roboto"/>
              </a:defRPr>
            </a:lvl6pPr>
            <a:lvl7pPr lvl="6" algn="r">
              <a:buNone/>
              <a:defRPr sz="1000">
                <a:solidFill>
                  <a:schemeClr val="dk1"/>
                </a:solidFill>
                <a:latin typeface="Roboto"/>
                <a:ea typeface="Roboto"/>
                <a:cs typeface="Roboto"/>
                <a:sym typeface="Roboto"/>
              </a:defRPr>
            </a:lvl7pPr>
            <a:lvl8pPr lvl="7" algn="r">
              <a:buNone/>
              <a:defRPr sz="1000">
                <a:solidFill>
                  <a:schemeClr val="dk1"/>
                </a:solidFill>
                <a:latin typeface="Roboto"/>
                <a:ea typeface="Roboto"/>
                <a:cs typeface="Roboto"/>
                <a:sym typeface="Roboto"/>
              </a:defRPr>
            </a:lvl8pPr>
            <a:lvl9pPr lvl="8" algn="r">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hyperlink" Target="https://reactjs.org/" TargetMode="External"/><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hyperlink" Target="https://en.wikipedia.org/wiki/Single-page_application" TargetMode="Externa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hyperlink" Target="https://survey.stackoverflow.co/2022/#web-frameworks-and-technologies" TargetMode="External"/><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hyperlink" Target="https://trends.google.com/trends/explore?date=today%205-y&amp;geo=US&amp;q=%2Fm%2F0268gyp,%2Fm%2F012l1vxv,%2Fg%2F11c0vmgx5d,%2Fg%2F11c5t00h04,%2Fm%2F0j45p7w" TargetMode="External"/><Relationship Id="rId4" Type="http://schemas.openxmlformats.org/officeDocument/2006/relationships/hyperlink" Target="https://ca.indeed.com/jobs?q=react+developer&amp;l=Edmonton%2C+AB" TargetMode="Externa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hyperlink" Target="https://nextjs.org/showcase" TargetMode="External"/><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hyperlink" Target="https://reactjs.org/docs/hooks-intro.html#gradual-adoption-strategy" TargetMode="External"/><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hyperlink" Target="https://jsfiddle.net/dgmouris/vt6c5gsL/24/"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hyperlink" Target="https://babeljs.io/repl/#?browsers=&amp;build=&amp;builtIns=false&amp;spec=false&amp;loose=false&amp;code_lz=MYewdgzgLgBAFgUwDZJAaQJZShhEYC8MAFAJSEB8MA3gFAwwBOCUAro2DADwAmGAbhXoNuAYQCGsYJIIAiALLjGEOIpQgA7rJihUjORrhYEsgPRCRYyTpmyA4uIC2AIyzbdIfbMPGzFkVwSUrZ2cCDQ7iB6BkZQJubCXKZ8ggDctAC-tEA&amp;debug=false&amp;forceAllTransforms=false&amp;shippedProposals=false&amp;circleciRepo=&amp;evaluate=false&amp;fileSize=false&amp;timeTravel=false&amp;sourceType=module&amp;lineWrap=true&amp;presets=react&amp;prettier=false&amp;targets=&amp;version=7.8.7&amp;externalPlugins=" TargetMode="External"/><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hyperlink" Target="https://jsfiddle.net/dgmouris/9625cmta/7/" TargetMode="External"/><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hyperlink" Target="https://jsfiddle.net/dgmouris/9625cmta/19/"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jsfiddle.net/dgmouris/rubjdt6k/6/" TargetMode="External"/><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hyperlink" Target="https://jsfiddle.net/dgmouris/rubjdt6k/14/" TargetMode="Externa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hyperlink" Target="https://nextjs.org/" TargetMode="External"/><Relationship Id="rId7" Type="http://schemas.openxmlformats.org/officeDocument/2006/relationships/hyperlink" Target="https://reactjs.org/docs/hooks-intro.html#gradual-adoption-strategy" TargetMode="External"/><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hyperlink" Target="https://reactjs.org/docs/hooks-faq.html" TargetMode="External"/><Relationship Id="rId5" Type="http://schemas.openxmlformats.org/officeDocument/2006/relationships/hyperlink" Target="https://reactjs.org/" TargetMode="External"/><Relationship Id="rId4" Type="http://schemas.openxmlformats.org/officeDocument/2006/relationships/hyperlink" Target="https://en.wikipedia.org/wiki/Single-page_applic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3"/>
          <p:cNvSpPr txBox="1">
            <a:spLocks noGrp="1"/>
          </p:cNvSpPr>
          <p:nvPr>
            <p:ph type="ctrTitle"/>
          </p:nvPr>
        </p:nvSpPr>
        <p:spPr>
          <a:xfrm>
            <a:off x="1680302" y="1188925"/>
            <a:ext cx="5783400" cy="1457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React and Next.js</a:t>
            </a:r>
            <a:endParaRPr/>
          </a:p>
        </p:txBody>
      </p:sp>
      <p:sp>
        <p:nvSpPr>
          <p:cNvPr id="64" name="Google Shape;64;p13"/>
          <p:cNvSpPr txBox="1">
            <a:spLocks noGrp="1"/>
          </p:cNvSpPr>
          <p:nvPr>
            <p:ph type="subTitle" idx="1"/>
          </p:nvPr>
        </p:nvSpPr>
        <p:spPr>
          <a:xfrm>
            <a:off x="1680302" y="3049450"/>
            <a:ext cx="5783400" cy="909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Javascript DMIT 2008</a:t>
            </a:r>
            <a:endParaRPr/>
          </a:p>
          <a:p>
            <a:pPr marL="0" lvl="0" indent="0" algn="ctr" rtl="0">
              <a:spcBef>
                <a:spcPts val="0"/>
              </a:spcBef>
              <a:spcAft>
                <a:spcPts val="0"/>
              </a:spcAft>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4"/>
          <p:cNvSpPr txBox="1">
            <a:spLocks noGrp="1"/>
          </p:cNvSpPr>
          <p:nvPr>
            <p:ph type="title"/>
          </p:nvPr>
        </p:nvSpPr>
        <p:spPr>
          <a:xfrm>
            <a:off x="480750" y="1764950"/>
            <a:ext cx="8222100" cy="907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Announcements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3"/>
        <p:cNvGrpSpPr/>
        <p:nvPr/>
      </p:nvGrpSpPr>
      <p:grpSpPr>
        <a:xfrm>
          <a:off x="0" y="0"/>
          <a:ext cx="0" cy="0"/>
          <a:chOff x="0" y="0"/>
          <a:chExt cx="0" cy="0"/>
        </a:xfrm>
      </p:grpSpPr>
      <p:sp>
        <p:nvSpPr>
          <p:cNvPr id="74" name="Google Shape;74;p15"/>
          <p:cNvSpPr txBox="1">
            <a:spLocks noGrp="1"/>
          </p:cNvSpPr>
          <p:nvPr>
            <p:ph type="title"/>
          </p:nvPr>
        </p:nvSpPr>
        <p:spPr>
          <a:xfrm>
            <a:off x="248400" y="1440025"/>
            <a:ext cx="4045200" cy="1506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Where are we?</a:t>
            </a:r>
            <a:endParaRPr/>
          </a:p>
        </p:txBody>
      </p:sp>
      <p:sp>
        <p:nvSpPr>
          <p:cNvPr id="75" name="Google Shape;75;p15"/>
          <p:cNvSpPr txBox="1">
            <a:spLocks noGrp="1"/>
          </p:cNvSpPr>
          <p:nvPr>
            <p:ph type="body" idx="2"/>
          </p:nvPr>
        </p:nvSpPr>
        <p:spPr>
          <a:xfrm>
            <a:off x="4946900" y="1086825"/>
            <a:ext cx="4297200" cy="3695100"/>
          </a:xfrm>
          <a:prstGeom prst="rect">
            <a:avLst/>
          </a:prstGeom>
        </p:spPr>
        <p:txBody>
          <a:bodyPr spcFirstLastPara="1" wrap="square" lIns="91425" tIns="91425" rIns="91425" bIns="91425" anchor="ctr" anchorCtr="0">
            <a:noAutofit/>
          </a:bodyPr>
          <a:lstStyle/>
          <a:p>
            <a:pPr marL="457200" lvl="0" indent="-330200" algn="l" rtl="0">
              <a:spcBef>
                <a:spcPts val="0"/>
              </a:spcBef>
              <a:spcAft>
                <a:spcPts val="0"/>
              </a:spcAft>
              <a:buSzPts val="1600"/>
              <a:buAutoNum type="arabicPeriod"/>
            </a:pPr>
            <a:r>
              <a:rPr lang="en" sz="1600"/>
              <a:t>Expectations</a:t>
            </a:r>
            <a:endParaRPr sz="1600"/>
          </a:p>
          <a:p>
            <a:pPr marL="457200" lvl="0" indent="-330200" algn="l" rtl="0">
              <a:spcBef>
                <a:spcPts val="0"/>
              </a:spcBef>
              <a:spcAft>
                <a:spcPts val="0"/>
              </a:spcAft>
              <a:buSzPts val="1600"/>
              <a:buAutoNum type="arabicPeriod"/>
            </a:pPr>
            <a:r>
              <a:rPr lang="en" sz="1600"/>
              <a:t>What is React</a:t>
            </a:r>
            <a:endParaRPr sz="1600"/>
          </a:p>
          <a:p>
            <a:pPr marL="457200" lvl="0" indent="-330200" algn="l" rtl="0">
              <a:spcBef>
                <a:spcPts val="0"/>
              </a:spcBef>
              <a:spcAft>
                <a:spcPts val="0"/>
              </a:spcAft>
              <a:buSzPts val="1600"/>
              <a:buAutoNum type="arabicPeriod"/>
            </a:pPr>
            <a:r>
              <a:rPr lang="en" sz="1600"/>
              <a:t>Why use React</a:t>
            </a:r>
            <a:endParaRPr sz="1600"/>
          </a:p>
          <a:p>
            <a:pPr marL="457200" lvl="0" indent="-330200" algn="l" rtl="0">
              <a:spcBef>
                <a:spcPts val="0"/>
              </a:spcBef>
              <a:spcAft>
                <a:spcPts val="0"/>
              </a:spcAft>
              <a:buSzPts val="1600"/>
              <a:buAutoNum type="arabicPeriod"/>
            </a:pPr>
            <a:r>
              <a:rPr lang="en" sz="1600"/>
              <a:t>What is Next.js</a:t>
            </a:r>
            <a:endParaRPr sz="1600"/>
          </a:p>
          <a:p>
            <a:pPr marL="457200" lvl="0" indent="-330200" algn="l" rtl="0">
              <a:spcBef>
                <a:spcPts val="0"/>
              </a:spcBef>
              <a:spcAft>
                <a:spcPts val="0"/>
              </a:spcAft>
              <a:buSzPts val="1600"/>
              <a:buAutoNum type="arabicPeriod"/>
            </a:pPr>
            <a:r>
              <a:rPr lang="en" sz="1600"/>
              <a:t>Okay Who uses react and Next.js</a:t>
            </a:r>
            <a:endParaRPr sz="1600"/>
          </a:p>
          <a:p>
            <a:pPr marL="457200" lvl="0" indent="-330200" algn="l" rtl="0">
              <a:spcBef>
                <a:spcPts val="0"/>
              </a:spcBef>
              <a:spcAft>
                <a:spcPts val="0"/>
              </a:spcAft>
              <a:buSzPts val="1600"/>
              <a:buAutoNum type="arabicPeriod"/>
            </a:pPr>
            <a:r>
              <a:rPr lang="en" sz="1600"/>
              <a:t>React Components</a:t>
            </a:r>
            <a:endParaRPr sz="1600"/>
          </a:p>
          <a:p>
            <a:pPr marL="457200" lvl="0" indent="-330200" algn="l" rtl="0">
              <a:spcBef>
                <a:spcPts val="0"/>
              </a:spcBef>
              <a:spcAft>
                <a:spcPts val="0"/>
              </a:spcAft>
              <a:buSzPts val="1600"/>
              <a:buAutoNum type="arabicPeriod"/>
            </a:pPr>
            <a:r>
              <a:rPr lang="en" sz="1600"/>
              <a:t>What does it look like?</a:t>
            </a:r>
            <a:endParaRPr sz="1600"/>
          </a:p>
          <a:p>
            <a:pPr marL="457200" lvl="0" indent="-330200" algn="l" rtl="0">
              <a:spcBef>
                <a:spcPts val="0"/>
              </a:spcBef>
              <a:spcAft>
                <a:spcPts val="0"/>
              </a:spcAft>
              <a:buSzPts val="1600"/>
              <a:buAutoNum type="arabicPeriod"/>
            </a:pPr>
            <a:r>
              <a:rPr lang="en" sz="1600"/>
              <a:t>A small intro to JSX</a:t>
            </a:r>
            <a:endParaRPr sz="1600"/>
          </a:p>
          <a:p>
            <a:pPr marL="457200" lvl="0" indent="-330200" algn="l" rtl="0">
              <a:spcBef>
                <a:spcPts val="0"/>
              </a:spcBef>
              <a:spcAft>
                <a:spcPts val="0"/>
              </a:spcAft>
              <a:buSzPts val="1600"/>
              <a:buAutoNum type="arabicPeriod"/>
            </a:pPr>
            <a:r>
              <a:rPr lang="en" sz="1600"/>
              <a:t>A Class Based Component with JSX</a:t>
            </a:r>
            <a:endParaRPr sz="1600"/>
          </a:p>
          <a:p>
            <a:pPr marL="457200" lvl="0" indent="-330200" algn="l" rtl="0">
              <a:spcBef>
                <a:spcPts val="0"/>
              </a:spcBef>
              <a:spcAft>
                <a:spcPts val="0"/>
              </a:spcAft>
              <a:buSzPts val="1600"/>
              <a:buAutoNum type="arabicPeriod"/>
            </a:pPr>
            <a:r>
              <a:rPr lang="en" sz="1600"/>
              <a:t>A Function Based Component (Hook) </a:t>
            </a:r>
            <a:endParaRPr sz="1600"/>
          </a:p>
          <a:p>
            <a:pPr marL="457200" lvl="0" indent="-330200" algn="l" rtl="0">
              <a:spcBef>
                <a:spcPts val="0"/>
              </a:spcBef>
              <a:spcAft>
                <a:spcPts val="0"/>
              </a:spcAft>
              <a:buSzPts val="1600"/>
              <a:buAutoNum type="arabicPeriod"/>
            </a:pPr>
            <a:r>
              <a:rPr lang="en" sz="1600"/>
              <a:t>Let’s Install and Explore Next.js</a:t>
            </a:r>
            <a:endParaRPr sz="16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16"/>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Expectations - What I expect from you</a:t>
            </a:r>
            <a:endParaRPr/>
          </a:p>
        </p:txBody>
      </p:sp>
      <p:sp>
        <p:nvSpPr>
          <p:cNvPr id="81" name="Google Shape;81;p16"/>
          <p:cNvSpPr txBox="1">
            <a:spLocks noGrp="1"/>
          </p:cNvSpPr>
          <p:nvPr>
            <p:ph type="body" idx="1"/>
          </p:nvPr>
        </p:nvSpPr>
        <p:spPr>
          <a:xfrm>
            <a:off x="387900" y="1489824"/>
            <a:ext cx="8368200" cy="3078900"/>
          </a:xfrm>
          <a:prstGeom prst="rect">
            <a:avLst/>
          </a:prstGeom>
        </p:spPr>
        <p:txBody>
          <a:bodyPr spcFirstLastPara="1" wrap="square" lIns="91425" tIns="91425" rIns="91425" bIns="91425" anchor="t" anchorCtr="0">
            <a:noAutofit/>
          </a:bodyPr>
          <a:lstStyle/>
          <a:p>
            <a:pPr>
              <a:buFont typeface="Roboto"/>
              <a:buAutoNum type="arabicPeriod"/>
            </a:pPr>
            <a:r>
              <a:rPr lang="en-US" dirty="0"/>
              <a:t>Pay Attention and ask questions while on session.</a:t>
            </a:r>
          </a:p>
          <a:p>
            <a:pPr>
              <a:buFont typeface="Roboto"/>
              <a:buAutoNum type="arabicPeriod"/>
            </a:pPr>
            <a:r>
              <a:rPr lang="en-US" dirty="0"/>
              <a:t>Follow along the coding exercises.</a:t>
            </a:r>
          </a:p>
          <a:p>
            <a:pPr>
              <a:buFont typeface="Roboto"/>
              <a:buAutoNum type="arabicPeriod"/>
            </a:pPr>
            <a:r>
              <a:rPr lang="en-US" dirty="0"/>
              <a:t>Focus on the task on hand, don’t go wandering.</a:t>
            </a:r>
          </a:p>
          <a:p>
            <a:pPr>
              <a:buFont typeface="Roboto"/>
              <a:buAutoNum type="arabicPeriod"/>
            </a:pPr>
            <a:r>
              <a:rPr lang="en-US" dirty="0"/>
              <a:t>No late submission of Assignments.</a:t>
            </a:r>
          </a:p>
          <a:p>
            <a:pPr>
              <a:buFont typeface="Roboto"/>
              <a:buAutoNum type="arabicPeriod"/>
            </a:pPr>
            <a:r>
              <a:rPr lang="en-US" dirty="0"/>
              <a:t>Commit your codes to your Assignment repositories day-to-day to </a:t>
            </a:r>
            <a:r>
              <a:rPr lang="en-CA" dirty="0"/>
              <a:t>demonstrate incremental development of your solution.</a:t>
            </a:r>
            <a:endParaRPr lang="en-US" dirty="0"/>
          </a:p>
          <a:p>
            <a:pPr>
              <a:buFont typeface="Roboto"/>
              <a:buAutoNum type="arabicPeriod"/>
            </a:pPr>
            <a:r>
              <a:rPr lang="en-US" dirty="0"/>
              <a:t>No cheating on exams.</a:t>
            </a:r>
          </a:p>
          <a:p>
            <a:pPr>
              <a:buFont typeface="Roboto"/>
              <a:buAutoNum type="arabicPeriod"/>
            </a:pPr>
            <a:r>
              <a:rPr lang="en-US" dirty="0"/>
              <a:t>Complete the final project.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6" name="Google Shape;86;p17"/>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What is React?</a:t>
            </a:r>
            <a:endParaRPr/>
          </a:p>
        </p:txBody>
      </p:sp>
      <p:sp>
        <p:nvSpPr>
          <p:cNvPr id="87" name="Google Shape;87;p17"/>
          <p:cNvSpPr txBox="1">
            <a:spLocks noGrp="1"/>
          </p:cNvSpPr>
          <p:nvPr>
            <p:ph type="body" idx="1"/>
          </p:nvPr>
        </p:nvSpPr>
        <p:spPr>
          <a:xfrm>
            <a:off x="387900" y="1261224"/>
            <a:ext cx="8368200" cy="30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600"/>
              <a:t>From the </a:t>
            </a:r>
            <a:r>
              <a:rPr lang="en" sz="1600" u="sng">
                <a:solidFill>
                  <a:schemeClr val="hlink"/>
                </a:solidFill>
                <a:hlinkClick r:id="rId3"/>
              </a:rPr>
              <a:t>React site</a:t>
            </a:r>
            <a:r>
              <a:rPr lang="en" sz="1600"/>
              <a:t> "A JavaScript library for building user interfaces".</a:t>
            </a:r>
            <a:endParaRPr sz="1600"/>
          </a:p>
          <a:p>
            <a:pPr marL="0" lvl="0" indent="0" algn="l" rtl="0">
              <a:spcBef>
                <a:spcPts val="1600"/>
              </a:spcBef>
              <a:spcAft>
                <a:spcPts val="0"/>
              </a:spcAft>
              <a:buNone/>
            </a:pPr>
            <a:r>
              <a:rPr lang="en" sz="1600"/>
              <a:t>This is a library that can be used to create "single page applications". </a:t>
            </a:r>
            <a:r>
              <a:rPr lang="en" sz="1600" u="sng">
                <a:solidFill>
                  <a:schemeClr val="hlink"/>
                </a:solidFill>
                <a:hlinkClick r:id="rId4"/>
              </a:rPr>
              <a:t>Single Page Application</a:t>
            </a:r>
            <a:r>
              <a:rPr lang="en" sz="1600"/>
              <a:t> make it so we don't have to fetch a new page every time we navigate on our site, or refresh our web pages when create/update data.</a:t>
            </a:r>
            <a:endParaRPr sz="1600"/>
          </a:p>
          <a:p>
            <a:pPr marL="0" lvl="0" indent="0" algn="l" rtl="0">
              <a:spcBef>
                <a:spcPts val="1600"/>
              </a:spcBef>
              <a:spcAft>
                <a:spcPts val="0"/>
              </a:spcAft>
              <a:buNone/>
            </a:pPr>
            <a:r>
              <a:rPr lang="en" sz="1600"/>
              <a:t>React lets you build really complicated User Interfaces (UIs) by breaking parts of your page into what's called "Components".</a:t>
            </a:r>
            <a:endParaRPr sz="1600"/>
          </a:p>
          <a:p>
            <a:pPr marL="0" lvl="0" indent="0" algn="l" rtl="0">
              <a:spcBef>
                <a:spcPts val="1600"/>
              </a:spcBef>
              <a:spcAft>
                <a:spcPts val="0"/>
              </a:spcAft>
              <a:buNone/>
            </a:pPr>
            <a:r>
              <a:rPr lang="en" sz="1600"/>
              <a:t>React also primarily uses JSX (templatingish language) which is a super flexible html like syntax that we're going to look at today.</a:t>
            </a:r>
            <a:endParaRPr sz="1600"/>
          </a:p>
          <a:p>
            <a:pPr marL="0" lvl="0" indent="0" algn="l" rtl="0">
              <a:spcBef>
                <a:spcPts val="1600"/>
              </a:spcBef>
              <a:spcAft>
                <a:spcPts val="1600"/>
              </a:spcAft>
              <a:buNone/>
            </a:pPr>
            <a:endParaRPr sz="16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8"/>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Why use React?</a:t>
            </a:r>
            <a:endParaRPr/>
          </a:p>
        </p:txBody>
      </p:sp>
      <p:sp>
        <p:nvSpPr>
          <p:cNvPr id="93" name="Google Shape;93;p18"/>
          <p:cNvSpPr txBox="1">
            <a:spLocks noGrp="1"/>
          </p:cNvSpPr>
          <p:nvPr>
            <p:ph type="body" idx="1"/>
          </p:nvPr>
        </p:nvSpPr>
        <p:spPr>
          <a:xfrm>
            <a:off x="387900" y="1261225"/>
            <a:ext cx="3999900" cy="30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b="1"/>
              <a:t>Why use it for work?</a:t>
            </a:r>
            <a:endParaRPr sz="1200" b="1"/>
          </a:p>
          <a:p>
            <a:pPr marL="457200" lvl="0" indent="-304800" algn="l" rtl="0">
              <a:spcBef>
                <a:spcPts val="1600"/>
              </a:spcBef>
              <a:spcAft>
                <a:spcPts val="0"/>
              </a:spcAft>
              <a:buSzPts val="1200"/>
              <a:buChar char="●"/>
            </a:pPr>
            <a:r>
              <a:rPr lang="en" sz="1200"/>
              <a:t>The most (according) popular to the 2019 state of js and the stack overflow developer insights survey.</a:t>
            </a:r>
            <a:endParaRPr sz="1200"/>
          </a:p>
          <a:p>
            <a:pPr marL="914400" lvl="1" indent="-304800" algn="l" rtl="0">
              <a:spcBef>
                <a:spcPts val="0"/>
              </a:spcBef>
              <a:spcAft>
                <a:spcPts val="0"/>
              </a:spcAft>
              <a:buSzPts val="1200"/>
              <a:buChar char="○"/>
            </a:pPr>
            <a:r>
              <a:rPr lang="en"/>
              <a:t>On the Developer insights, this is the second most popular framework (any language) which is pretty great. It's second only to JQuery which has been trending down for the last 5 years.</a:t>
            </a:r>
            <a:endParaRPr sz="1200"/>
          </a:p>
          <a:p>
            <a:pPr marL="457200" lvl="0" indent="-304800" algn="l" rtl="0">
              <a:spcBef>
                <a:spcPts val="0"/>
              </a:spcBef>
              <a:spcAft>
                <a:spcPts val="0"/>
              </a:spcAft>
              <a:buSzPts val="1200"/>
              <a:buChar char="●"/>
            </a:pPr>
            <a:r>
              <a:rPr lang="en" sz="1200"/>
              <a:t>Also many companies around town are using it, and currently there's the most jobs for it out there for front end development.</a:t>
            </a:r>
            <a:endParaRPr sz="1200"/>
          </a:p>
        </p:txBody>
      </p:sp>
      <p:sp>
        <p:nvSpPr>
          <p:cNvPr id="94" name="Google Shape;94;p18"/>
          <p:cNvSpPr txBox="1">
            <a:spLocks noGrp="1"/>
          </p:cNvSpPr>
          <p:nvPr>
            <p:ph type="body" idx="2"/>
          </p:nvPr>
        </p:nvSpPr>
        <p:spPr>
          <a:xfrm>
            <a:off x="4756200" y="1261225"/>
            <a:ext cx="3999900" cy="30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b="1"/>
              <a:t>Why is it technically nice?</a:t>
            </a:r>
            <a:endParaRPr sz="1200" b="1"/>
          </a:p>
          <a:p>
            <a:pPr marL="457200" lvl="0" indent="-304800" algn="l" rtl="0">
              <a:spcBef>
                <a:spcPts val="1600"/>
              </a:spcBef>
              <a:spcAft>
                <a:spcPts val="0"/>
              </a:spcAft>
              <a:buSzPts val="1200"/>
              <a:buChar char="●"/>
            </a:pPr>
            <a:r>
              <a:rPr lang="en" sz="1200"/>
              <a:t>It's a framework written by really smart people, and maintained by a very large community in the open source.</a:t>
            </a:r>
            <a:endParaRPr sz="1200"/>
          </a:p>
          <a:p>
            <a:pPr marL="457200" lvl="0" indent="-304800" algn="l" rtl="0">
              <a:spcBef>
                <a:spcPts val="0"/>
              </a:spcBef>
              <a:spcAft>
                <a:spcPts val="0"/>
              </a:spcAft>
              <a:buSzPts val="1200"/>
              <a:buChar char="●"/>
            </a:pPr>
            <a:r>
              <a:rPr lang="en" sz="1200"/>
              <a:t>You've probably heard me talk about State management, and how its' difficult. React solves this problem and allows you to focus on the  business logic of your application.</a:t>
            </a:r>
            <a:endParaRPr sz="1200"/>
          </a:p>
          <a:p>
            <a:pPr marL="457200" lvl="0" indent="-304800" algn="l" rtl="0">
              <a:spcBef>
                <a:spcPts val="0"/>
              </a:spcBef>
              <a:spcAft>
                <a:spcPts val="0"/>
              </a:spcAft>
              <a:buSzPts val="1200"/>
              <a:buChar char="●"/>
            </a:pPr>
            <a:r>
              <a:rPr lang="en" sz="1200"/>
              <a:t>There's a ton of open source projects that play really nicely with React.</a:t>
            </a:r>
            <a:endParaRPr sz="1200"/>
          </a:p>
          <a:p>
            <a:pPr marL="457200" lvl="0" indent="-304800" algn="l" rtl="0">
              <a:spcBef>
                <a:spcPts val="0"/>
              </a:spcBef>
              <a:spcAft>
                <a:spcPts val="0"/>
              </a:spcAft>
              <a:buSzPts val="1200"/>
              <a:buChar char="●"/>
            </a:pPr>
            <a:r>
              <a:rPr lang="en" sz="1200"/>
              <a:t>Since the community is large if you're having an issue, someone's probably already had it so you can find solutions and not waste a ton of time (this is very valuable).</a:t>
            </a:r>
            <a:endParaRPr sz="12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9"/>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Why use React? Some Resources to look at.</a:t>
            </a:r>
            <a:endParaRPr/>
          </a:p>
        </p:txBody>
      </p:sp>
      <p:sp>
        <p:nvSpPr>
          <p:cNvPr id="100" name="Google Shape;100;p19"/>
          <p:cNvSpPr txBox="1">
            <a:spLocks noGrp="1"/>
          </p:cNvSpPr>
          <p:nvPr>
            <p:ph type="body" idx="1"/>
          </p:nvPr>
        </p:nvSpPr>
        <p:spPr>
          <a:xfrm>
            <a:off x="387900" y="1261224"/>
            <a:ext cx="8368200" cy="30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Popularity</a:t>
            </a:r>
            <a:endParaRPr sz="1200"/>
          </a:p>
          <a:p>
            <a:pPr marL="457200" lvl="0" indent="-304800" algn="l" rtl="0">
              <a:spcBef>
                <a:spcPts val="1600"/>
              </a:spcBef>
              <a:spcAft>
                <a:spcPts val="0"/>
              </a:spcAft>
              <a:buSzPts val="1200"/>
              <a:buChar char="●"/>
            </a:pPr>
            <a:r>
              <a:rPr lang="en" sz="1200" u="sng">
                <a:solidFill>
                  <a:schemeClr val="hlink"/>
                </a:solidFill>
                <a:hlinkClick r:id="rId3"/>
              </a:rPr>
              <a:t>Stack overflow developer survey</a:t>
            </a:r>
            <a:endParaRPr sz="1200"/>
          </a:p>
          <a:p>
            <a:pPr marL="0" lvl="0" indent="0" algn="l" rtl="0">
              <a:spcBef>
                <a:spcPts val="1600"/>
              </a:spcBef>
              <a:spcAft>
                <a:spcPts val="0"/>
              </a:spcAft>
              <a:buNone/>
            </a:pPr>
            <a:r>
              <a:rPr lang="en" sz="1200"/>
              <a:t>Jobs</a:t>
            </a:r>
            <a:endParaRPr sz="1200"/>
          </a:p>
          <a:p>
            <a:pPr marL="457200" lvl="0" indent="-304800" algn="l" rtl="0">
              <a:spcBef>
                <a:spcPts val="1600"/>
              </a:spcBef>
              <a:spcAft>
                <a:spcPts val="0"/>
              </a:spcAft>
              <a:buSzPts val="1200"/>
              <a:buChar char="●"/>
            </a:pPr>
            <a:r>
              <a:rPr lang="en" sz="1200" u="sng">
                <a:solidFill>
                  <a:schemeClr val="hlink"/>
                </a:solidFill>
                <a:hlinkClick r:id="rId4"/>
              </a:rPr>
              <a:t>https://ca.indeed.com/jobs?q=react+developer&amp;l=Edmonton%2C+AB</a:t>
            </a:r>
            <a:endParaRPr sz="1200"/>
          </a:p>
          <a:p>
            <a:pPr marL="0" lvl="0" indent="0" algn="l" rtl="0">
              <a:spcBef>
                <a:spcPts val="1600"/>
              </a:spcBef>
              <a:spcAft>
                <a:spcPts val="0"/>
              </a:spcAft>
              <a:buNone/>
            </a:pPr>
            <a:r>
              <a:rPr lang="en" sz="1200"/>
              <a:t>Trends (Jquery going down React going up in the last 5 years).</a:t>
            </a:r>
            <a:endParaRPr sz="1200"/>
          </a:p>
          <a:p>
            <a:pPr marL="457200" lvl="0" indent="-304800" algn="l" rtl="0">
              <a:spcBef>
                <a:spcPts val="1600"/>
              </a:spcBef>
              <a:spcAft>
                <a:spcPts val="0"/>
              </a:spcAft>
              <a:buSzPts val="1200"/>
              <a:buChar char="●"/>
            </a:pPr>
            <a:r>
              <a:rPr lang="en" sz="1200" u="sng">
                <a:solidFill>
                  <a:schemeClr val="hlink"/>
                </a:solidFill>
                <a:hlinkClick r:id="rId5"/>
              </a:rPr>
              <a:t>https://trends.google.com/trends/explore?date=today%205-y&amp;geo=US&amp;q=%2Fm%2F0268gyp,%2Fm%2F012l1vxv,%2Fg%2F11c0vmgx5d,%2Fg%2F11c5t00h04,%2Fm%2F0j45p7w</a:t>
            </a:r>
            <a:endParaRPr sz="12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20"/>
          <p:cNvSpPr txBox="1">
            <a:spLocks noGrp="1"/>
          </p:cNvSpPr>
          <p:nvPr>
            <p:ph type="title"/>
          </p:nvPr>
        </p:nvSpPr>
        <p:spPr>
          <a:xfrm>
            <a:off x="248400" y="1440025"/>
            <a:ext cx="4045200" cy="1506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Where are we?</a:t>
            </a:r>
            <a:endParaRPr/>
          </a:p>
        </p:txBody>
      </p:sp>
      <p:sp>
        <p:nvSpPr>
          <p:cNvPr id="106" name="Google Shape;106;p20"/>
          <p:cNvSpPr txBox="1">
            <a:spLocks noGrp="1"/>
          </p:cNvSpPr>
          <p:nvPr>
            <p:ph type="body" idx="2"/>
          </p:nvPr>
        </p:nvSpPr>
        <p:spPr>
          <a:xfrm>
            <a:off x="4946900" y="1086825"/>
            <a:ext cx="4297200" cy="3695100"/>
          </a:xfrm>
          <a:prstGeom prst="rect">
            <a:avLst/>
          </a:prstGeom>
        </p:spPr>
        <p:txBody>
          <a:bodyPr spcFirstLastPara="1" wrap="square" lIns="91425" tIns="91425" rIns="91425" bIns="91425" anchor="ctr" anchorCtr="0">
            <a:noAutofit/>
          </a:bodyPr>
          <a:lstStyle/>
          <a:p>
            <a:pPr marL="457200" lvl="0" indent="-330200" algn="l" rtl="0">
              <a:spcBef>
                <a:spcPts val="0"/>
              </a:spcBef>
              <a:spcAft>
                <a:spcPts val="0"/>
              </a:spcAft>
              <a:buSzPts val="1600"/>
              <a:buAutoNum type="arabicPeriod"/>
            </a:pPr>
            <a:r>
              <a:rPr lang="en" sz="1600"/>
              <a:t>Expectations</a:t>
            </a:r>
            <a:endParaRPr sz="1600"/>
          </a:p>
          <a:p>
            <a:pPr marL="457200" lvl="0" indent="-330200" algn="l" rtl="0">
              <a:spcBef>
                <a:spcPts val="0"/>
              </a:spcBef>
              <a:spcAft>
                <a:spcPts val="0"/>
              </a:spcAft>
              <a:buSzPts val="1600"/>
              <a:buAutoNum type="arabicPeriod"/>
            </a:pPr>
            <a:r>
              <a:rPr lang="en" sz="1600"/>
              <a:t>What is React</a:t>
            </a:r>
            <a:endParaRPr sz="1600"/>
          </a:p>
          <a:p>
            <a:pPr marL="457200" lvl="0" indent="-330200" algn="l" rtl="0">
              <a:spcBef>
                <a:spcPts val="0"/>
              </a:spcBef>
              <a:spcAft>
                <a:spcPts val="0"/>
              </a:spcAft>
              <a:buSzPts val="1600"/>
              <a:buAutoNum type="arabicPeriod"/>
            </a:pPr>
            <a:r>
              <a:rPr lang="en" sz="1600"/>
              <a:t>Why use React</a:t>
            </a:r>
            <a:endParaRPr sz="1600"/>
          </a:p>
          <a:p>
            <a:pPr marL="457200" lvl="0" indent="-330200" algn="l" rtl="0">
              <a:spcBef>
                <a:spcPts val="0"/>
              </a:spcBef>
              <a:spcAft>
                <a:spcPts val="0"/>
              </a:spcAft>
              <a:buSzPts val="1600"/>
              <a:buAutoNum type="arabicPeriod"/>
            </a:pPr>
            <a:r>
              <a:rPr lang="en" sz="1600"/>
              <a:t>What is Next.js</a:t>
            </a:r>
            <a:endParaRPr sz="1600"/>
          </a:p>
          <a:p>
            <a:pPr marL="457200" lvl="0" indent="-330200" algn="l" rtl="0">
              <a:spcBef>
                <a:spcPts val="0"/>
              </a:spcBef>
              <a:spcAft>
                <a:spcPts val="0"/>
              </a:spcAft>
              <a:buSzPts val="1600"/>
              <a:buAutoNum type="arabicPeriod"/>
            </a:pPr>
            <a:r>
              <a:rPr lang="en" sz="1600"/>
              <a:t>Okay Who uses react and Next.js</a:t>
            </a:r>
            <a:endParaRPr sz="1600"/>
          </a:p>
          <a:p>
            <a:pPr marL="457200" lvl="0" indent="-330200" algn="l" rtl="0">
              <a:spcBef>
                <a:spcPts val="0"/>
              </a:spcBef>
              <a:spcAft>
                <a:spcPts val="0"/>
              </a:spcAft>
              <a:buSzPts val="1600"/>
              <a:buAutoNum type="arabicPeriod"/>
            </a:pPr>
            <a:r>
              <a:rPr lang="en" sz="1600"/>
              <a:t>React Components</a:t>
            </a:r>
            <a:endParaRPr sz="1600"/>
          </a:p>
          <a:p>
            <a:pPr marL="457200" lvl="0" indent="-330200" algn="l" rtl="0">
              <a:spcBef>
                <a:spcPts val="0"/>
              </a:spcBef>
              <a:spcAft>
                <a:spcPts val="0"/>
              </a:spcAft>
              <a:buSzPts val="1600"/>
              <a:buAutoNum type="arabicPeriod"/>
            </a:pPr>
            <a:r>
              <a:rPr lang="en" sz="1600"/>
              <a:t>What does it look like?</a:t>
            </a:r>
            <a:endParaRPr sz="1600"/>
          </a:p>
          <a:p>
            <a:pPr marL="457200" lvl="0" indent="-330200" algn="l" rtl="0">
              <a:spcBef>
                <a:spcPts val="0"/>
              </a:spcBef>
              <a:spcAft>
                <a:spcPts val="0"/>
              </a:spcAft>
              <a:buSzPts val="1600"/>
              <a:buAutoNum type="arabicPeriod"/>
            </a:pPr>
            <a:r>
              <a:rPr lang="en" sz="1600"/>
              <a:t>A small intro to JSX</a:t>
            </a:r>
            <a:endParaRPr sz="1600"/>
          </a:p>
          <a:p>
            <a:pPr marL="457200" lvl="0" indent="-330200" algn="l" rtl="0">
              <a:spcBef>
                <a:spcPts val="0"/>
              </a:spcBef>
              <a:spcAft>
                <a:spcPts val="0"/>
              </a:spcAft>
              <a:buSzPts val="1600"/>
              <a:buAutoNum type="arabicPeriod"/>
            </a:pPr>
            <a:r>
              <a:rPr lang="en" sz="1600"/>
              <a:t>A Class Based Component with JSX</a:t>
            </a:r>
            <a:endParaRPr sz="1600"/>
          </a:p>
          <a:p>
            <a:pPr marL="457200" lvl="0" indent="-330200" algn="l" rtl="0">
              <a:spcBef>
                <a:spcPts val="0"/>
              </a:spcBef>
              <a:spcAft>
                <a:spcPts val="0"/>
              </a:spcAft>
              <a:buSzPts val="1600"/>
              <a:buAutoNum type="arabicPeriod"/>
            </a:pPr>
            <a:r>
              <a:rPr lang="en" sz="1600"/>
              <a:t>A Function Based Component (Hook) </a:t>
            </a:r>
            <a:endParaRPr sz="1600"/>
          </a:p>
          <a:p>
            <a:pPr marL="457200" lvl="0" indent="-330200" algn="l" rtl="0">
              <a:spcBef>
                <a:spcPts val="0"/>
              </a:spcBef>
              <a:spcAft>
                <a:spcPts val="0"/>
              </a:spcAft>
              <a:buSzPts val="1600"/>
              <a:buAutoNum type="arabicPeriod"/>
            </a:pPr>
            <a:r>
              <a:rPr lang="en" sz="1600"/>
              <a:t>Let’s Install and Explore Next.js</a:t>
            </a:r>
            <a:endParaRPr sz="16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21"/>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Okay so React is good what is Next.js?</a:t>
            </a:r>
            <a:endParaRPr/>
          </a:p>
        </p:txBody>
      </p:sp>
      <p:sp>
        <p:nvSpPr>
          <p:cNvPr id="112" name="Google Shape;112;p21"/>
          <p:cNvSpPr txBox="1">
            <a:spLocks noGrp="1"/>
          </p:cNvSpPr>
          <p:nvPr>
            <p:ph type="body" idx="1"/>
          </p:nvPr>
        </p:nvSpPr>
        <p:spPr>
          <a:xfrm>
            <a:off x="387900" y="1261224"/>
            <a:ext cx="8368200" cy="30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t>Next.js is a framework that uses React.js at its’ core, but adds a lot of features that are great for development and rendering speed of the application. We’re going to discuss many of added benefits in detail throughout the course, so if it doesn’t make sense right now don’t worry.</a:t>
            </a:r>
            <a:endParaRPr sz="1200" dirty="0"/>
          </a:p>
          <a:p>
            <a:pPr marL="0" lvl="0" indent="0" algn="l" rtl="0">
              <a:spcBef>
                <a:spcPts val="1600"/>
              </a:spcBef>
              <a:spcAft>
                <a:spcPts val="0"/>
              </a:spcAft>
              <a:buNone/>
            </a:pPr>
            <a:r>
              <a:rPr lang="en" sz="1200" dirty="0"/>
              <a:t>Added Benefits:</a:t>
            </a:r>
            <a:endParaRPr sz="1200" dirty="0"/>
          </a:p>
          <a:p>
            <a:pPr marL="457200" lvl="0" indent="-304800" algn="l" rtl="0">
              <a:spcBef>
                <a:spcPts val="1600"/>
              </a:spcBef>
              <a:spcAft>
                <a:spcPts val="0"/>
              </a:spcAft>
              <a:buSzPts val="1200"/>
              <a:buChar char="●"/>
            </a:pPr>
            <a:r>
              <a:rPr lang="en" sz="1200" dirty="0"/>
              <a:t>Server Side Rendering and other Rendering techniques (Such as Pre-rendering/Static Site Generation and Deferred Rendering/Incremental Static Regeneration)</a:t>
            </a:r>
            <a:endParaRPr sz="1200" dirty="0"/>
          </a:p>
          <a:p>
            <a:pPr marL="914400" lvl="1" indent="-304800" algn="l" rtl="0">
              <a:spcBef>
                <a:spcPts val="0"/>
              </a:spcBef>
              <a:spcAft>
                <a:spcPts val="0"/>
              </a:spcAft>
              <a:buSzPts val="1200"/>
              <a:buChar char="○"/>
            </a:pPr>
            <a:r>
              <a:rPr lang="en" sz="1200" dirty="0"/>
              <a:t>Gives you the ability to speed up your site</a:t>
            </a:r>
            <a:endParaRPr sz="1200" dirty="0"/>
          </a:p>
          <a:p>
            <a:pPr marL="914400" lvl="1" indent="-304800" algn="l" rtl="0">
              <a:spcBef>
                <a:spcPts val="0"/>
              </a:spcBef>
              <a:spcAft>
                <a:spcPts val="0"/>
              </a:spcAft>
              <a:buSzPts val="1200"/>
              <a:buChar char="○"/>
            </a:pPr>
            <a:r>
              <a:rPr lang="en" sz="1200" dirty="0"/>
              <a:t>Gives you out of the box indexable website which is great for SEO</a:t>
            </a:r>
            <a:endParaRPr sz="1200" dirty="0"/>
          </a:p>
          <a:p>
            <a:pPr marL="457200" lvl="0" indent="-304800" algn="l" rtl="0">
              <a:spcBef>
                <a:spcPts val="0"/>
              </a:spcBef>
              <a:spcAft>
                <a:spcPts val="0"/>
              </a:spcAft>
              <a:buSzPts val="1200"/>
              <a:buChar char="●"/>
            </a:pPr>
            <a:r>
              <a:rPr lang="en" sz="1200" dirty="0"/>
              <a:t>Automatic Code Splitting</a:t>
            </a:r>
            <a:endParaRPr sz="1200" dirty="0"/>
          </a:p>
          <a:p>
            <a:pPr marL="914400" lvl="1" indent="-304800" algn="l" rtl="0">
              <a:spcBef>
                <a:spcPts val="0"/>
              </a:spcBef>
              <a:spcAft>
                <a:spcPts val="0"/>
              </a:spcAft>
              <a:buSzPts val="1200"/>
              <a:buChar char="○"/>
            </a:pPr>
            <a:r>
              <a:rPr lang="en" sz="1200" dirty="0"/>
              <a:t>Next.js is smart enough to split JS and CSS </a:t>
            </a:r>
            <a:endParaRPr sz="1200" dirty="0"/>
          </a:p>
          <a:p>
            <a:pPr marL="457200" lvl="0" indent="-304800" algn="l" rtl="0">
              <a:spcBef>
                <a:spcPts val="0"/>
              </a:spcBef>
              <a:spcAft>
                <a:spcPts val="0"/>
              </a:spcAft>
              <a:buSzPts val="1200"/>
              <a:buChar char="●"/>
            </a:pPr>
            <a:r>
              <a:rPr lang="en" sz="1200" dirty="0"/>
              <a:t>Hot Module Replacement (more for devs)</a:t>
            </a:r>
            <a:endParaRPr sz="1200" dirty="0"/>
          </a:p>
          <a:p>
            <a:pPr marL="914400" lvl="1" indent="-304800" algn="l" rtl="0">
              <a:spcBef>
                <a:spcPts val="0"/>
              </a:spcBef>
              <a:spcAft>
                <a:spcPts val="0"/>
              </a:spcAft>
              <a:buSzPts val="1200"/>
              <a:buChar char="○"/>
            </a:pPr>
            <a:r>
              <a:rPr lang="en" sz="1200" dirty="0"/>
              <a:t>This gives an environment for devs that when you make a change in your code it is immediately reflected on your environment</a:t>
            </a:r>
            <a:endParaRPr sz="1200" dirty="0"/>
          </a:p>
          <a:p>
            <a:pPr marL="457200" lvl="0" indent="-304800" algn="l" rtl="0">
              <a:spcBef>
                <a:spcPts val="0"/>
              </a:spcBef>
              <a:spcAft>
                <a:spcPts val="0"/>
              </a:spcAft>
              <a:buSzPts val="1200"/>
              <a:buChar char="●"/>
            </a:pPr>
            <a:r>
              <a:rPr lang="en" sz="1200" dirty="0"/>
              <a:t>This framework allows you get React projects setup more quickly in general rather than just using React.js without next.</a:t>
            </a:r>
            <a:endParaRPr sz="1200" dirty="0"/>
          </a:p>
          <a:p>
            <a:pPr marL="0" lvl="0" indent="0" algn="l" rtl="0">
              <a:spcBef>
                <a:spcPts val="1600"/>
              </a:spcBef>
              <a:spcAft>
                <a:spcPts val="0"/>
              </a:spcAft>
              <a:buNone/>
            </a:pPr>
            <a:endParaRPr sz="1200" dirty="0"/>
          </a:p>
          <a:p>
            <a:pPr marL="0" lvl="0" indent="0" algn="l" rtl="0">
              <a:spcBef>
                <a:spcPts val="1600"/>
              </a:spcBef>
              <a:spcAft>
                <a:spcPts val="1600"/>
              </a:spcAft>
              <a:buNone/>
            </a:pPr>
            <a:endParaRPr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2"/>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Okay Who uses react and Next.js </a:t>
            </a:r>
            <a:endParaRPr/>
          </a:p>
        </p:txBody>
      </p:sp>
      <p:sp>
        <p:nvSpPr>
          <p:cNvPr id="118" name="Google Shape;118;p22"/>
          <p:cNvSpPr txBox="1">
            <a:spLocks noGrp="1"/>
          </p:cNvSpPr>
          <p:nvPr>
            <p:ph type="body" idx="1"/>
          </p:nvPr>
        </p:nvSpPr>
        <p:spPr>
          <a:xfrm>
            <a:off x="387900" y="1261224"/>
            <a:ext cx="8368200" cy="30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400"/>
              <a:t>Companies that use Next.js in production.</a:t>
            </a:r>
            <a:endParaRPr sz="1400"/>
          </a:p>
          <a:p>
            <a:pPr marL="457200" lvl="0" indent="-317500" algn="l" rtl="0">
              <a:spcBef>
                <a:spcPts val="1600"/>
              </a:spcBef>
              <a:spcAft>
                <a:spcPts val="0"/>
              </a:spcAft>
              <a:buSzPts val="1400"/>
              <a:buChar char="●"/>
            </a:pPr>
            <a:r>
              <a:rPr lang="en" sz="1400"/>
              <a:t>Netflix</a:t>
            </a:r>
            <a:endParaRPr sz="1400"/>
          </a:p>
          <a:p>
            <a:pPr marL="457200" lvl="0" indent="-317500" algn="l" rtl="0">
              <a:spcBef>
                <a:spcPts val="0"/>
              </a:spcBef>
              <a:spcAft>
                <a:spcPts val="0"/>
              </a:spcAft>
              <a:buSzPts val="1400"/>
              <a:buChar char="●"/>
            </a:pPr>
            <a:r>
              <a:rPr lang="en" sz="1400"/>
              <a:t>Twitch</a:t>
            </a:r>
            <a:endParaRPr sz="1400"/>
          </a:p>
          <a:p>
            <a:pPr marL="457200" lvl="0" indent="-317500" algn="l" rtl="0">
              <a:spcBef>
                <a:spcPts val="0"/>
              </a:spcBef>
              <a:spcAft>
                <a:spcPts val="0"/>
              </a:spcAft>
              <a:buSzPts val="1400"/>
              <a:buChar char="●"/>
            </a:pPr>
            <a:r>
              <a:rPr lang="en" sz="1400"/>
              <a:t>TikTok</a:t>
            </a:r>
            <a:endParaRPr sz="1400"/>
          </a:p>
          <a:p>
            <a:pPr marL="457200" lvl="0" indent="-317500" algn="l" rtl="0">
              <a:spcBef>
                <a:spcPts val="0"/>
              </a:spcBef>
              <a:spcAft>
                <a:spcPts val="0"/>
              </a:spcAft>
              <a:buSzPts val="1400"/>
              <a:buChar char="●"/>
            </a:pPr>
            <a:r>
              <a:rPr lang="en" sz="1400"/>
              <a:t>Hulu</a:t>
            </a:r>
            <a:endParaRPr sz="1400"/>
          </a:p>
          <a:p>
            <a:pPr marL="457200" lvl="0" indent="-317500" algn="l" rtl="0">
              <a:spcBef>
                <a:spcPts val="0"/>
              </a:spcBef>
              <a:spcAft>
                <a:spcPts val="0"/>
              </a:spcAft>
              <a:buSzPts val="1400"/>
              <a:buChar char="●"/>
            </a:pPr>
            <a:r>
              <a:rPr lang="en" sz="1400"/>
              <a:t>Nike</a:t>
            </a:r>
            <a:endParaRPr sz="1400"/>
          </a:p>
          <a:p>
            <a:pPr marL="457200" lvl="0" indent="-317500" algn="l" rtl="0">
              <a:spcBef>
                <a:spcPts val="0"/>
              </a:spcBef>
              <a:spcAft>
                <a:spcPts val="0"/>
              </a:spcAft>
              <a:buSzPts val="1400"/>
              <a:buChar char="●"/>
            </a:pPr>
            <a:r>
              <a:rPr lang="en" sz="1400"/>
              <a:t>Uber</a:t>
            </a:r>
            <a:endParaRPr sz="1400"/>
          </a:p>
          <a:p>
            <a:pPr marL="457200" lvl="0" indent="-317500" algn="l" rtl="0">
              <a:spcBef>
                <a:spcPts val="0"/>
              </a:spcBef>
              <a:spcAft>
                <a:spcPts val="0"/>
              </a:spcAft>
              <a:buSzPts val="1400"/>
              <a:buChar char="●"/>
            </a:pPr>
            <a:r>
              <a:rPr lang="en" sz="1400"/>
              <a:t>Elastic</a:t>
            </a:r>
            <a:endParaRPr sz="1400"/>
          </a:p>
          <a:p>
            <a:pPr marL="0" lvl="0" indent="0" algn="l" rtl="0">
              <a:spcBef>
                <a:spcPts val="1600"/>
              </a:spcBef>
              <a:spcAft>
                <a:spcPts val="1600"/>
              </a:spcAft>
              <a:buNone/>
            </a:pPr>
            <a:r>
              <a:rPr lang="en" sz="1400"/>
              <a:t>You can see the full list here </a:t>
            </a:r>
            <a:r>
              <a:rPr lang="en" sz="1400" u="sng">
                <a:solidFill>
                  <a:schemeClr val="hlink"/>
                </a:solidFill>
                <a:hlinkClick r:id="rId3"/>
              </a:rPr>
              <a:t>https://nextjs.org/showcase</a:t>
            </a:r>
            <a:endParaRPr sz="14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23"/>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React Components</a:t>
            </a:r>
            <a:endParaRPr/>
          </a:p>
        </p:txBody>
      </p:sp>
      <p:sp>
        <p:nvSpPr>
          <p:cNvPr id="124" name="Google Shape;124;p23"/>
          <p:cNvSpPr txBox="1">
            <a:spLocks noGrp="1"/>
          </p:cNvSpPr>
          <p:nvPr>
            <p:ph type="body" idx="1"/>
          </p:nvPr>
        </p:nvSpPr>
        <p:spPr>
          <a:xfrm>
            <a:off x="387900" y="1185025"/>
            <a:ext cx="8368200" cy="3851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400" dirty="0"/>
              <a:t>Components could be pages in your app, some type of piece of functionality in your app, or some type of layout/styling.</a:t>
            </a:r>
            <a:endParaRPr sz="1400" dirty="0"/>
          </a:p>
          <a:p>
            <a:pPr marL="0" lvl="0" indent="0" algn="l" rtl="0">
              <a:spcBef>
                <a:spcPts val="1600"/>
              </a:spcBef>
              <a:spcAft>
                <a:spcPts val="0"/>
              </a:spcAft>
              <a:buNone/>
            </a:pPr>
            <a:r>
              <a:rPr lang="en" sz="1400" dirty="0"/>
              <a:t>Types of Component</a:t>
            </a:r>
            <a:endParaRPr sz="1400" dirty="0"/>
          </a:p>
          <a:p>
            <a:pPr marL="457200" lvl="0" indent="-317500" algn="l" rtl="0">
              <a:spcBef>
                <a:spcPts val="1600"/>
              </a:spcBef>
              <a:spcAft>
                <a:spcPts val="0"/>
              </a:spcAft>
              <a:buSzPts val="1400"/>
              <a:buChar char="●"/>
            </a:pPr>
            <a:r>
              <a:rPr lang="en" sz="1400" dirty="0"/>
              <a:t>Class Based Components</a:t>
            </a:r>
            <a:endParaRPr sz="1400" dirty="0"/>
          </a:p>
          <a:p>
            <a:pPr marL="914400" lvl="1" indent="-317500" algn="l" rtl="0">
              <a:spcBef>
                <a:spcPts val="0"/>
              </a:spcBef>
              <a:spcAft>
                <a:spcPts val="0"/>
              </a:spcAft>
              <a:buSzPts val="1400"/>
              <a:buChar char="○"/>
            </a:pPr>
            <a:r>
              <a:rPr lang="en" dirty="0"/>
              <a:t>Class based components are what react what originally written with. </a:t>
            </a:r>
            <a:endParaRPr dirty="0"/>
          </a:p>
          <a:p>
            <a:pPr marL="457200" lvl="0" indent="-317500" algn="l" rtl="0">
              <a:spcBef>
                <a:spcPts val="0"/>
              </a:spcBef>
              <a:spcAft>
                <a:spcPts val="0"/>
              </a:spcAft>
              <a:buSzPts val="1400"/>
              <a:buChar char="●"/>
            </a:pPr>
            <a:r>
              <a:rPr lang="en" sz="1400" dirty="0"/>
              <a:t>Functionally Based Components (hooks)</a:t>
            </a:r>
            <a:endParaRPr sz="1400" dirty="0"/>
          </a:p>
          <a:p>
            <a:pPr marL="914400" lvl="1" indent="-317500" algn="l" rtl="0">
              <a:spcBef>
                <a:spcPts val="0"/>
              </a:spcBef>
              <a:spcAft>
                <a:spcPts val="0"/>
              </a:spcAft>
              <a:buSzPts val="1400"/>
              <a:buChar char="○"/>
            </a:pPr>
            <a:r>
              <a:rPr lang="en" dirty="0"/>
              <a:t>There are the newer* way to write components in react, also it is encouraged to write components in this way. As well this saves many lines of code.</a:t>
            </a:r>
            <a:endParaRPr dirty="0"/>
          </a:p>
          <a:p>
            <a:pPr marL="0" lvl="0" indent="0" algn="l" rtl="0">
              <a:spcBef>
                <a:spcPts val="1600"/>
              </a:spcBef>
              <a:spcAft>
                <a:spcPts val="1600"/>
              </a:spcAft>
              <a:buNone/>
            </a:pPr>
            <a:r>
              <a:rPr lang="en" sz="1400" dirty="0"/>
              <a:t>Note: While React encourages users to use functionally based components </a:t>
            </a:r>
            <a:r>
              <a:rPr lang="en" sz="1400" u="sng" dirty="0">
                <a:solidFill>
                  <a:schemeClr val="hlink"/>
                </a:solidFill>
                <a:hlinkClick r:id="rId3"/>
              </a:rPr>
              <a:t>it does not have any plans to retire Class based components</a:t>
            </a:r>
            <a:r>
              <a:rPr lang="en" sz="1400" dirty="0"/>
              <a:t>. Although since we're learning from the start then we're going to mainly focus on functional based components.</a:t>
            </a:r>
            <a:endParaRPr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24"/>
          <p:cNvSpPr txBox="1">
            <a:spLocks noGrp="1"/>
          </p:cNvSpPr>
          <p:nvPr>
            <p:ph type="ctrTitle"/>
          </p:nvPr>
        </p:nvSpPr>
        <p:spPr>
          <a:xfrm>
            <a:off x="1680302" y="1188925"/>
            <a:ext cx="5783400" cy="1457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What does React even look like?</a:t>
            </a:r>
            <a:endParaRPr/>
          </a:p>
        </p:txBody>
      </p:sp>
      <p:sp>
        <p:nvSpPr>
          <p:cNvPr id="130" name="Google Shape;130;p24"/>
          <p:cNvSpPr txBox="1">
            <a:spLocks noGrp="1"/>
          </p:cNvSpPr>
          <p:nvPr>
            <p:ph type="subTitle" idx="1"/>
          </p:nvPr>
        </p:nvSpPr>
        <p:spPr>
          <a:xfrm>
            <a:off x="1680302" y="3049450"/>
            <a:ext cx="5783400" cy="909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200" u="sng">
                <a:solidFill>
                  <a:schemeClr val="hlink"/>
                </a:solidFill>
                <a:hlinkClick r:id="rId3"/>
              </a:rPr>
              <a:t>React without JSX Example</a:t>
            </a:r>
            <a:r>
              <a:rPr lang="en" sz="2200"/>
              <a:t> </a:t>
            </a:r>
            <a:endParaRPr sz="22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sp>
        <p:nvSpPr>
          <p:cNvPr id="135" name="Google Shape;135;p25"/>
          <p:cNvSpPr txBox="1">
            <a:spLocks noGrp="1"/>
          </p:cNvSpPr>
          <p:nvPr>
            <p:ph type="title"/>
          </p:nvPr>
        </p:nvSpPr>
        <p:spPr>
          <a:xfrm>
            <a:off x="248400" y="1440025"/>
            <a:ext cx="4045200" cy="1506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Where are we?</a:t>
            </a:r>
            <a:endParaRPr/>
          </a:p>
        </p:txBody>
      </p:sp>
      <p:sp>
        <p:nvSpPr>
          <p:cNvPr id="136" name="Google Shape;136;p25"/>
          <p:cNvSpPr txBox="1">
            <a:spLocks noGrp="1"/>
          </p:cNvSpPr>
          <p:nvPr>
            <p:ph type="body" idx="2"/>
          </p:nvPr>
        </p:nvSpPr>
        <p:spPr>
          <a:xfrm>
            <a:off x="4946900" y="1086825"/>
            <a:ext cx="4297200" cy="3695100"/>
          </a:xfrm>
          <a:prstGeom prst="rect">
            <a:avLst/>
          </a:prstGeom>
        </p:spPr>
        <p:txBody>
          <a:bodyPr spcFirstLastPara="1" wrap="square" lIns="91425" tIns="91425" rIns="91425" bIns="91425" anchor="ctr" anchorCtr="0">
            <a:noAutofit/>
          </a:bodyPr>
          <a:lstStyle/>
          <a:p>
            <a:pPr marL="457200" lvl="0" indent="-330200" algn="l" rtl="0">
              <a:spcBef>
                <a:spcPts val="0"/>
              </a:spcBef>
              <a:spcAft>
                <a:spcPts val="0"/>
              </a:spcAft>
              <a:buSzPts val="1600"/>
              <a:buAutoNum type="arabicPeriod"/>
            </a:pPr>
            <a:r>
              <a:rPr lang="en" sz="1600"/>
              <a:t>Expectations</a:t>
            </a:r>
            <a:endParaRPr sz="1600"/>
          </a:p>
          <a:p>
            <a:pPr marL="457200" lvl="0" indent="-330200" algn="l" rtl="0">
              <a:spcBef>
                <a:spcPts val="0"/>
              </a:spcBef>
              <a:spcAft>
                <a:spcPts val="0"/>
              </a:spcAft>
              <a:buSzPts val="1600"/>
              <a:buAutoNum type="arabicPeriod"/>
            </a:pPr>
            <a:r>
              <a:rPr lang="en" sz="1600"/>
              <a:t>What is React</a:t>
            </a:r>
            <a:endParaRPr sz="1600"/>
          </a:p>
          <a:p>
            <a:pPr marL="457200" lvl="0" indent="-330200" algn="l" rtl="0">
              <a:spcBef>
                <a:spcPts val="0"/>
              </a:spcBef>
              <a:spcAft>
                <a:spcPts val="0"/>
              </a:spcAft>
              <a:buSzPts val="1600"/>
              <a:buAutoNum type="arabicPeriod"/>
            </a:pPr>
            <a:r>
              <a:rPr lang="en" sz="1600"/>
              <a:t>Why use React</a:t>
            </a:r>
            <a:endParaRPr sz="1600"/>
          </a:p>
          <a:p>
            <a:pPr marL="457200" lvl="0" indent="-330200" algn="l" rtl="0">
              <a:spcBef>
                <a:spcPts val="0"/>
              </a:spcBef>
              <a:spcAft>
                <a:spcPts val="0"/>
              </a:spcAft>
              <a:buSzPts val="1600"/>
              <a:buAutoNum type="arabicPeriod"/>
            </a:pPr>
            <a:r>
              <a:rPr lang="en" sz="1600"/>
              <a:t>What is Next.js</a:t>
            </a:r>
            <a:endParaRPr sz="1600"/>
          </a:p>
          <a:p>
            <a:pPr marL="457200" lvl="0" indent="-330200" algn="l" rtl="0">
              <a:spcBef>
                <a:spcPts val="0"/>
              </a:spcBef>
              <a:spcAft>
                <a:spcPts val="0"/>
              </a:spcAft>
              <a:buSzPts val="1600"/>
              <a:buAutoNum type="arabicPeriod"/>
            </a:pPr>
            <a:r>
              <a:rPr lang="en" sz="1600"/>
              <a:t>React Components</a:t>
            </a:r>
            <a:endParaRPr sz="1600"/>
          </a:p>
          <a:p>
            <a:pPr marL="457200" lvl="0" indent="-330200" algn="l" rtl="0">
              <a:spcBef>
                <a:spcPts val="0"/>
              </a:spcBef>
              <a:spcAft>
                <a:spcPts val="0"/>
              </a:spcAft>
              <a:buSzPts val="1600"/>
              <a:buAutoNum type="arabicPeriod"/>
            </a:pPr>
            <a:r>
              <a:rPr lang="en" sz="1600"/>
              <a:t>What does it look like?</a:t>
            </a:r>
            <a:endParaRPr sz="1600"/>
          </a:p>
          <a:p>
            <a:pPr marL="457200" lvl="0" indent="-330200" algn="l" rtl="0">
              <a:spcBef>
                <a:spcPts val="0"/>
              </a:spcBef>
              <a:spcAft>
                <a:spcPts val="0"/>
              </a:spcAft>
              <a:buSzPts val="1600"/>
              <a:buAutoNum type="arabicPeriod"/>
            </a:pPr>
            <a:r>
              <a:rPr lang="en" sz="1600"/>
              <a:t>A small intro to JSX</a:t>
            </a:r>
            <a:endParaRPr sz="1600"/>
          </a:p>
          <a:p>
            <a:pPr marL="457200" lvl="0" indent="-330200" algn="l" rtl="0">
              <a:spcBef>
                <a:spcPts val="0"/>
              </a:spcBef>
              <a:spcAft>
                <a:spcPts val="0"/>
              </a:spcAft>
              <a:buSzPts val="1600"/>
              <a:buAutoNum type="arabicPeriod"/>
            </a:pPr>
            <a:r>
              <a:rPr lang="en" sz="1600"/>
              <a:t>A Class Based Component with JSX</a:t>
            </a:r>
            <a:endParaRPr sz="1600"/>
          </a:p>
          <a:p>
            <a:pPr marL="457200" lvl="0" indent="-330200" algn="l" rtl="0">
              <a:spcBef>
                <a:spcPts val="0"/>
              </a:spcBef>
              <a:spcAft>
                <a:spcPts val="0"/>
              </a:spcAft>
              <a:buSzPts val="1600"/>
              <a:buAutoNum type="arabicPeriod"/>
            </a:pPr>
            <a:r>
              <a:rPr lang="en" sz="1600"/>
              <a:t>A Function Based Component (Hook) </a:t>
            </a:r>
            <a:endParaRPr sz="1600"/>
          </a:p>
          <a:p>
            <a:pPr marL="457200" lvl="0" indent="-330200" algn="l" rtl="0">
              <a:spcBef>
                <a:spcPts val="0"/>
              </a:spcBef>
              <a:spcAft>
                <a:spcPts val="0"/>
              </a:spcAft>
              <a:buSzPts val="1600"/>
              <a:buAutoNum type="arabicPeriod"/>
            </a:pPr>
            <a:r>
              <a:rPr lang="en" sz="1600"/>
              <a:t>Let’s Install and Explore Next.js</a:t>
            </a:r>
            <a:endParaRPr sz="16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26"/>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 Small Intro to JSX</a:t>
            </a:r>
            <a:endParaRPr/>
          </a:p>
        </p:txBody>
      </p:sp>
      <p:sp>
        <p:nvSpPr>
          <p:cNvPr id="142" name="Google Shape;142;p26"/>
          <p:cNvSpPr txBox="1">
            <a:spLocks noGrp="1"/>
          </p:cNvSpPr>
          <p:nvPr>
            <p:ph type="body" idx="1"/>
          </p:nvPr>
        </p:nvSpPr>
        <p:spPr>
          <a:xfrm>
            <a:off x="387900" y="1185025"/>
            <a:ext cx="8368200" cy="3851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We've seen that with React.createElement we can create elements in React.</a:t>
            </a:r>
            <a:endParaRPr dirty="0"/>
          </a:p>
          <a:p>
            <a:pPr marL="0" lvl="0" indent="0" algn="l" rtl="0">
              <a:spcBef>
                <a:spcPts val="1600"/>
              </a:spcBef>
              <a:spcAft>
                <a:spcPts val="0"/>
              </a:spcAft>
              <a:buNone/>
            </a:pPr>
            <a:r>
              <a:rPr lang="en" dirty="0"/>
              <a:t>You can probably is going to be a cumbersome if you have to write React.createElement everytime.</a:t>
            </a:r>
            <a:endParaRPr dirty="0"/>
          </a:p>
          <a:p>
            <a:pPr marL="0" lvl="0" indent="0" algn="l" rtl="0">
              <a:spcBef>
                <a:spcPts val="1600"/>
              </a:spcBef>
              <a:spcAft>
                <a:spcPts val="0"/>
              </a:spcAft>
              <a:buNone/>
            </a:pPr>
            <a:r>
              <a:rPr lang="en" dirty="0"/>
              <a:t>JSX is a template(ish) language that allows you to write what feels like HTML and Javascript together. Under the hood babel is converting all of the elements to "React.createElement" anyways, but more on that later.</a:t>
            </a:r>
            <a:endParaRPr dirty="0"/>
          </a:p>
          <a:p>
            <a:pPr marL="0" lvl="0" indent="0" algn="l" rtl="0">
              <a:spcBef>
                <a:spcPts val="1600"/>
              </a:spcBef>
              <a:spcAft>
                <a:spcPts val="0"/>
              </a:spcAft>
              <a:buNone/>
            </a:pPr>
            <a:r>
              <a:rPr lang="en" dirty="0"/>
              <a:t>Let’s go take a look at an example of what it looks like.</a:t>
            </a:r>
            <a:endParaRPr dirty="0"/>
          </a:p>
          <a:p>
            <a:pPr marL="0" lvl="0" indent="0" algn="l" rtl="0">
              <a:spcBef>
                <a:spcPts val="1600"/>
              </a:spcBef>
              <a:spcAft>
                <a:spcPts val="1600"/>
              </a:spcAft>
              <a:buNone/>
            </a:pPr>
            <a:endParaRP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27"/>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JSX Example</a:t>
            </a:r>
            <a:endParaRPr/>
          </a:p>
        </p:txBody>
      </p:sp>
      <p:sp>
        <p:nvSpPr>
          <p:cNvPr id="148" name="Google Shape;148;p27"/>
          <p:cNvSpPr txBox="1"/>
          <p:nvPr/>
        </p:nvSpPr>
        <p:spPr>
          <a:xfrm>
            <a:off x="286625" y="1840350"/>
            <a:ext cx="3930900" cy="1449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dirty="0">
                <a:solidFill>
                  <a:srgbClr val="4DD0E1"/>
                </a:solidFill>
                <a:latin typeface="Roboto Mono"/>
                <a:ea typeface="Roboto Mono"/>
                <a:cs typeface="Roboto Mono"/>
                <a:sym typeface="Roboto Mono"/>
              </a:rPr>
              <a:t>const</a:t>
            </a:r>
            <a:r>
              <a:rPr lang="en" sz="1150" dirty="0">
                <a:solidFill>
                  <a:srgbClr val="ECEFF1"/>
                </a:solidFill>
                <a:latin typeface="Roboto Mono"/>
                <a:ea typeface="Roboto Mono"/>
                <a:cs typeface="Roboto Mono"/>
                <a:sym typeface="Roboto Mono"/>
              </a:rPr>
              <a:t> helloKitties = () =&gt; {</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a:t>
            </a:r>
            <a:r>
              <a:rPr lang="en" sz="1150" dirty="0">
                <a:solidFill>
                  <a:srgbClr val="4DD0E1"/>
                </a:solidFill>
                <a:latin typeface="Roboto Mono"/>
                <a:ea typeface="Roboto Mono"/>
                <a:cs typeface="Roboto Mono"/>
                <a:sym typeface="Roboto Mono"/>
              </a:rPr>
              <a:t>return</a:t>
            </a:r>
            <a:r>
              <a:rPr lang="en" sz="1150" dirty="0">
                <a:solidFill>
                  <a:srgbClr val="ECEFF1"/>
                </a:solidFill>
                <a:latin typeface="Roboto Mono"/>
                <a:ea typeface="Roboto Mono"/>
                <a:cs typeface="Roboto Mono"/>
                <a:sym typeface="Roboto Mono"/>
              </a:rPr>
              <a:t> &lt;div&gt;</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&lt;</a:t>
            </a:r>
            <a:r>
              <a:rPr lang="en" sz="1150" dirty="0">
                <a:solidFill>
                  <a:srgbClr val="CE93D8"/>
                </a:solidFill>
                <a:latin typeface="Roboto Mono"/>
                <a:ea typeface="Roboto Mono"/>
                <a:cs typeface="Roboto Mono"/>
                <a:sym typeface="Roboto Mono"/>
              </a:rPr>
              <a:t>Cat</a:t>
            </a:r>
            <a:r>
              <a:rPr lang="en" sz="1150" dirty="0">
                <a:solidFill>
                  <a:srgbClr val="ECEFF1"/>
                </a:solidFill>
                <a:latin typeface="Roboto Mono"/>
                <a:ea typeface="Roboto Mono"/>
                <a:cs typeface="Roboto Mono"/>
                <a:sym typeface="Roboto Mono"/>
              </a:rPr>
              <a:t> cat=</a:t>
            </a:r>
            <a:r>
              <a:rPr lang="en" sz="1150" dirty="0">
                <a:solidFill>
                  <a:srgbClr val="9CCC65"/>
                </a:solidFill>
                <a:latin typeface="Roboto Mono"/>
                <a:ea typeface="Roboto Mono"/>
                <a:cs typeface="Roboto Mono"/>
                <a:sym typeface="Roboto Mono"/>
              </a:rPr>
              <a:t>"MarshMallow"</a:t>
            </a:r>
            <a:r>
              <a:rPr lang="en" sz="1150" dirty="0">
                <a:solidFill>
                  <a:srgbClr val="ECEFF1"/>
                </a:solidFill>
                <a:latin typeface="Roboto Mono"/>
                <a:ea typeface="Roboto Mono"/>
                <a:cs typeface="Roboto Mono"/>
                <a:sym typeface="Roboto Mono"/>
              </a:rPr>
              <a:t> color=</a:t>
            </a:r>
            <a:r>
              <a:rPr lang="en" sz="1150" dirty="0">
                <a:solidFill>
                  <a:srgbClr val="9CCC65"/>
                </a:solidFill>
                <a:latin typeface="Roboto Mono"/>
                <a:ea typeface="Roboto Mono"/>
                <a:cs typeface="Roboto Mono"/>
                <a:sym typeface="Roboto Mono"/>
              </a:rPr>
              <a:t>"white"</a:t>
            </a:r>
            <a:r>
              <a:rPr lang="en" sz="1150" dirty="0">
                <a:solidFill>
                  <a:srgbClr val="ECEFF1"/>
                </a:solidFill>
                <a:latin typeface="Roboto Mono"/>
                <a:ea typeface="Roboto Mono"/>
                <a:cs typeface="Roboto Mono"/>
                <a:sym typeface="Roboto Mono"/>
              </a:rPr>
              <a:t>/&gt;</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&lt;</a:t>
            </a:r>
            <a:r>
              <a:rPr lang="en" sz="1150" dirty="0">
                <a:solidFill>
                  <a:srgbClr val="CE93D8"/>
                </a:solidFill>
                <a:latin typeface="Roboto Mono"/>
                <a:ea typeface="Roboto Mono"/>
                <a:cs typeface="Roboto Mono"/>
                <a:sym typeface="Roboto Mono"/>
              </a:rPr>
              <a:t>Cat</a:t>
            </a:r>
            <a:r>
              <a:rPr lang="en" sz="1150" dirty="0">
                <a:solidFill>
                  <a:srgbClr val="ECEFF1"/>
                </a:solidFill>
                <a:latin typeface="Roboto Mono"/>
                <a:ea typeface="Roboto Mono"/>
                <a:cs typeface="Roboto Mono"/>
                <a:sym typeface="Roboto Mono"/>
              </a:rPr>
              <a:t> cat=</a:t>
            </a:r>
            <a:r>
              <a:rPr lang="en" sz="1150" dirty="0">
                <a:solidFill>
                  <a:srgbClr val="9CCC65"/>
                </a:solidFill>
                <a:latin typeface="Roboto Mono"/>
                <a:ea typeface="Roboto Mono"/>
                <a:cs typeface="Roboto Mono"/>
                <a:sym typeface="Roboto Mono"/>
              </a:rPr>
              <a:t>"Gambit"</a:t>
            </a:r>
            <a:r>
              <a:rPr lang="en" sz="1150" dirty="0">
                <a:solidFill>
                  <a:srgbClr val="ECEFF1"/>
                </a:solidFill>
                <a:latin typeface="Roboto Mono"/>
                <a:ea typeface="Roboto Mono"/>
                <a:cs typeface="Roboto Mono"/>
                <a:sym typeface="Roboto Mono"/>
              </a:rPr>
              <a:t> color=</a:t>
            </a:r>
            <a:r>
              <a:rPr lang="en" sz="1150" dirty="0">
                <a:solidFill>
                  <a:srgbClr val="9CCC65"/>
                </a:solidFill>
                <a:latin typeface="Roboto Mono"/>
                <a:ea typeface="Roboto Mono"/>
                <a:cs typeface="Roboto Mono"/>
                <a:sym typeface="Roboto Mono"/>
              </a:rPr>
              <a:t>"white"</a:t>
            </a:r>
            <a:r>
              <a:rPr lang="en" sz="1150" dirty="0">
                <a:solidFill>
                  <a:srgbClr val="ECEFF1"/>
                </a:solidFill>
                <a:latin typeface="Roboto Mono"/>
                <a:ea typeface="Roboto Mono"/>
                <a:cs typeface="Roboto Mono"/>
                <a:sym typeface="Roboto Mono"/>
              </a:rPr>
              <a:t>/&gt;</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&lt;</a:t>
            </a:r>
            <a:r>
              <a:rPr lang="en" sz="1150" dirty="0">
                <a:solidFill>
                  <a:srgbClr val="CE93D8"/>
                </a:solidFill>
                <a:latin typeface="Roboto Mono"/>
                <a:ea typeface="Roboto Mono"/>
                <a:cs typeface="Roboto Mono"/>
                <a:sym typeface="Roboto Mono"/>
              </a:rPr>
              <a:t>Cat</a:t>
            </a:r>
            <a:r>
              <a:rPr lang="en" sz="1150" dirty="0">
                <a:solidFill>
                  <a:srgbClr val="ECEFF1"/>
                </a:solidFill>
                <a:latin typeface="Roboto Mono"/>
                <a:ea typeface="Roboto Mono"/>
                <a:cs typeface="Roboto Mono"/>
                <a:sym typeface="Roboto Mono"/>
              </a:rPr>
              <a:t> cat=</a:t>
            </a:r>
            <a:r>
              <a:rPr lang="en" sz="1150" dirty="0">
                <a:solidFill>
                  <a:srgbClr val="9CCC65"/>
                </a:solidFill>
                <a:latin typeface="Roboto Mono"/>
                <a:ea typeface="Roboto Mono"/>
                <a:cs typeface="Roboto Mono"/>
                <a:sym typeface="Roboto Mono"/>
              </a:rPr>
              <a:t>"Ghost"</a:t>
            </a:r>
            <a:r>
              <a:rPr lang="en" sz="1150" dirty="0">
                <a:solidFill>
                  <a:srgbClr val="ECEFF1"/>
                </a:solidFill>
                <a:latin typeface="Roboto Mono"/>
                <a:ea typeface="Roboto Mono"/>
                <a:cs typeface="Roboto Mono"/>
                <a:sym typeface="Roboto Mono"/>
              </a:rPr>
              <a:t> color=</a:t>
            </a:r>
            <a:r>
              <a:rPr lang="en" sz="1150" dirty="0">
                <a:solidFill>
                  <a:srgbClr val="9CCC65"/>
                </a:solidFill>
                <a:latin typeface="Roboto Mono"/>
                <a:ea typeface="Roboto Mono"/>
                <a:cs typeface="Roboto Mono"/>
                <a:sym typeface="Roboto Mono"/>
              </a:rPr>
              <a:t>"white"</a:t>
            </a:r>
            <a:r>
              <a:rPr lang="en" sz="1150" dirty="0">
                <a:solidFill>
                  <a:srgbClr val="ECEFF1"/>
                </a:solidFill>
                <a:latin typeface="Roboto Mono"/>
                <a:ea typeface="Roboto Mono"/>
                <a:cs typeface="Roboto Mono"/>
                <a:sym typeface="Roboto Mono"/>
              </a:rPr>
              <a:t>/&gt;</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&lt;/div&gt;;</a:t>
            </a:r>
            <a:endParaRPr sz="1150" dirty="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1150" dirty="0">
                <a:solidFill>
                  <a:srgbClr val="ECEFF1"/>
                </a:solidFill>
                <a:latin typeface="Roboto Mono"/>
                <a:ea typeface="Roboto Mono"/>
                <a:cs typeface="Roboto Mono"/>
                <a:sym typeface="Roboto Mono"/>
              </a:rPr>
              <a:t>}</a:t>
            </a:r>
            <a:endParaRPr sz="1150" dirty="0">
              <a:solidFill>
                <a:srgbClr val="ECEFF1"/>
              </a:solidFill>
              <a:latin typeface="Roboto Mono"/>
              <a:ea typeface="Roboto Mono"/>
              <a:cs typeface="Roboto Mono"/>
              <a:sym typeface="Roboto Mono"/>
            </a:endParaRPr>
          </a:p>
        </p:txBody>
      </p:sp>
      <p:sp>
        <p:nvSpPr>
          <p:cNvPr id="149" name="Google Shape;149;p27"/>
          <p:cNvSpPr txBox="1"/>
          <p:nvPr/>
        </p:nvSpPr>
        <p:spPr>
          <a:xfrm>
            <a:off x="4217650" y="1535550"/>
            <a:ext cx="4894500" cy="242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solidFill>
                  <a:srgbClr val="4DD0E1"/>
                </a:solidFill>
                <a:latin typeface="Roboto Mono"/>
                <a:ea typeface="Roboto Mono"/>
                <a:cs typeface="Roboto Mono"/>
                <a:sym typeface="Roboto Mono"/>
              </a:rPr>
              <a:t>const</a:t>
            </a:r>
            <a:r>
              <a:rPr lang="en" sz="1150">
                <a:solidFill>
                  <a:srgbClr val="ECEFF1"/>
                </a:solidFill>
                <a:latin typeface="Roboto Mono"/>
                <a:ea typeface="Roboto Mono"/>
                <a:cs typeface="Roboto Mono"/>
                <a:sym typeface="Roboto Mono"/>
              </a:rPr>
              <a:t> helloKitties = () =&gt; {</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a:t>
            </a:r>
            <a:r>
              <a:rPr lang="en" sz="1150">
                <a:solidFill>
                  <a:srgbClr val="4DD0E1"/>
                </a:solidFill>
                <a:latin typeface="Roboto Mono"/>
                <a:ea typeface="Roboto Mono"/>
                <a:cs typeface="Roboto Mono"/>
                <a:sym typeface="Roboto Mono"/>
              </a:rPr>
              <a:t>return</a:t>
            </a:r>
            <a:r>
              <a:rPr lang="en" sz="1150">
                <a:solidFill>
                  <a:srgbClr val="ECEFF1"/>
                </a:solidFill>
                <a:latin typeface="Roboto Mono"/>
                <a:ea typeface="Roboto Mono"/>
                <a:cs typeface="Roboto Mono"/>
                <a:sym typeface="Roboto Mono"/>
              </a:rPr>
              <a:t> </a:t>
            </a:r>
            <a:r>
              <a:rPr lang="en" sz="1150">
                <a:solidFill>
                  <a:srgbClr val="CE93D8"/>
                </a:solidFill>
                <a:latin typeface="Roboto Mono"/>
                <a:ea typeface="Roboto Mono"/>
                <a:cs typeface="Roboto Mono"/>
                <a:sym typeface="Roboto Mono"/>
              </a:rPr>
              <a:t>React</a:t>
            </a:r>
            <a:r>
              <a:rPr lang="en" sz="1150">
                <a:solidFill>
                  <a:srgbClr val="ECEFF1"/>
                </a:solidFill>
                <a:latin typeface="Roboto Mono"/>
                <a:ea typeface="Roboto Mono"/>
                <a:cs typeface="Roboto Mono"/>
                <a:sym typeface="Roboto Mono"/>
              </a:rPr>
              <a:t>.createElement(</a:t>
            </a:r>
            <a:r>
              <a:rPr lang="en" sz="1150">
                <a:solidFill>
                  <a:srgbClr val="9CCC65"/>
                </a:solidFill>
                <a:latin typeface="Roboto Mono"/>
                <a:ea typeface="Roboto Mono"/>
                <a:cs typeface="Roboto Mono"/>
                <a:sym typeface="Roboto Mono"/>
              </a:rPr>
              <a:t>"div"</a:t>
            </a:r>
            <a:r>
              <a:rPr lang="en" sz="1150">
                <a:solidFill>
                  <a:srgbClr val="ECEFF1"/>
                </a:solidFill>
                <a:latin typeface="Roboto Mono"/>
                <a:ea typeface="Roboto Mono"/>
                <a:cs typeface="Roboto Mono"/>
                <a:sym typeface="Roboto Mono"/>
              </a:rPr>
              <a:t>, </a:t>
            </a:r>
            <a:r>
              <a:rPr lang="en" sz="1150">
                <a:solidFill>
                  <a:srgbClr val="4DD0E1"/>
                </a:solidFill>
                <a:latin typeface="Roboto Mono"/>
                <a:ea typeface="Roboto Mono"/>
                <a:cs typeface="Roboto Mono"/>
                <a:sym typeface="Roboto Mono"/>
              </a:rPr>
              <a:t>null</a:t>
            </a:r>
            <a:r>
              <a:rPr lang="en" sz="1150">
                <a:solidFill>
                  <a:srgbClr val="ECEFF1"/>
                </a:solidFill>
                <a:latin typeface="Roboto Mono"/>
                <a:ea typeface="Roboto Mono"/>
                <a:cs typeface="Roboto Mono"/>
                <a:sym typeface="Roboto Mono"/>
              </a:rPr>
              <a:t>, </a:t>
            </a:r>
            <a:r>
              <a:rPr lang="en" sz="1150">
                <a:solidFill>
                  <a:srgbClr val="F06292"/>
                </a:solidFill>
                <a:latin typeface="Roboto Mono"/>
                <a:ea typeface="Roboto Mono"/>
                <a:cs typeface="Roboto Mono"/>
                <a:sym typeface="Roboto Mono"/>
              </a:rPr>
              <a:t>//next line</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a:t>
            </a:r>
            <a:r>
              <a:rPr lang="en" sz="1150">
                <a:solidFill>
                  <a:srgbClr val="CE93D8"/>
                </a:solidFill>
                <a:latin typeface="Roboto Mono"/>
                <a:ea typeface="Roboto Mono"/>
                <a:cs typeface="Roboto Mono"/>
                <a:sym typeface="Roboto Mono"/>
              </a:rPr>
              <a:t>React</a:t>
            </a:r>
            <a:r>
              <a:rPr lang="en" sz="1150">
                <a:solidFill>
                  <a:srgbClr val="ECEFF1"/>
                </a:solidFill>
                <a:latin typeface="Roboto Mono"/>
                <a:ea typeface="Roboto Mono"/>
                <a:cs typeface="Roboto Mono"/>
                <a:sym typeface="Roboto Mono"/>
              </a:rPr>
              <a:t>.createElement(</a:t>
            </a:r>
            <a:r>
              <a:rPr lang="en" sz="1150">
                <a:solidFill>
                  <a:srgbClr val="CE93D8"/>
                </a:solidFill>
                <a:latin typeface="Roboto Mono"/>
                <a:ea typeface="Roboto Mono"/>
                <a:cs typeface="Roboto Mono"/>
                <a:sym typeface="Roboto Mono"/>
              </a:rPr>
              <a:t>Cat</a:t>
            </a:r>
            <a:r>
              <a:rPr lang="en" sz="1150">
                <a:solidFill>
                  <a:srgbClr val="ECEFF1"/>
                </a:solidFill>
                <a:latin typeface="Roboto Mono"/>
                <a:ea typeface="Roboto Mono"/>
                <a:cs typeface="Roboto Mono"/>
                <a:sym typeface="Roboto Mono"/>
              </a:rPr>
              <a:t>, {</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cat: </a:t>
            </a:r>
            <a:r>
              <a:rPr lang="en" sz="1150">
                <a:solidFill>
                  <a:srgbClr val="9CCC65"/>
                </a:solidFill>
                <a:latin typeface="Roboto Mono"/>
                <a:ea typeface="Roboto Mono"/>
                <a:cs typeface="Roboto Mono"/>
                <a:sym typeface="Roboto Mono"/>
              </a:rPr>
              <a:t>"MarshMallow"</a:t>
            </a:r>
            <a:r>
              <a:rPr lang="en" sz="1150">
                <a:solidFill>
                  <a:srgbClr val="ECEFF1"/>
                </a:solidFill>
                <a:latin typeface="Roboto Mono"/>
                <a:ea typeface="Roboto Mono"/>
                <a:cs typeface="Roboto Mono"/>
                <a:sym typeface="Roboto Mono"/>
              </a:rPr>
              <a:t>,</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color: </a:t>
            </a:r>
            <a:r>
              <a:rPr lang="en" sz="1150">
                <a:solidFill>
                  <a:srgbClr val="9CCC65"/>
                </a:solidFill>
                <a:latin typeface="Roboto Mono"/>
                <a:ea typeface="Roboto Mono"/>
                <a:cs typeface="Roboto Mono"/>
                <a:sym typeface="Roboto Mono"/>
              </a:rPr>
              <a:t>"white"</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 </a:t>
            </a:r>
            <a:r>
              <a:rPr lang="en" sz="1150">
                <a:solidFill>
                  <a:srgbClr val="CE93D8"/>
                </a:solidFill>
                <a:latin typeface="Roboto Mono"/>
                <a:ea typeface="Roboto Mono"/>
                <a:cs typeface="Roboto Mono"/>
                <a:sym typeface="Roboto Mono"/>
              </a:rPr>
              <a:t>React</a:t>
            </a:r>
            <a:r>
              <a:rPr lang="en" sz="1150">
                <a:solidFill>
                  <a:srgbClr val="ECEFF1"/>
                </a:solidFill>
                <a:latin typeface="Roboto Mono"/>
                <a:ea typeface="Roboto Mono"/>
                <a:cs typeface="Roboto Mono"/>
                <a:sym typeface="Roboto Mono"/>
              </a:rPr>
              <a:t>.createElement(</a:t>
            </a:r>
            <a:r>
              <a:rPr lang="en" sz="1150">
                <a:solidFill>
                  <a:srgbClr val="CE93D8"/>
                </a:solidFill>
                <a:latin typeface="Roboto Mono"/>
                <a:ea typeface="Roboto Mono"/>
                <a:cs typeface="Roboto Mono"/>
                <a:sym typeface="Roboto Mono"/>
              </a:rPr>
              <a:t>Cat</a:t>
            </a:r>
            <a:r>
              <a:rPr lang="en" sz="1150">
                <a:solidFill>
                  <a:srgbClr val="ECEFF1"/>
                </a:solidFill>
                <a:latin typeface="Roboto Mono"/>
                <a:ea typeface="Roboto Mono"/>
                <a:cs typeface="Roboto Mono"/>
                <a:sym typeface="Roboto Mono"/>
              </a:rPr>
              <a:t>, {</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cat: </a:t>
            </a:r>
            <a:r>
              <a:rPr lang="en" sz="1150">
                <a:solidFill>
                  <a:srgbClr val="9CCC65"/>
                </a:solidFill>
                <a:latin typeface="Roboto Mono"/>
                <a:ea typeface="Roboto Mono"/>
                <a:cs typeface="Roboto Mono"/>
                <a:sym typeface="Roboto Mono"/>
              </a:rPr>
              <a:t>"Gambit"</a:t>
            </a:r>
            <a:r>
              <a:rPr lang="en" sz="1150">
                <a:solidFill>
                  <a:srgbClr val="ECEFF1"/>
                </a:solidFill>
                <a:latin typeface="Roboto Mono"/>
                <a:ea typeface="Roboto Mono"/>
                <a:cs typeface="Roboto Mono"/>
                <a:sym typeface="Roboto Mono"/>
              </a:rPr>
              <a:t>,</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color: </a:t>
            </a:r>
            <a:r>
              <a:rPr lang="en" sz="1150">
                <a:solidFill>
                  <a:srgbClr val="9CCC65"/>
                </a:solidFill>
                <a:latin typeface="Roboto Mono"/>
                <a:ea typeface="Roboto Mono"/>
                <a:cs typeface="Roboto Mono"/>
                <a:sym typeface="Roboto Mono"/>
              </a:rPr>
              <a:t>"white"</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 </a:t>
            </a:r>
            <a:r>
              <a:rPr lang="en" sz="1150">
                <a:solidFill>
                  <a:srgbClr val="CE93D8"/>
                </a:solidFill>
                <a:latin typeface="Roboto Mono"/>
                <a:ea typeface="Roboto Mono"/>
                <a:cs typeface="Roboto Mono"/>
                <a:sym typeface="Roboto Mono"/>
              </a:rPr>
              <a:t>React</a:t>
            </a:r>
            <a:r>
              <a:rPr lang="en" sz="1150">
                <a:solidFill>
                  <a:srgbClr val="ECEFF1"/>
                </a:solidFill>
                <a:latin typeface="Roboto Mono"/>
                <a:ea typeface="Roboto Mono"/>
                <a:cs typeface="Roboto Mono"/>
                <a:sym typeface="Roboto Mono"/>
              </a:rPr>
              <a:t>.createElement(</a:t>
            </a:r>
            <a:r>
              <a:rPr lang="en" sz="1150">
                <a:solidFill>
                  <a:srgbClr val="CE93D8"/>
                </a:solidFill>
                <a:latin typeface="Roboto Mono"/>
                <a:ea typeface="Roboto Mono"/>
                <a:cs typeface="Roboto Mono"/>
                <a:sym typeface="Roboto Mono"/>
              </a:rPr>
              <a:t>Cat</a:t>
            </a:r>
            <a:r>
              <a:rPr lang="en" sz="1150">
                <a:solidFill>
                  <a:srgbClr val="ECEFF1"/>
                </a:solidFill>
                <a:latin typeface="Roboto Mono"/>
                <a:ea typeface="Roboto Mono"/>
                <a:cs typeface="Roboto Mono"/>
                <a:sym typeface="Roboto Mono"/>
              </a:rPr>
              <a:t>, {</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cat: </a:t>
            </a:r>
            <a:r>
              <a:rPr lang="en" sz="1150">
                <a:solidFill>
                  <a:srgbClr val="9CCC65"/>
                </a:solidFill>
                <a:latin typeface="Roboto Mono"/>
                <a:ea typeface="Roboto Mono"/>
                <a:cs typeface="Roboto Mono"/>
                <a:sym typeface="Roboto Mono"/>
              </a:rPr>
              <a:t>"Ghost"</a:t>
            </a:r>
            <a:r>
              <a:rPr lang="en" sz="1150">
                <a:solidFill>
                  <a:srgbClr val="ECEFF1"/>
                </a:solidFill>
                <a:latin typeface="Roboto Mono"/>
                <a:ea typeface="Roboto Mono"/>
                <a:cs typeface="Roboto Mono"/>
                <a:sym typeface="Roboto Mono"/>
              </a:rPr>
              <a:t>,</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color: </a:t>
            </a:r>
            <a:r>
              <a:rPr lang="en" sz="1150">
                <a:solidFill>
                  <a:srgbClr val="9CCC65"/>
                </a:solidFill>
                <a:latin typeface="Roboto Mono"/>
                <a:ea typeface="Roboto Mono"/>
                <a:cs typeface="Roboto Mono"/>
                <a:sym typeface="Roboto Mono"/>
              </a:rPr>
              <a:t>"white"</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a:t>
            </a:r>
            <a:endParaRPr sz="115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1150">
                <a:solidFill>
                  <a:srgbClr val="ECEFF1"/>
                </a:solidFill>
                <a:latin typeface="Roboto Mono"/>
                <a:ea typeface="Roboto Mono"/>
                <a:cs typeface="Roboto Mono"/>
                <a:sym typeface="Roboto Mono"/>
              </a:rPr>
              <a:t>};</a:t>
            </a:r>
            <a:endParaRPr sz="1150">
              <a:solidFill>
                <a:srgbClr val="ECEFF1"/>
              </a:solidFill>
              <a:latin typeface="Roboto Mono"/>
              <a:ea typeface="Roboto Mono"/>
              <a:cs typeface="Roboto Mono"/>
              <a:sym typeface="Roboto Mono"/>
            </a:endParaRPr>
          </a:p>
        </p:txBody>
      </p:sp>
      <p:sp>
        <p:nvSpPr>
          <p:cNvPr id="150" name="Google Shape;150;p27"/>
          <p:cNvSpPr txBox="1">
            <a:spLocks noGrp="1"/>
          </p:cNvSpPr>
          <p:nvPr>
            <p:ph type="body" idx="1"/>
          </p:nvPr>
        </p:nvSpPr>
        <p:spPr>
          <a:xfrm>
            <a:off x="286625" y="1261225"/>
            <a:ext cx="3545400" cy="3666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200"/>
              <a:t>JSX (what you’re going to write)</a:t>
            </a:r>
            <a:endParaRPr sz="1200"/>
          </a:p>
        </p:txBody>
      </p:sp>
      <p:sp>
        <p:nvSpPr>
          <p:cNvPr id="151" name="Google Shape;151;p27"/>
          <p:cNvSpPr txBox="1">
            <a:spLocks noGrp="1"/>
          </p:cNvSpPr>
          <p:nvPr>
            <p:ph type="body" idx="4294967295"/>
          </p:nvPr>
        </p:nvSpPr>
        <p:spPr>
          <a:xfrm>
            <a:off x="4217650" y="894625"/>
            <a:ext cx="3999900" cy="3666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200"/>
              <a:t>Transpiled with Babel (what is transpiled with babel, essentially what’s happening under the hood.)</a:t>
            </a:r>
            <a:endParaRPr sz="1200"/>
          </a:p>
        </p:txBody>
      </p:sp>
      <p:sp>
        <p:nvSpPr>
          <p:cNvPr id="152" name="Google Shape;152;p27"/>
          <p:cNvSpPr txBox="1">
            <a:spLocks noGrp="1"/>
          </p:cNvSpPr>
          <p:nvPr>
            <p:ph type="body" idx="1"/>
          </p:nvPr>
        </p:nvSpPr>
        <p:spPr>
          <a:xfrm>
            <a:off x="387900" y="4057050"/>
            <a:ext cx="7829700" cy="3666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200"/>
              <a:t>If you’d like to go take a look at how JSX will transpile in the end, you can take a look here at </a:t>
            </a:r>
            <a:r>
              <a:rPr lang="en" sz="1200" u="sng">
                <a:solidFill>
                  <a:schemeClr val="hlink"/>
                </a:solidFill>
                <a:hlinkClick r:id="rId3"/>
              </a:rPr>
              <a:t>the online babel transpiler</a:t>
            </a:r>
            <a:r>
              <a:rPr lang="en" sz="1200"/>
              <a:t>.</a:t>
            </a:r>
            <a:endParaRPr sz="1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8"/>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 Class Based Component with JSX</a:t>
            </a:r>
            <a:endParaRPr/>
          </a:p>
        </p:txBody>
      </p:sp>
      <p:sp>
        <p:nvSpPr>
          <p:cNvPr id="158" name="Google Shape;158;p28"/>
          <p:cNvSpPr txBox="1"/>
          <p:nvPr/>
        </p:nvSpPr>
        <p:spPr>
          <a:xfrm>
            <a:off x="1420800" y="1929075"/>
            <a:ext cx="3000000" cy="398100"/>
          </a:xfrm>
          <a:prstGeom prst="rect">
            <a:avLst/>
          </a:prstGeom>
          <a:noFill/>
          <a:ln>
            <a:noFill/>
          </a:ln>
        </p:spPr>
        <p:txBody>
          <a:bodyPr spcFirstLastPara="1" wrap="square" lIns="91425" tIns="91425" rIns="91425" bIns="91425" anchor="t" anchorCtr="0">
            <a:noAutofit/>
          </a:bodyPr>
          <a:lstStyle/>
          <a:p>
            <a:pPr marL="0" lvl="0" indent="0" algn="l" rtl="0">
              <a:lnSpc>
                <a:spcPct val="146739"/>
              </a:lnSpc>
              <a:spcBef>
                <a:spcPts val="0"/>
              </a:spcBef>
              <a:spcAft>
                <a:spcPts val="0"/>
              </a:spcAft>
              <a:buNone/>
            </a:pPr>
            <a:r>
              <a:rPr lang="en" sz="1150">
                <a:solidFill>
                  <a:srgbClr val="4DD0E1"/>
                </a:solidFill>
                <a:latin typeface="Roboto Mono"/>
                <a:ea typeface="Roboto Mono"/>
                <a:cs typeface="Roboto Mono"/>
                <a:sym typeface="Roboto Mono"/>
              </a:rPr>
              <a:t>&lt;div</a:t>
            </a:r>
            <a:r>
              <a:rPr lang="en" sz="1150">
                <a:solidFill>
                  <a:srgbClr val="ECEFF1"/>
                </a:solidFill>
                <a:latin typeface="Roboto Mono"/>
                <a:ea typeface="Roboto Mono"/>
                <a:cs typeface="Roboto Mono"/>
                <a:sym typeface="Roboto Mono"/>
              </a:rPr>
              <a:t> </a:t>
            </a:r>
            <a:r>
              <a:rPr lang="en" sz="1150">
                <a:solidFill>
                  <a:srgbClr val="CE93D8"/>
                </a:solidFill>
                <a:latin typeface="Roboto Mono"/>
                <a:ea typeface="Roboto Mono"/>
                <a:cs typeface="Roboto Mono"/>
                <a:sym typeface="Roboto Mono"/>
              </a:rPr>
              <a:t>id</a:t>
            </a:r>
            <a:r>
              <a:rPr lang="en" sz="1150">
                <a:solidFill>
                  <a:srgbClr val="ECEFF1"/>
                </a:solidFill>
                <a:latin typeface="Roboto Mono"/>
                <a:ea typeface="Roboto Mono"/>
                <a:cs typeface="Roboto Mono"/>
                <a:sym typeface="Roboto Mono"/>
              </a:rPr>
              <a:t>=</a:t>
            </a:r>
            <a:r>
              <a:rPr lang="en" sz="1150">
                <a:solidFill>
                  <a:srgbClr val="9CCC65"/>
                </a:solidFill>
                <a:latin typeface="Roboto Mono"/>
                <a:ea typeface="Roboto Mono"/>
                <a:cs typeface="Roboto Mono"/>
                <a:sym typeface="Roboto Mono"/>
              </a:rPr>
              <a:t>"react-container"</a:t>
            </a:r>
            <a:r>
              <a:rPr lang="en" sz="1150">
                <a:solidFill>
                  <a:srgbClr val="4DD0E1"/>
                </a:solidFill>
                <a:latin typeface="Roboto Mono"/>
                <a:ea typeface="Roboto Mono"/>
                <a:cs typeface="Roboto Mono"/>
                <a:sym typeface="Roboto Mono"/>
              </a:rPr>
              <a:t>&gt;&lt;/div&gt;</a:t>
            </a:r>
            <a:endParaRPr sz="1150">
              <a:solidFill>
                <a:srgbClr val="4DD0E1"/>
              </a:solidFill>
              <a:latin typeface="Roboto Mono"/>
              <a:ea typeface="Roboto Mono"/>
              <a:cs typeface="Roboto Mono"/>
              <a:sym typeface="Roboto Mono"/>
            </a:endParaRPr>
          </a:p>
        </p:txBody>
      </p:sp>
      <p:sp>
        <p:nvSpPr>
          <p:cNvPr id="159" name="Google Shape;159;p28"/>
          <p:cNvSpPr txBox="1"/>
          <p:nvPr/>
        </p:nvSpPr>
        <p:spPr>
          <a:xfrm>
            <a:off x="1420800" y="2757100"/>
            <a:ext cx="4387200" cy="1441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dirty="0">
                <a:solidFill>
                  <a:srgbClr val="4DD0E1"/>
                </a:solidFill>
                <a:latin typeface="Roboto Mono"/>
                <a:ea typeface="Roboto Mono"/>
                <a:cs typeface="Roboto Mono"/>
                <a:sym typeface="Roboto Mono"/>
              </a:rPr>
              <a:t>class</a:t>
            </a:r>
            <a:r>
              <a:rPr lang="en" sz="1150" dirty="0">
                <a:solidFill>
                  <a:srgbClr val="ECEFF1"/>
                </a:solidFill>
                <a:latin typeface="Roboto Mono"/>
                <a:ea typeface="Roboto Mono"/>
                <a:cs typeface="Roboto Mono"/>
                <a:sym typeface="Roboto Mono"/>
              </a:rPr>
              <a:t> </a:t>
            </a:r>
            <a:r>
              <a:rPr lang="en" sz="1150" dirty="0">
                <a:solidFill>
                  <a:srgbClr val="CE93D8"/>
                </a:solidFill>
                <a:latin typeface="Roboto Mono"/>
                <a:ea typeface="Roboto Mono"/>
                <a:cs typeface="Roboto Mono"/>
                <a:sym typeface="Roboto Mono"/>
              </a:rPr>
              <a:t>HelloWorld</a:t>
            </a:r>
            <a:r>
              <a:rPr lang="en" sz="1150" dirty="0">
                <a:solidFill>
                  <a:srgbClr val="ECEFF1"/>
                </a:solidFill>
                <a:latin typeface="Roboto Mono"/>
                <a:ea typeface="Roboto Mono"/>
                <a:cs typeface="Roboto Mono"/>
                <a:sym typeface="Roboto Mono"/>
              </a:rPr>
              <a:t> extends </a:t>
            </a:r>
            <a:r>
              <a:rPr lang="en" sz="1150" dirty="0">
                <a:solidFill>
                  <a:srgbClr val="CE93D8"/>
                </a:solidFill>
                <a:latin typeface="Roboto Mono"/>
                <a:ea typeface="Roboto Mono"/>
                <a:cs typeface="Roboto Mono"/>
                <a:sym typeface="Roboto Mono"/>
              </a:rPr>
              <a:t>React</a:t>
            </a:r>
            <a:r>
              <a:rPr lang="en" sz="1150" dirty="0">
                <a:solidFill>
                  <a:srgbClr val="ECEFF1"/>
                </a:solidFill>
                <a:latin typeface="Roboto Mono"/>
                <a:ea typeface="Roboto Mono"/>
                <a:cs typeface="Roboto Mono"/>
                <a:sym typeface="Roboto Mono"/>
              </a:rPr>
              <a:t>.</a:t>
            </a:r>
            <a:r>
              <a:rPr lang="en" sz="1150" dirty="0">
                <a:solidFill>
                  <a:srgbClr val="CE93D8"/>
                </a:solidFill>
                <a:latin typeface="Roboto Mono"/>
                <a:ea typeface="Roboto Mono"/>
                <a:cs typeface="Roboto Mono"/>
                <a:sym typeface="Roboto Mono"/>
              </a:rPr>
              <a:t>Component</a:t>
            </a:r>
            <a:r>
              <a:rPr lang="en" sz="1150" dirty="0">
                <a:solidFill>
                  <a:srgbClr val="ECEFF1"/>
                </a:solidFill>
                <a:latin typeface="Roboto Mono"/>
                <a:ea typeface="Roboto Mono"/>
                <a:cs typeface="Roboto Mono"/>
                <a:sym typeface="Roboto Mono"/>
              </a:rPr>
              <a:t> {</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render() {</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a:t>
            </a:r>
            <a:r>
              <a:rPr lang="en" sz="1150" dirty="0">
                <a:solidFill>
                  <a:srgbClr val="4DD0E1"/>
                </a:solidFill>
                <a:latin typeface="Roboto Mono"/>
                <a:ea typeface="Roboto Mono"/>
                <a:cs typeface="Roboto Mono"/>
                <a:sym typeface="Roboto Mono"/>
              </a:rPr>
              <a:t>return</a:t>
            </a:r>
            <a:r>
              <a:rPr lang="en" sz="1150" dirty="0">
                <a:solidFill>
                  <a:srgbClr val="ECEFF1"/>
                </a:solidFill>
                <a:latin typeface="Roboto Mono"/>
                <a:ea typeface="Roboto Mono"/>
                <a:cs typeface="Roboto Mono"/>
                <a:sym typeface="Roboto Mono"/>
              </a:rPr>
              <a:t> (</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&lt;div&gt;</a:t>
            </a:r>
            <a:r>
              <a:rPr lang="en" sz="1150" dirty="0">
                <a:solidFill>
                  <a:srgbClr val="CE93D8"/>
                </a:solidFill>
                <a:latin typeface="Roboto Mono"/>
                <a:ea typeface="Roboto Mono"/>
                <a:cs typeface="Roboto Mono"/>
                <a:sym typeface="Roboto Mono"/>
              </a:rPr>
              <a:t>Hello</a:t>
            </a:r>
            <a:r>
              <a:rPr lang="en" sz="1150" dirty="0">
                <a:solidFill>
                  <a:srgbClr val="ECEFF1"/>
                </a:solidFill>
                <a:latin typeface="Roboto Mono"/>
                <a:ea typeface="Roboto Mono"/>
                <a:cs typeface="Roboto Mono"/>
                <a:sym typeface="Roboto Mono"/>
              </a:rPr>
              <a:t> </a:t>
            </a:r>
            <a:r>
              <a:rPr lang="en" sz="1150" dirty="0">
                <a:solidFill>
                  <a:srgbClr val="CE93D8"/>
                </a:solidFill>
                <a:latin typeface="Roboto Mono"/>
                <a:ea typeface="Roboto Mono"/>
                <a:cs typeface="Roboto Mono"/>
                <a:sym typeface="Roboto Mono"/>
              </a:rPr>
              <a:t>World</a:t>
            </a:r>
            <a:r>
              <a:rPr lang="en" sz="1150" dirty="0">
                <a:solidFill>
                  <a:srgbClr val="ECEFF1"/>
                </a:solidFill>
                <a:latin typeface="Roboto Mono"/>
                <a:ea typeface="Roboto Mono"/>
                <a:cs typeface="Roboto Mono"/>
                <a:sym typeface="Roboto Mono"/>
              </a:rPr>
              <a:t>, you seem classy&lt;/div&gt;</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a:t>
            </a:r>
            <a:endParaRPr sz="1150" dirty="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1150" dirty="0">
                <a:solidFill>
                  <a:srgbClr val="ECEFF1"/>
                </a:solidFill>
                <a:latin typeface="Roboto Mono"/>
                <a:ea typeface="Roboto Mono"/>
                <a:cs typeface="Roboto Mono"/>
                <a:sym typeface="Roboto Mono"/>
              </a:rPr>
              <a:t>}</a:t>
            </a:r>
            <a:endParaRPr sz="1150" dirty="0">
              <a:solidFill>
                <a:srgbClr val="ECEFF1"/>
              </a:solidFill>
              <a:latin typeface="Roboto Mono"/>
              <a:ea typeface="Roboto Mono"/>
              <a:cs typeface="Roboto Mono"/>
              <a:sym typeface="Roboto Mono"/>
            </a:endParaRPr>
          </a:p>
        </p:txBody>
      </p:sp>
      <p:sp>
        <p:nvSpPr>
          <p:cNvPr id="160" name="Google Shape;160;p28"/>
          <p:cNvSpPr txBox="1">
            <a:spLocks noGrp="1"/>
          </p:cNvSpPr>
          <p:nvPr>
            <p:ph type="body" idx="1"/>
          </p:nvPr>
        </p:nvSpPr>
        <p:spPr>
          <a:xfrm>
            <a:off x="1420800" y="1562475"/>
            <a:ext cx="3545400" cy="3666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200"/>
              <a:t>HTML:</a:t>
            </a:r>
            <a:endParaRPr sz="1200"/>
          </a:p>
        </p:txBody>
      </p:sp>
      <p:sp>
        <p:nvSpPr>
          <p:cNvPr id="161" name="Google Shape;161;p28"/>
          <p:cNvSpPr txBox="1">
            <a:spLocks noGrp="1"/>
          </p:cNvSpPr>
          <p:nvPr>
            <p:ph type="body" idx="4294967295"/>
          </p:nvPr>
        </p:nvSpPr>
        <p:spPr>
          <a:xfrm>
            <a:off x="1420800" y="2513500"/>
            <a:ext cx="3999900" cy="3666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200"/>
              <a:t>Javascript</a:t>
            </a:r>
            <a:endParaRPr sz="1200"/>
          </a:p>
        </p:txBody>
      </p:sp>
      <p:sp>
        <p:nvSpPr>
          <p:cNvPr id="162" name="Google Shape;162;p28"/>
          <p:cNvSpPr txBox="1">
            <a:spLocks noGrp="1"/>
          </p:cNvSpPr>
          <p:nvPr>
            <p:ph type="body" idx="4294967295"/>
          </p:nvPr>
        </p:nvSpPr>
        <p:spPr>
          <a:xfrm>
            <a:off x="4966200" y="1407925"/>
            <a:ext cx="3999900" cy="366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Example:</a:t>
            </a:r>
            <a:br>
              <a:rPr lang="en" sz="1200"/>
            </a:br>
            <a:r>
              <a:rPr lang="en" sz="1200" u="sng">
                <a:solidFill>
                  <a:schemeClr val="hlink"/>
                </a:solidFill>
                <a:hlinkClick r:id="rId3"/>
              </a:rPr>
              <a:t>https://jsfiddle.net/dgmouris/9625cmta/7/</a:t>
            </a:r>
            <a:br>
              <a:rPr lang="en" sz="1200"/>
            </a:br>
            <a:r>
              <a:rPr lang="en" sz="1200" u="sng">
                <a:solidFill>
                  <a:schemeClr val="hlink"/>
                </a:solidFill>
                <a:hlinkClick r:id="rId4"/>
              </a:rPr>
              <a:t>https://jsfiddle.net/dgmouris/9625cmta/19/</a:t>
            </a:r>
            <a:r>
              <a:rPr lang="en" sz="1200"/>
              <a:t> </a:t>
            </a:r>
            <a:endParaRPr sz="1200"/>
          </a:p>
          <a:p>
            <a:pPr marL="0" lvl="0" indent="0" algn="l" rtl="0">
              <a:spcBef>
                <a:spcPts val="1600"/>
              </a:spcBef>
              <a:spcAft>
                <a:spcPts val="0"/>
              </a:spcAft>
              <a:buNone/>
            </a:pPr>
            <a:r>
              <a:rPr lang="en" sz="1200"/>
              <a:t> </a:t>
            </a:r>
            <a:endParaRPr sz="1200"/>
          </a:p>
          <a:p>
            <a:pPr marL="0" lvl="0" indent="0" algn="l" rtl="0">
              <a:spcBef>
                <a:spcPts val="1600"/>
              </a:spcBef>
              <a:spcAft>
                <a:spcPts val="1600"/>
              </a:spcAft>
              <a:buNone/>
            </a:pPr>
            <a:endParaRPr sz="12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29"/>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 Function Based Component with JSX</a:t>
            </a:r>
            <a:endParaRPr/>
          </a:p>
        </p:txBody>
      </p:sp>
      <p:sp>
        <p:nvSpPr>
          <p:cNvPr id="168" name="Google Shape;168;p29"/>
          <p:cNvSpPr txBox="1"/>
          <p:nvPr/>
        </p:nvSpPr>
        <p:spPr>
          <a:xfrm>
            <a:off x="1344600" y="1852875"/>
            <a:ext cx="3000000" cy="398100"/>
          </a:xfrm>
          <a:prstGeom prst="rect">
            <a:avLst/>
          </a:prstGeom>
          <a:noFill/>
          <a:ln>
            <a:noFill/>
          </a:ln>
        </p:spPr>
        <p:txBody>
          <a:bodyPr spcFirstLastPara="1" wrap="square" lIns="91425" tIns="91425" rIns="91425" bIns="91425" anchor="t" anchorCtr="0">
            <a:noAutofit/>
          </a:bodyPr>
          <a:lstStyle/>
          <a:p>
            <a:pPr marL="0" lvl="0" indent="0" algn="l" rtl="0">
              <a:lnSpc>
                <a:spcPct val="146739"/>
              </a:lnSpc>
              <a:spcBef>
                <a:spcPts val="0"/>
              </a:spcBef>
              <a:spcAft>
                <a:spcPts val="0"/>
              </a:spcAft>
              <a:buNone/>
            </a:pPr>
            <a:r>
              <a:rPr lang="en" sz="1150">
                <a:solidFill>
                  <a:srgbClr val="4DD0E1"/>
                </a:solidFill>
                <a:latin typeface="Roboto Mono"/>
                <a:ea typeface="Roboto Mono"/>
                <a:cs typeface="Roboto Mono"/>
                <a:sym typeface="Roboto Mono"/>
              </a:rPr>
              <a:t>&lt;div</a:t>
            </a:r>
            <a:r>
              <a:rPr lang="en" sz="1150">
                <a:solidFill>
                  <a:srgbClr val="ECEFF1"/>
                </a:solidFill>
                <a:latin typeface="Roboto Mono"/>
                <a:ea typeface="Roboto Mono"/>
                <a:cs typeface="Roboto Mono"/>
                <a:sym typeface="Roboto Mono"/>
              </a:rPr>
              <a:t> </a:t>
            </a:r>
            <a:r>
              <a:rPr lang="en" sz="1150">
                <a:solidFill>
                  <a:srgbClr val="CE93D8"/>
                </a:solidFill>
                <a:latin typeface="Roboto Mono"/>
                <a:ea typeface="Roboto Mono"/>
                <a:cs typeface="Roboto Mono"/>
                <a:sym typeface="Roboto Mono"/>
              </a:rPr>
              <a:t>id</a:t>
            </a:r>
            <a:r>
              <a:rPr lang="en" sz="1150">
                <a:solidFill>
                  <a:srgbClr val="ECEFF1"/>
                </a:solidFill>
                <a:latin typeface="Roboto Mono"/>
                <a:ea typeface="Roboto Mono"/>
                <a:cs typeface="Roboto Mono"/>
                <a:sym typeface="Roboto Mono"/>
              </a:rPr>
              <a:t>=</a:t>
            </a:r>
            <a:r>
              <a:rPr lang="en" sz="1150">
                <a:solidFill>
                  <a:srgbClr val="9CCC65"/>
                </a:solidFill>
                <a:latin typeface="Roboto Mono"/>
                <a:ea typeface="Roboto Mono"/>
                <a:cs typeface="Roboto Mono"/>
                <a:sym typeface="Roboto Mono"/>
              </a:rPr>
              <a:t>"react-container"</a:t>
            </a:r>
            <a:r>
              <a:rPr lang="en" sz="1150">
                <a:solidFill>
                  <a:srgbClr val="4DD0E1"/>
                </a:solidFill>
                <a:latin typeface="Roboto Mono"/>
                <a:ea typeface="Roboto Mono"/>
                <a:cs typeface="Roboto Mono"/>
                <a:sym typeface="Roboto Mono"/>
              </a:rPr>
              <a:t>&gt;&lt;/div&gt;</a:t>
            </a:r>
            <a:endParaRPr sz="1150">
              <a:solidFill>
                <a:srgbClr val="4DD0E1"/>
              </a:solidFill>
              <a:latin typeface="Roboto Mono"/>
              <a:ea typeface="Roboto Mono"/>
              <a:cs typeface="Roboto Mono"/>
              <a:sym typeface="Roboto Mono"/>
            </a:endParaRPr>
          </a:p>
        </p:txBody>
      </p:sp>
      <p:sp>
        <p:nvSpPr>
          <p:cNvPr id="169" name="Google Shape;169;p29"/>
          <p:cNvSpPr txBox="1">
            <a:spLocks noGrp="1"/>
          </p:cNvSpPr>
          <p:nvPr>
            <p:ph type="body" idx="1"/>
          </p:nvPr>
        </p:nvSpPr>
        <p:spPr>
          <a:xfrm>
            <a:off x="1344600" y="1486275"/>
            <a:ext cx="3545400" cy="3666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200"/>
              <a:t>HTML:</a:t>
            </a:r>
            <a:endParaRPr sz="1200"/>
          </a:p>
        </p:txBody>
      </p:sp>
      <p:sp>
        <p:nvSpPr>
          <p:cNvPr id="170" name="Google Shape;170;p29"/>
          <p:cNvSpPr txBox="1">
            <a:spLocks noGrp="1"/>
          </p:cNvSpPr>
          <p:nvPr>
            <p:ph type="body" idx="4294967295"/>
          </p:nvPr>
        </p:nvSpPr>
        <p:spPr>
          <a:xfrm>
            <a:off x="1344600" y="2437300"/>
            <a:ext cx="3999900" cy="3666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200"/>
              <a:t>Javascript:</a:t>
            </a:r>
            <a:endParaRPr sz="1200"/>
          </a:p>
        </p:txBody>
      </p:sp>
      <p:sp>
        <p:nvSpPr>
          <p:cNvPr id="171" name="Google Shape;171;p29"/>
          <p:cNvSpPr txBox="1"/>
          <p:nvPr/>
        </p:nvSpPr>
        <p:spPr>
          <a:xfrm>
            <a:off x="1344600" y="2803900"/>
            <a:ext cx="6966900" cy="122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solidFill>
                  <a:srgbClr val="F06292"/>
                </a:solidFill>
                <a:latin typeface="Roboto Mono"/>
                <a:ea typeface="Roboto Mono"/>
                <a:cs typeface="Roboto Mono"/>
                <a:sym typeface="Roboto Mono"/>
              </a:rPr>
              <a:t>// Most basic simple (function) React JSX Component</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4DD0E1"/>
                </a:solidFill>
                <a:latin typeface="Roboto Mono"/>
                <a:ea typeface="Roboto Mono"/>
                <a:cs typeface="Roboto Mono"/>
                <a:sym typeface="Roboto Mono"/>
              </a:rPr>
              <a:t>const</a:t>
            </a:r>
            <a:r>
              <a:rPr lang="en" sz="1150">
                <a:solidFill>
                  <a:srgbClr val="ECEFF1"/>
                </a:solidFill>
                <a:latin typeface="Roboto Mono"/>
                <a:ea typeface="Roboto Mono"/>
                <a:cs typeface="Roboto Mono"/>
                <a:sym typeface="Roboto Mono"/>
              </a:rPr>
              <a:t> </a:t>
            </a:r>
            <a:r>
              <a:rPr lang="en" sz="1150">
                <a:solidFill>
                  <a:srgbClr val="CE93D8"/>
                </a:solidFill>
                <a:latin typeface="Roboto Mono"/>
                <a:ea typeface="Roboto Mono"/>
                <a:cs typeface="Roboto Mono"/>
                <a:sym typeface="Roboto Mono"/>
              </a:rPr>
              <a:t>HelloWorld</a:t>
            </a:r>
            <a:r>
              <a:rPr lang="en" sz="1150">
                <a:solidFill>
                  <a:srgbClr val="ECEFF1"/>
                </a:solidFill>
                <a:latin typeface="Roboto Mono"/>
                <a:ea typeface="Roboto Mono"/>
                <a:cs typeface="Roboto Mono"/>
                <a:sym typeface="Roboto Mono"/>
              </a:rPr>
              <a:t> = () =&gt; {</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a:t>
            </a:r>
            <a:r>
              <a:rPr lang="en" sz="1150">
                <a:solidFill>
                  <a:srgbClr val="4DD0E1"/>
                </a:solidFill>
                <a:latin typeface="Roboto Mono"/>
                <a:ea typeface="Roboto Mono"/>
                <a:cs typeface="Roboto Mono"/>
                <a:sym typeface="Roboto Mono"/>
              </a:rPr>
              <a:t>return</a:t>
            </a:r>
            <a:r>
              <a:rPr lang="en" sz="1150">
                <a:solidFill>
                  <a:srgbClr val="ECEFF1"/>
                </a:solidFill>
                <a:latin typeface="Roboto Mono"/>
                <a:ea typeface="Roboto Mono"/>
                <a:cs typeface="Roboto Mono"/>
                <a:sym typeface="Roboto Mono"/>
              </a:rPr>
              <a:t> (&lt;div&gt; </a:t>
            </a:r>
            <a:r>
              <a:rPr lang="en" sz="1150">
                <a:solidFill>
                  <a:srgbClr val="CE93D8"/>
                </a:solidFill>
                <a:latin typeface="Roboto Mono"/>
                <a:ea typeface="Roboto Mono"/>
                <a:cs typeface="Roboto Mono"/>
                <a:sym typeface="Roboto Mono"/>
              </a:rPr>
              <a:t>Hello</a:t>
            </a:r>
            <a:r>
              <a:rPr lang="en" sz="1150">
                <a:solidFill>
                  <a:srgbClr val="ECEFF1"/>
                </a:solidFill>
                <a:latin typeface="Roboto Mono"/>
                <a:ea typeface="Roboto Mono"/>
                <a:cs typeface="Roboto Mono"/>
                <a:sym typeface="Roboto Mono"/>
              </a:rPr>
              <a:t> </a:t>
            </a:r>
            <a:r>
              <a:rPr lang="en" sz="1150">
                <a:solidFill>
                  <a:srgbClr val="CE93D8"/>
                </a:solidFill>
                <a:latin typeface="Roboto Mono"/>
                <a:ea typeface="Roboto Mono"/>
                <a:cs typeface="Roboto Mono"/>
                <a:sym typeface="Roboto Mono"/>
              </a:rPr>
              <a:t>World</a:t>
            </a:r>
            <a:r>
              <a:rPr lang="en" sz="1150">
                <a:solidFill>
                  <a:srgbClr val="ECEFF1"/>
                </a:solidFill>
                <a:latin typeface="Roboto Mono"/>
                <a:ea typeface="Roboto Mono"/>
                <a:cs typeface="Roboto Mono"/>
                <a:sym typeface="Roboto Mono"/>
              </a:rPr>
              <a:t>, you are func-y &lt;/div&gt;);</a:t>
            </a:r>
            <a:endParaRPr sz="115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1150">
                <a:solidFill>
                  <a:srgbClr val="ECEFF1"/>
                </a:solidFill>
                <a:latin typeface="Roboto Mono"/>
                <a:ea typeface="Roboto Mono"/>
                <a:cs typeface="Roboto Mono"/>
                <a:sym typeface="Roboto Mono"/>
              </a:rPr>
              <a:t>}</a:t>
            </a:r>
            <a:endParaRPr sz="1150">
              <a:solidFill>
                <a:srgbClr val="ECEFF1"/>
              </a:solidFill>
              <a:latin typeface="Roboto Mono"/>
              <a:ea typeface="Roboto Mono"/>
              <a:cs typeface="Roboto Mono"/>
              <a:sym typeface="Roboto Mono"/>
            </a:endParaRPr>
          </a:p>
        </p:txBody>
      </p:sp>
      <p:sp>
        <p:nvSpPr>
          <p:cNvPr id="172" name="Google Shape;172;p29"/>
          <p:cNvSpPr txBox="1">
            <a:spLocks noGrp="1"/>
          </p:cNvSpPr>
          <p:nvPr>
            <p:ph type="body" idx="4294967295"/>
          </p:nvPr>
        </p:nvSpPr>
        <p:spPr>
          <a:xfrm>
            <a:off x="5244825" y="1399950"/>
            <a:ext cx="3999900" cy="366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Example:</a:t>
            </a:r>
            <a:br>
              <a:rPr lang="en" sz="1200"/>
            </a:br>
            <a:r>
              <a:rPr lang="en" sz="1200" u="sng">
                <a:solidFill>
                  <a:schemeClr val="hlink"/>
                </a:solidFill>
                <a:hlinkClick r:id="rId3"/>
              </a:rPr>
              <a:t>https://jsfiddle.net/dgmouris/rubjdt6k/6/</a:t>
            </a:r>
            <a:br>
              <a:rPr lang="en" sz="1200"/>
            </a:br>
            <a:r>
              <a:rPr lang="en" sz="1200" u="sng">
                <a:solidFill>
                  <a:schemeClr val="hlink"/>
                </a:solidFill>
                <a:hlinkClick r:id="rId4"/>
              </a:rPr>
              <a:t>https://jsfiddle.net/dgmouris/rubjdt6k/14/</a:t>
            </a:r>
            <a:r>
              <a:rPr lang="en" sz="1200"/>
              <a:t> </a:t>
            </a:r>
            <a:endParaRPr sz="1200"/>
          </a:p>
          <a:p>
            <a:pPr marL="0" lvl="0" indent="0" algn="l" rtl="0">
              <a:spcBef>
                <a:spcPts val="1600"/>
              </a:spcBef>
              <a:spcAft>
                <a:spcPts val="1600"/>
              </a:spcAft>
              <a:buNone/>
            </a:pPr>
            <a:endParaRPr sz="12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30"/>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We’re going use Function Based Components</a:t>
            </a:r>
            <a:endParaRPr/>
          </a:p>
        </p:txBody>
      </p:sp>
      <p:sp>
        <p:nvSpPr>
          <p:cNvPr id="178" name="Google Shape;178;p30"/>
          <p:cNvSpPr txBox="1">
            <a:spLocks noGrp="1"/>
          </p:cNvSpPr>
          <p:nvPr>
            <p:ph type="body" idx="1"/>
          </p:nvPr>
        </p:nvSpPr>
        <p:spPr>
          <a:xfrm>
            <a:off x="387900" y="1329800"/>
            <a:ext cx="8368200" cy="361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Class based components are great, but the standard in React.js and Next.js has been to use function based examples and hooks (of which we’ll be learning about a ton).</a:t>
            </a:r>
            <a:endParaRPr/>
          </a:p>
          <a:p>
            <a:pPr marL="0" lvl="0" indent="0" algn="l" rtl="0">
              <a:spcBef>
                <a:spcPts val="1600"/>
              </a:spcBef>
              <a:spcAft>
                <a:spcPts val="0"/>
              </a:spcAft>
              <a:buNone/>
            </a:pPr>
            <a:r>
              <a:rPr lang="en"/>
              <a:t>So if you’re thinking to yourself, I want to learn one way of understanding how these components work, we’re going to be focusing on that.</a:t>
            </a:r>
            <a:endParaRPr/>
          </a:p>
          <a:p>
            <a:pPr marL="0" lvl="0" indent="0" algn="l" rtl="0">
              <a:spcBef>
                <a:spcPts val="1600"/>
              </a:spcBef>
              <a:spcAft>
                <a:spcPts val="0"/>
              </a:spcAft>
              <a:buNone/>
            </a:pPr>
            <a:endParaRPr/>
          </a:p>
          <a:p>
            <a:pPr marL="0" lvl="0" indent="0" algn="l" rtl="0">
              <a:spcBef>
                <a:spcPts val="1600"/>
              </a:spcBef>
              <a:spcAft>
                <a:spcPts val="1600"/>
              </a:spcAft>
              <a:buNone/>
            </a:pP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31"/>
          <p:cNvSpPr txBox="1">
            <a:spLocks noGrp="1"/>
          </p:cNvSpPr>
          <p:nvPr>
            <p:ph type="title"/>
          </p:nvPr>
        </p:nvSpPr>
        <p:spPr>
          <a:xfrm>
            <a:off x="248400" y="1440025"/>
            <a:ext cx="4045200" cy="1506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Where are we?</a:t>
            </a:r>
            <a:endParaRPr/>
          </a:p>
        </p:txBody>
      </p:sp>
      <p:sp>
        <p:nvSpPr>
          <p:cNvPr id="184" name="Google Shape;184;p31"/>
          <p:cNvSpPr txBox="1">
            <a:spLocks noGrp="1"/>
          </p:cNvSpPr>
          <p:nvPr>
            <p:ph type="body" idx="2"/>
          </p:nvPr>
        </p:nvSpPr>
        <p:spPr>
          <a:xfrm>
            <a:off x="4946900" y="1086825"/>
            <a:ext cx="4297200" cy="3695100"/>
          </a:xfrm>
          <a:prstGeom prst="rect">
            <a:avLst/>
          </a:prstGeom>
        </p:spPr>
        <p:txBody>
          <a:bodyPr spcFirstLastPara="1" wrap="square" lIns="91425" tIns="91425" rIns="91425" bIns="91425" anchor="ctr" anchorCtr="0">
            <a:noAutofit/>
          </a:bodyPr>
          <a:lstStyle/>
          <a:p>
            <a:pPr marL="457200" lvl="0" indent="-330200" algn="l" rtl="0">
              <a:spcBef>
                <a:spcPts val="0"/>
              </a:spcBef>
              <a:spcAft>
                <a:spcPts val="0"/>
              </a:spcAft>
              <a:buSzPts val="1600"/>
              <a:buAutoNum type="arabicPeriod"/>
            </a:pPr>
            <a:r>
              <a:rPr lang="en" sz="1600"/>
              <a:t>Expectations</a:t>
            </a:r>
            <a:endParaRPr sz="1600"/>
          </a:p>
          <a:p>
            <a:pPr marL="457200" lvl="0" indent="-330200" algn="l" rtl="0">
              <a:spcBef>
                <a:spcPts val="0"/>
              </a:spcBef>
              <a:spcAft>
                <a:spcPts val="0"/>
              </a:spcAft>
              <a:buSzPts val="1600"/>
              <a:buAutoNum type="arabicPeriod"/>
            </a:pPr>
            <a:r>
              <a:rPr lang="en" sz="1600"/>
              <a:t>What is React</a:t>
            </a:r>
            <a:endParaRPr sz="1600"/>
          </a:p>
          <a:p>
            <a:pPr marL="457200" lvl="0" indent="-330200" algn="l" rtl="0">
              <a:spcBef>
                <a:spcPts val="0"/>
              </a:spcBef>
              <a:spcAft>
                <a:spcPts val="0"/>
              </a:spcAft>
              <a:buSzPts val="1600"/>
              <a:buAutoNum type="arabicPeriod"/>
            </a:pPr>
            <a:r>
              <a:rPr lang="en" sz="1600"/>
              <a:t>Why use React</a:t>
            </a:r>
            <a:endParaRPr sz="1600"/>
          </a:p>
          <a:p>
            <a:pPr marL="457200" lvl="0" indent="-330200" algn="l" rtl="0">
              <a:spcBef>
                <a:spcPts val="0"/>
              </a:spcBef>
              <a:spcAft>
                <a:spcPts val="0"/>
              </a:spcAft>
              <a:buSzPts val="1600"/>
              <a:buAutoNum type="arabicPeriod"/>
            </a:pPr>
            <a:r>
              <a:rPr lang="en" sz="1600"/>
              <a:t>What is Next.js</a:t>
            </a:r>
            <a:endParaRPr sz="1600"/>
          </a:p>
          <a:p>
            <a:pPr marL="457200" lvl="0" indent="-330200" algn="l" rtl="0">
              <a:spcBef>
                <a:spcPts val="0"/>
              </a:spcBef>
              <a:spcAft>
                <a:spcPts val="0"/>
              </a:spcAft>
              <a:buSzPts val="1600"/>
              <a:buAutoNum type="arabicPeriod"/>
            </a:pPr>
            <a:r>
              <a:rPr lang="en" sz="1600"/>
              <a:t>Okay Who uses react and Next.js</a:t>
            </a:r>
            <a:endParaRPr sz="1600"/>
          </a:p>
          <a:p>
            <a:pPr marL="457200" lvl="0" indent="-330200" algn="l" rtl="0">
              <a:spcBef>
                <a:spcPts val="0"/>
              </a:spcBef>
              <a:spcAft>
                <a:spcPts val="0"/>
              </a:spcAft>
              <a:buSzPts val="1600"/>
              <a:buAutoNum type="arabicPeriod"/>
            </a:pPr>
            <a:r>
              <a:rPr lang="en" sz="1600"/>
              <a:t>React Components</a:t>
            </a:r>
            <a:endParaRPr sz="1600"/>
          </a:p>
          <a:p>
            <a:pPr marL="457200" lvl="0" indent="-330200" algn="l" rtl="0">
              <a:spcBef>
                <a:spcPts val="0"/>
              </a:spcBef>
              <a:spcAft>
                <a:spcPts val="0"/>
              </a:spcAft>
              <a:buSzPts val="1600"/>
              <a:buAutoNum type="arabicPeriod"/>
            </a:pPr>
            <a:r>
              <a:rPr lang="en" sz="1600"/>
              <a:t>What does it look like?</a:t>
            </a:r>
            <a:endParaRPr sz="1600"/>
          </a:p>
          <a:p>
            <a:pPr marL="457200" lvl="0" indent="-330200" algn="l" rtl="0">
              <a:spcBef>
                <a:spcPts val="0"/>
              </a:spcBef>
              <a:spcAft>
                <a:spcPts val="0"/>
              </a:spcAft>
              <a:buSzPts val="1600"/>
              <a:buAutoNum type="arabicPeriod"/>
            </a:pPr>
            <a:r>
              <a:rPr lang="en" sz="1600"/>
              <a:t>A small intro to JSX</a:t>
            </a:r>
            <a:endParaRPr sz="1600"/>
          </a:p>
          <a:p>
            <a:pPr marL="457200" lvl="0" indent="-330200" algn="l" rtl="0">
              <a:spcBef>
                <a:spcPts val="0"/>
              </a:spcBef>
              <a:spcAft>
                <a:spcPts val="0"/>
              </a:spcAft>
              <a:buSzPts val="1600"/>
              <a:buAutoNum type="arabicPeriod"/>
            </a:pPr>
            <a:r>
              <a:rPr lang="en" sz="1600"/>
              <a:t>A Class Based Component with JSX</a:t>
            </a:r>
            <a:endParaRPr sz="1600"/>
          </a:p>
          <a:p>
            <a:pPr marL="457200" lvl="0" indent="-330200" algn="l" rtl="0">
              <a:spcBef>
                <a:spcPts val="0"/>
              </a:spcBef>
              <a:spcAft>
                <a:spcPts val="0"/>
              </a:spcAft>
              <a:buSzPts val="1600"/>
              <a:buAutoNum type="arabicPeriod"/>
            </a:pPr>
            <a:r>
              <a:rPr lang="en" sz="1600"/>
              <a:t>A Function Based Component (Hook) </a:t>
            </a:r>
            <a:endParaRPr sz="1600"/>
          </a:p>
          <a:p>
            <a:pPr marL="457200" lvl="0" indent="-330200" algn="l" rtl="0">
              <a:spcBef>
                <a:spcPts val="0"/>
              </a:spcBef>
              <a:spcAft>
                <a:spcPts val="0"/>
              </a:spcAft>
              <a:buSzPts val="1600"/>
              <a:buAutoNum type="arabicPeriod"/>
            </a:pPr>
            <a:r>
              <a:rPr lang="en" sz="1600"/>
              <a:t>Let’s Install and Explore Next.js</a:t>
            </a:r>
            <a:endParaRPr sz="16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32"/>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Let’s Install and Explore Next.js </a:t>
            </a:r>
            <a:endParaRPr/>
          </a:p>
        </p:txBody>
      </p:sp>
      <p:sp>
        <p:nvSpPr>
          <p:cNvPr id="190" name="Google Shape;190;p32"/>
          <p:cNvSpPr txBox="1">
            <a:spLocks noGrp="1"/>
          </p:cNvSpPr>
          <p:nvPr>
            <p:ph type="body" idx="1"/>
          </p:nvPr>
        </p:nvSpPr>
        <p:spPr>
          <a:xfrm>
            <a:off x="387900" y="1489824"/>
            <a:ext cx="8368200" cy="30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400"/>
              <a:t>Let’s install the “create-next-app” with npm globally so that we can explore how to create a new project, run it and explore the folder structure.</a:t>
            </a:r>
            <a:endParaRPr sz="1400"/>
          </a:p>
          <a:p>
            <a:pPr marL="457200" lvl="0" indent="-317500" algn="l" rtl="0">
              <a:spcBef>
                <a:spcPts val="1600"/>
              </a:spcBef>
              <a:spcAft>
                <a:spcPts val="0"/>
              </a:spcAft>
              <a:buSzPts val="1400"/>
              <a:buAutoNum type="arabicPeriod"/>
            </a:pPr>
            <a:r>
              <a:rPr lang="en" sz="1400"/>
              <a:t>Install create-next-app</a:t>
            </a:r>
            <a:br>
              <a:rPr lang="en" sz="1400"/>
            </a:br>
            <a:r>
              <a:rPr lang="en" sz="1400">
                <a:solidFill>
                  <a:srgbClr val="ECEFF1"/>
                </a:solidFill>
                <a:latin typeface="Roboto Mono"/>
                <a:ea typeface="Roboto Mono"/>
                <a:cs typeface="Roboto Mono"/>
                <a:sym typeface="Roboto Mono"/>
              </a:rPr>
              <a:t>npm install -g create-next-app@latest</a:t>
            </a:r>
            <a:endParaRPr sz="1400"/>
          </a:p>
          <a:p>
            <a:pPr marL="457200" lvl="0" indent="-317500" algn="l" rtl="0">
              <a:spcBef>
                <a:spcPts val="0"/>
              </a:spcBef>
              <a:spcAft>
                <a:spcPts val="0"/>
              </a:spcAft>
              <a:buSzPts val="1400"/>
              <a:buAutoNum type="arabicPeriod"/>
            </a:pPr>
            <a:r>
              <a:rPr lang="en" sz="1400"/>
              <a:t>Create a project with create-next-app</a:t>
            </a:r>
            <a:br>
              <a:rPr lang="en" sz="1400"/>
            </a:br>
            <a:r>
              <a:rPr lang="en" sz="1400">
                <a:solidFill>
                  <a:srgbClr val="ECEFF1"/>
                </a:solidFill>
                <a:latin typeface="Roboto Mono"/>
                <a:ea typeface="Roboto Mono"/>
                <a:cs typeface="Roboto Mono"/>
                <a:sym typeface="Roboto Mono"/>
              </a:rPr>
              <a:t>npx create-next-app@latest hello-next </a:t>
            </a:r>
            <a:br>
              <a:rPr lang="en" sz="1400">
                <a:solidFill>
                  <a:srgbClr val="ECEFF1"/>
                </a:solidFill>
                <a:latin typeface="Roboto Mono"/>
                <a:ea typeface="Roboto Mono"/>
                <a:cs typeface="Roboto Mono"/>
                <a:sym typeface="Roboto Mono"/>
              </a:rPr>
            </a:br>
            <a:r>
              <a:rPr lang="en" sz="1400"/>
              <a:t>This is going to take a while to build your project in the nested folder (</a:t>
            </a:r>
            <a:r>
              <a:rPr lang="en" sz="1400">
                <a:solidFill>
                  <a:srgbClr val="ECEFF1"/>
                </a:solidFill>
                <a:latin typeface="Roboto Mono"/>
                <a:ea typeface="Roboto Mono"/>
                <a:cs typeface="Roboto Mono"/>
                <a:sym typeface="Roboto Mono"/>
              </a:rPr>
              <a:t>hello-next</a:t>
            </a:r>
            <a:r>
              <a:rPr lang="en" sz="1400"/>
              <a:t>)</a:t>
            </a:r>
            <a:endParaRPr sz="1400"/>
          </a:p>
          <a:p>
            <a:pPr marL="457200" lvl="0" indent="-317500" algn="l" rtl="0">
              <a:spcBef>
                <a:spcPts val="0"/>
              </a:spcBef>
              <a:spcAft>
                <a:spcPts val="0"/>
              </a:spcAft>
              <a:buSzPts val="1400"/>
              <a:buAutoNum type="arabicPeriod"/>
            </a:pPr>
            <a:r>
              <a:rPr lang="en" sz="1400"/>
              <a:t>Run the project</a:t>
            </a:r>
            <a:endParaRPr sz="1400"/>
          </a:p>
          <a:p>
            <a:pPr marL="914400" lvl="1" indent="-317500" algn="l" rtl="0">
              <a:spcBef>
                <a:spcPts val="0"/>
              </a:spcBef>
              <a:spcAft>
                <a:spcPts val="0"/>
              </a:spcAft>
              <a:buSzPts val="1400"/>
              <a:buAutoNum type="alphaLcPeriod"/>
            </a:pPr>
            <a:r>
              <a:rPr lang="en"/>
              <a:t>Go in to the folder</a:t>
            </a:r>
            <a:br>
              <a:rPr lang="en"/>
            </a:br>
            <a:r>
              <a:rPr lang="en"/>
              <a:t>cd hello-next</a:t>
            </a:r>
            <a:endParaRPr/>
          </a:p>
          <a:p>
            <a:pPr marL="914400" lvl="1" indent="-317500" algn="l" rtl="0">
              <a:spcBef>
                <a:spcPts val="0"/>
              </a:spcBef>
              <a:spcAft>
                <a:spcPts val="0"/>
              </a:spcAft>
              <a:buSzPts val="1400"/>
              <a:buAutoNum type="alphaLcPeriod"/>
            </a:pPr>
            <a:r>
              <a:rPr lang="en"/>
              <a:t>Run the project</a:t>
            </a:r>
            <a:br>
              <a:rPr lang="en"/>
            </a:br>
            <a:r>
              <a:rPr lang="en">
                <a:solidFill>
                  <a:srgbClr val="ECEFF1"/>
                </a:solidFill>
                <a:latin typeface="Roboto Mono"/>
                <a:ea typeface="Roboto Mono"/>
                <a:cs typeface="Roboto Mono"/>
                <a:sym typeface="Roboto Mono"/>
              </a:rPr>
              <a:t>npm run dev</a:t>
            </a:r>
            <a:br>
              <a:rPr lang="en" sz="1400"/>
            </a:br>
            <a:br>
              <a:rPr lang="en" sz="1400"/>
            </a:br>
            <a:endParaRPr sz="14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33"/>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Reading/Resources</a:t>
            </a:r>
            <a:endParaRPr/>
          </a:p>
        </p:txBody>
      </p:sp>
      <p:sp>
        <p:nvSpPr>
          <p:cNvPr id="196" name="Google Shape;196;p33"/>
          <p:cNvSpPr txBox="1">
            <a:spLocks noGrp="1"/>
          </p:cNvSpPr>
          <p:nvPr>
            <p:ph type="body" idx="1"/>
          </p:nvPr>
        </p:nvSpPr>
        <p:spPr>
          <a:xfrm>
            <a:off x="387900" y="1289999"/>
            <a:ext cx="8368200" cy="3078900"/>
          </a:xfrm>
          <a:prstGeom prst="rect">
            <a:avLst/>
          </a:prstGeom>
        </p:spPr>
        <p:txBody>
          <a:bodyPr spcFirstLastPara="1" wrap="square" lIns="91425" tIns="91425" rIns="91425" bIns="91425" anchor="t" anchorCtr="0">
            <a:noAutofit/>
          </a:bodyPr>
          <a:lstStyle/>
          <a:p>
            <a:pPr marL="457200" lvl="0" indent="-298450" algn="l" rtl="0">
              <a:spcBef>
                <a:spcPts val="0"/>
              </a:spcBef>
              <a:spcAft>
                <a:spcPts val="0"/>
              </a:spcAft>
              <a:buSzPts val="1100"/>
              <a:buChar char="●"/>
            </a:pPr>
            <a:r>
              <a:rPr lang="en" sz="1100"/>
              <a:t>Next.js</a:t>
            </a:r>
            <a:endParaRPr sz="1100"/>
          </a:p>
          <a:p>
            <a:pPr marL="914400" lvl="1" indent="-298450" algn="l" rtl="0">
              <a:spcBef>
                <a:spcPts val="0"/>
              </a:spcBef>
              <a:spcAft>
                <a:spcPts val="0"/>
              </a:spcAft>
              <a:buSzPts val="1100"/>
              <a:buChar char="○"/>
            </a:pPr>
            <a:r>
              <a:rPr lang="en" sz="1100" u="sng">
                <a:solidFill>
                  <a:schemeClr val="accent5"/>
                </a:solidFill>
                <a:hlinkClick r:id="rId3">
                  <a:extLst>
                    <a:ext uri="{A12FA001-AC4F-418D-AE19-62706E023703}">
                      <ahyp:hlinkClr xmlns:ahyp="http://schemas.microsoft.com/office/drawing/2018/hyperlinkcolor" val="tx"/>
                    </a:ext>
                  </a:extLst>
                </a:hlinkClick>
              </a:rPr>
              <a:t>https://nextjs.org/</a:t>
            </a:r>
            <a:r>
              <a:rPr lang="en" sz="1100"/>
              <a:t> </a:t>
            </a:r>
            <a:endParaRPr sz="1100"/>
          </a:p>
          <a:p>
            <a:pPr marL="457200" lvl="0" indent="-298450" algn="l" rtl="0">
              <a:spcBef>
                <a:spcPts val="0"/>
              </a:spcBef>
              <a:spcAft>
                <a:spcPts val="0"/>
              </a:spcAft>
              <a:buSzPts val="1100"/>
              <a:buChar char="●"/>
            </a:pPr>
            <a:r>
              <a:rPr lang="en" sz="1100"/>
              <a:t>Single Page Application</a:t>
            </a:r>
            <a:endParaRPr sz="1100"/>
          </a:p>
          <a:p>
            <a:pPr marL="914400" lvl="1" indent="-298450" algn="l" rtl="0">
              <a:spcBef>
                <a:spcPts val="0"/>
              </a:spcBef>
              <a:spcAft>
                <a:spcPts val="0"/>
              </a:spcAft>
              <a:buSzPts val="1100"/>
              <a:buChar char="○"/>
            </a:pPr>
            <a:r>
              <a:rPr lang="en" sz="1100" u="sng">
                <a:solidFill>
                  <a:schemeClr val="hlink"/>
                </a:solidFill>
                <a:hlinkClick r:id="rId4"/>
              </a:rPr>
              <a:t>https://en.wikipedia.org/wiki/Single-page_application</a:t>
            </a:r>
            <a:r>
              <a:rPr lang="en" sz="1100"/>
              <a:t> </a:t>
            </a:r>
            <a:endParaRPr sz="1100"/>
          </a:p>
          <a:p>
            <a:pPr marL="457200" lvl="0" indent="-298450" algn="l" rtl="0">
              <a:spcBef>
                <a:spcPts val="0"/>
              </a:spcBef>
              <a:spcAft>
                <a:spcPts val="0"/>
              </a:spcAft>
              <a:buSzPts val="1100"/>
              <a:buChar char="●"/>
            </a:pPr>
            <a:r>
              <a:rPr lang="en" sz="1100"/>
              <a:t>React Website</a:t>
            </a:r>
            <a:endParaRPr sz="1100"/>
          </a:p>
          <a:p>
            <a:pPr marL="914400" lvl="1" indent="-298450" algn="l" rtl="0">
              <a:spcBef>
                <a:spcPts val="0"/>
              </a:spcBef>
              <a:spcAft>
                <a:spcPts val="0"/>
              </a:spcAft>
              <a:buSzPts val="1100"/>
              <a:buChar char="○"/>
            </a:pPr>
            <a:r>
              <a:rPr lang="en" sz="1100" u="sng">
                <a:solidFill>
                  <a:schemeClr val="hlink"/>
                </a:solidFill>
                <a:hlinkClick r:id="rId5"/>
              </a:rPr>
              <a:t>https://reactjs.org/</a:t>
            </a:r>
            <a:r>
              <a:rPr lang="en" sz="1100"/>
              <a:t> </a:t>
            </a:r>
            <a:endParaRPr sz="1100"/>
          </a:p>
          <a:p>
            <a:pPr marL="457200" lvl="0" indent="-298450" algn="l" rtl="0">
              <a:spcBef>
                <a:spcPts val="0"/>
              </a:spcBef>
              <a:spcAft>
                <a:spcPts val="0"/>
              </a:spcAft>
              <a:buSzPts val="1100"/>
              <a:buChar char="●"/>
            </a:pPr>
            <a:r>
              <a:rPr lang="en" sz="1100"/>
              <a:t>Hooks FAQ</a:t>
            </a:r>
            <a:endParaRPr sz="1100"/>
          </a:p>
          <a:p>
            <a:pPr marL="914400" lvl="1" indent="-298450" algn="l" rtl="0">
              <a:spcBef>
                <a:spcPts val="0"/>
              </a:spcBef>
              <a:spcAft>
                <a:spcPts val="0"/>
              </a:spcAft>
              <a:buSzPts val="1100"/>
              <a:buChar char="○"/>
            </a:pPr>
            <a:r>
              <a:rPr lang="en" sz="1100" u="sng">
                <a:solidFill>
                  <a:schemeClr val="hlink"/>
                </a:solidFill>
                <a:hlinkClick r:id="rId6"/>
              </a:rPr>
              <a:t>https://reactjs.org/docs/hooks-faq.html</a:t>
            </a:r>
            <a:r>
              <a:rPr lang="en" sz="1100"/>
              <a:t> </a:t>
            </a:r>
            <a:endParaRPr sz="1100"/>
          </a:p>
          <a:p>
            <a:pPr marL="457200" lvl="0" indent="-298450" algn="l" rtl="0">
              <a:spcBef>
                <a:spcPts val="0"/>
              </a:spcBef>
              <a:spcAft>
                <a:spcPts val="0"/>
              </a:spcAft>
              <a:buSzPts val="1100"/>
              <a:buChar char="●"/>
            </a:pPr>
            <a:r>
              <a:rPr lang="en" sz="1100"/>
              <a:t>Gradual Adoption </a:t>
            </a:r>
            <a:endParaRPr sz="1100"/>
          </a:p>
          <a:p>
            <a:pPr marL="914400" lvl="1" indent="-298450" algn="l" rtl="0">
              <a:spcBef>
                <a:spcPts val="0"/>
              </a:spcBef>
              <a:spcAft>
                <a:spcPts val="0"/>
              </a:spcAft>
              <a:buSzPts val="1100"/>
              <a:buChar char="○"/>
            </a:pPr>
            <a:r>
              <a:rPr lang="en" sz="1100" u="sng">
                <a:solidFill>
                  <a:schemeClr val="hlink"/>
                </a:solidFill>
                <a:hlinkClick r:id="rId7"/>
              </a:rPr>
              <a:t>https://reactjs.org/docs/hooks-intro.html#gradual-adoption-strategy</a:t>
            </a:r>
            <a:r>
              <a:rPr lang="en" sz="1100"/>
              <a:t> </a:t>
            </a:r>
            <a:endParaRPr sz="1100"/>
          </a:p>
        </p:txBody>
      </p:sp>
    </p:spTree>
  </p:cSld>
  <p:clrMapOvr>
    <a:masterClrMapping/>
  </p:clrMapOvr>
</p:sld>
</file>

<file path=ppt/theme/theme1.xml><?xml version="1.0" encoding="utf-8"?>
<a:theme xmlns:a="http://schemas.openxmlformats.org/drawingml/2006/main" name="Marina">
  <a:themeElements>
    <a:clrScheme name="Marina">
      <a:dk1>
        <a:srgbClr val="FFFFFF"/>
      </a:dk1>
      <a:lt1>
        <a:srgbClr val="00517C"/>
      </a:lt1>
      <a:dk2>
        <a:srgbClr val="004065"/>
      </a:dk2>
      <a:lt2>
        <a:srgbClr val="CFD8DC"/>
      </a:lt2>
      <a:accent1>
        <a:srgbClr val="0277BD"/>
      </a:accent1>
      <a:accent2>
        <a:srgbClr val="558B2F"/>
      </a:accent2>
      <a:accent3>
        <a:srgbClr val="009688"/>
      </a:accent3>
      <a:accent4>
        <a:srgbClr val="039BE5"/>
      </a:accent4>
      <a:accent5>
        <a:srgbClr val="8BC34A"/>
      </a:accent5>
      <a:accent6>
        <a:srgbClr val="FFEB38"/>
      </a:accent6>
      <a:hlink>
        <a:srgbClr val="8BC34A"/>
      </a:hlink>
      <a:folHlink>
        <a:srgbClr val="8BC34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TotalTime>
  <Words>1771</Words>
  <Application>Microsoft Office PowerPoint</Application>
  <PresentationFormat>On-screen Show (16:9)</PresentationFormat>
  <Paragraphs>185</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Roboto</vt:lpstr>
      <vt:lpstr>Arial</vt:lpstr>
      <vt:lpstr>Roboto Mono</vt:lpstr>
      <vt:lpstr>Roboto Slab</vt:lpstr>
      <vt:lpstr>Marina</vt:lpstr>
      <vt:lpstr>React and Next.js</vt:lpstr>
      <vt:lpstr>Announcements</vt:lpstr>
      <vt:lpstr>Where are we?</vt:lpstr>
      <vt:lpstr>Expectations - What I expect from you</vt:lpstr>
      <vt:lpstr>What is React?</vt:lpstr>
      <vt:lpstr>Why use React?</vt:lpstr>
      <vt:lpstr>Why use React? Some Resources to look at.</vt:lpstr>
      <vt:lpstr>Where are we?</vt:lpstr>
      <vt:lpstr>Okay so React is good what is Next.js?</vt:lpstr>
      <vt:lpstr>Okay Who uses react and Next.js </vt:lpstr>
      <vt:lpstr>React Components</vt:lpstr>
      <vt:lpstr>What does React even look like?</vt:lpstr>
      <vt:lpstr>Where are we?</vt:lpstr>
      <vt:lpstr>A Small Intro to JSX</vt:lpstr>
      <vt:lpstr>JSX Example</vt:lpstr>
      <vt:lpstr>A Class Based Component with JSX</vt:lpstr>
      <vt:lpstr>A Function Based Component with JSX</vt:lpstr>
      <vt:lpstr>We’re going use Function Based Components</vt:lpstr>
      <vt:lpstr>Where are we?</vt:lpstr>
      <vt:lpstr>Let’s Install and Explore Next.js </vt:lpstr>
      <vt:lpstr>Reading/Resources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Jhimlie Eustaquio</cp:lastModifiedBy>
  <cp:revision>2</cp:revision>
  <dcterms:modified xsi:type="dcterms:W3CDTF">2026-09-18T21:48:09Z</dcterms:modified>
</cp:coreProperties>
</file>