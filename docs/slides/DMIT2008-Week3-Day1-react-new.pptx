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Roboto" panose="02000000000000000000" pitchFamily="2" charset="0"/>
      <p:regular r:id="rId24"/>
      <p:bold r:id="rId25"/>
      <p:italic r:id="rId26"/>
      <p:boldItalic r:id="rId27"/>
    </p:embeddedFont>
    <p:embeddedFont>
      <p:font typeface="Roboto Mono" panose="00000009000000000000" pitchFamily="49" charset="0"/>
      <p:regular r:id="rId28"/>
      <p:bold r:id="rId29"/>
      <p:italic r:id="rId30"/>
      <p:boldItalic r:id="rId31"/>
    </p:embeddedFont>
    <p:embeddedFont>
      <p:font typeface="Roboto Slab" pitchFamily="2"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5ad3a4879e_2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5ad3a4879e_2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4c141908b7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4c141908b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80fb9f6395_4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0fb9f6395_4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80ce8dd93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80ce8dd9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813d6757f1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813d6757f1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813d6757f1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813d6757f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12f06f6e180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12f06f6e180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2f06f6e180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12f06f6e18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2f06f6e180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12f06f6e180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813d6757f1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813d6757f1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813d6757f1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813d6757f1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2f06f6e180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2f06f6e180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813d6757f1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813d6757f1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813d6757f1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813d6757f1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813d6757f1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813d6757f1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813d6757f1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813d6757f1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2f06f6e180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12f06f6e180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12f06f6e180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12f06f6e18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2f06f6e180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2f06f6e18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7b7fcc6223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7b7fcc622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reactjs.org/"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en.wikipedia.org/wiki/Single-page_application"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survey.stackoverflow.co/2022/#web-frameworks-and-technologies"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hyperlink" Target="https://trends.google.com/trends/explore?date=today%205-y&amp;geo=US&amp;q=%2Fm%2F0268gyp,%2Fm%2F012l1vxv,%2Fg%2F11c0vmgx5d,%2Fg%2F11c5t00h04,%2Fm%2F0j45p7w" TargetMode="External"/><Relationship Id="rId4" Type="http://schemas.openxmlformats.org/officeDocument/2006/relationships/hyperlink" Target="https://ca.indeed.com/jobs?q=react+developer&amp;l=Edmonton%2C+AB"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nextjs.org/showcase"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reactjs.org/docs/hooks-intro.html#gradual-adoption-strategy"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jsfiddle.net/dgmouris/vt6c5gsL/24/"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babeljs.io/repl/#?browsers=&amp;build=&amp;builtIns=false&amp;spec=false&amp;loose=false&amp;code_lz=MYewdgzgLgBAFgUwDZJAaQJZShhEYC8MAFAJSEB8MA3gFAwwBOCUAro2DADwAmGAbhXoNuAYQCGsYJIIAiALLjGEOIpQgA7rJihUjORrhYEsgPRCRYyTpmyA4uIC2AIyzbdIfbMPGzFkVwSUrZ2cCDQ7iB6BkZQJubCXKZ8ggDctAC-tEA&amp;debug=false&amp;forceAllTransforms=false&amp;shippedProposals=false&amp;circleciRepo=&amp;evaluate=false&amp;fileSize=false&amp;timeTravel=false&amp;sourceType=module&amp;lineWrap=true&amp;presets=react&amp;prettier=false&amp;targets=&amp;version=7.8.7&amp;externalPlugins="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jsfiddle.net/dgmouris/9625cmta/7/"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hyperlink" Target="https://jsfiddle.net/dgmouris/9625cmta/19/"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jsfiddle.net/dgmouris/rubjdt6k/6/"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https://jsfiddle.net/dgmouris/rubjdt6k/14/"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nextjs.org/" TargetMode="External"/><Relationship Id="rId7" Type="http://schemas.openxmlformats.org/officeDocument/2006/relationships/hyperlink" Target="https://reactjs.org/docs/hooks-intro.html#gradual-adoption-strategy"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hyperlink" Target="https://reactjs.org/docs/hooks-faq.html" TargetMode="External"/><Relationship Id="rId5" Type="http://schemas.openxmlformats.org/officeDocument/2006/relationships/hyperlink" Target="https://reactjs.org/" TargetMode="External"/><Relationship Id="rId4" Type="http://schemas.openxmlformats.org/officeDocument/2006/relationships/hyperlink" Target="https://en.wikipedia.org/wiki/Single-page_applic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React and Next.js</a:t>
            </a:r>
            <a:endParaRPr/>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Javascript DMIT 2008</a:t>
            </a:r>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75" name="Google Shape;75;p15"/>
          <p:cNvSpPr txBox="1">
            <a:spLocks noGrp="1"/>
          </p:cNvSpPr>
          <p:nvPr>
            <p:ph type="body" idx="2"/>
          </p:nvPr>
        </p:nvSpPr>
        <p:spPr>
          <a:xfrm>
            <a:off x="4946900" y="1086825"/>
            <a:ext cx="4297200" cy="3695100"/>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AutoNum type="arabicPeriod"/>
            </a:pPr>
            <a:r>
              <a:rPr lang="en" sz="1600"/>
              <a:t>Expectations</a:t>
            </a:r>
            <a:endParaRPr sz="1600"/>
          </a:p>
          <a:p>
            <a:pPr marL="457200" lvl="0" indent="-330200" algn="l" rtl="0">
              <a:spcBef>
                <a:spcPts val="0"/>
              </a:spcBef>
              <a:spcAft>
                <a:spcPts val="0"/>
              </a:spcAft>
              <a:buSzPts val="1600"/>
              <a:buAutoNum type="arabicPeriod"/>
            </a:pPr>
            <a:r>
              <a:rPr lang="en" sz="1600"/>
              <a:t>What is React</a:t>
            </a:r>
            <a:endParaRPr sz="1600"/>
          </a:p>
          <a:p>
            <a:pPr marL="457200" lvl="0" indent="-330200" algn="l" rtl="0">
              <a:spcBef>
                <a:spcPts val="0"/>
              </a:spcBef>
              <a:spcAft>
                <a:spcPts val="0"/>
              </a:spcAft>
              <a:buSzPts val="1600"/>
              <a:buAutoNum type="arabicPeriod"/>
            </a:pPr>
            <a:r>
              <a:rPr lang="en" sz="1600"/>
              <a:t>Why use React</a:t>
            </a:r>
            <a:endParaRPr sz="1600"/>
          </a:p>
          <a:p>
            <a:pPr marL="457200" lvl="0" indent="-330200" algn="l" rtl="0">
              <a:spcBef>
                <a:spcPts val="0"/>
              </a:spcBef>
              <a:spcAft>
                <a:spcPts val="0"/>
              </a:spcAft>
              <a:buSzPts val="1600"/>
              <a:buAutoNum type="arabicPeriod"/>
            </a:pPr>
            <a:r>
              <a:rPr lang="en" sz="1600"/>
              <a:t>What is Next.js</a:t>
            </a:r>
            <a:endParaRPr sz="1600"/>
          </a:p>
          <a:p>
            <a:pPr marL="457200" lvl="0" indent="-330200" algn="l" rtl="0">
              <a:spcBef>
                <a:spcPts val="0"/>
              </a:spcBef>
              <a:spcAft>
                <a:spcPts val="0"/>
              </a:spcAft>
              <a:buSzPts val="1600"/>
              <a:buAutoNum type="arabicPeriod"/>
            </a:pPr>
            <a:r>
              <a:rPr lang="en" sz="1600"/>
              <a:t>Okay Who uses react and Next.js</a:t>
            </a:r>
            <a:endParaRPr sz="1600"/>
          </a:p>
          <a:p>
            <a:pPr marL="457200" lvl="0" indent="-330200" algn="l" rtl="0">
              <a:spcBef>
                <a:spcPts val="0"/>
              </a:spcBef>
              <a:spcAft>
                <a:spcPts val="0"/>
              </a:spcAft>
              <a:buSzPts val="1600"/>
              <a:buAutoNum type="arabicPeriod"/>
            </a:pPr>
            <a:r>
              <a:rPr lang="en" sz="1600"/>
              <a:t>React Components</a:t>
            </a:r>
            <a:endParaRPr sz="1600"/>
          </a:p>
          <a:p>
            <a:pPr marL="457200" lvl="0" indent="-330200" algn="l" rtl="0">
              <a:spcBef>
                <a:spcPts val="0"/>
              </a:spcBef>
              <a:spcAft>
                <a:spcPts val="0"/>
              </a:spcAft>
              <a:buSzPts val="1600"/>
              <a:buAutoNum type="arabicPeriod"/>
            </a:pPr>
            <a:r>
              <a:rPr lang="en" sz="1600"/>
              <a:t>What does it look like?</a:t>
            </a:r>
            <a:endParaRPr sz="1600"/>
          </a:p>
          <a:p>
            <a:pPr marL="457200" lvl="0" indent="-330200" algn="l" rtl="0">
              <a:spcBef>
                <a:spcPts val="0"/>
              </a:spcBef>
              <a:spcAft>
                <a:spcPts val="0"/>
              </a:spcAft>
              <a:buSzPts val="1600"/>
              <a:buAutoNum type="arabicPeriod"/>
            </a:pPr>
            <a:r>
              <a:rPr lang="en" sz="1600"/>
              <a:t>A small intro to JSX</a:t>
            </a:r>
            <a:endParaRPr sz="1600"/>
          </a:p>
          <a:p>
            <a:pPr marL="457200" lvl="0" indent="-330200" algn="l" rtl="0">
              <a:spcBef>
                <a:spcPts val="0"/>
              </a:spcBef>
              <a:spcAft>
                <a:spcPts val="0"/>
              </a:spcAft>
              <a:buSzPts val="1600"/>
              <a:buAutoNum type="arabicPeriod"/>
            </a:pPr>
            <a:r>
              <a:rPr lang="en" sz="1600"/>
              <a:t>A Class Based Component with JSX</a:t>
            </a:r>
            <a:endParaRPr sz="1600"/>
          </a:p>
          <a:p>
            <a:pPr marL="457200" lvl="0" indent="-330200" algn="l" rtl="0">
              <a:spcBef>
                <a:spcPts val="0"/>
              </a:spcBef>
              <a:spcAft>
                <a:spcPts val="0"/>
              </a:spcAft>
              <a:buSzPts val="1600"/>
              <a:buAutoNum type="arabicPeriod"/>
            </a:pPr>
            <a:r>
              <a:rPr lang="en" sz="1600"/>
              <a:t>A Function Based Component (Hook) </a:t>
            </a:r>
            <a:endParaRPr sz="1600"/>
          </a:p>
          <a:p>
            <a:pPr marL="457200" lvl="0" indent="-330200" algn="l" rtl="0">
              <a:spcBef>
                <a:spcPts val="0"/>
              </a:spcBef>
              <a:spcAft>
                <a:spcPts val="0"/>
              </a:spcAft>
              <a:buSzPts val="1600"/>
              <a:buAutoNum type="arabicPeriod"/>
            </a:pPr>
            <a:r>
              <a:rPr lang="en" sz="1600"/>
              <a:t>Let’s Install and Explore Next.js</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Expectations - What I expect from you</a:t>
            </a:r>
            <a:endParaRPr/>
          </a:p>
        </p:txBody>
      </p:sp>
      <p:sp>
        <p:nvSpPr>
          <p:cNvPr id="81" name="Google Shape;81;p1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a:buFont typeface="Roboto"/>
              <a:buAutoNum type="arabicPeriod"/>
            </a:pPr>
            <a:r>
              <a:rPr lang="en-US" dirty="0"/>
              <a:t>Pay Attention and ask questions while on session.</a:t>
            </a:r>
          </a:p>
          <a:p>
            <a:pPr>
              <a:buFont typeface="Roboto"/>
              <a:buAutoNum type="arabicPeriod"/>
            </a:pPr>
            <a:r>
              <a:rPr lang="en-US" dirty="0"/>
              <a:t>Follow along the coding exercises.</a:t>
            </a:r>
          </a:p>
          <a:p>
            <a:pPr>
              <a:buFont typeface="Roboto"/>
              <a:buAutoNum type="arabicPeriod"/>
            </a:pPr>
            <a:r>
              <a:rPr lang="en-US" dirty="0"/>
              <a:t>Focus on the task on hand, don’t go wandering.</a:t>
            </a:r>
          </a:p>
          <a:p>
            <a:pPr>
              <a:buFont typeface="Roboto"/>
              <a:buAutoNum type="arabicPeriod"/>
            </a:pPr>
            <a:r>
              <a:rPr lang="en-US" dirty="0"/>
              <a:t>No late submission of Assignments.</a:t>
            </a:r>
          </a:p>
          <a:p>
            <a:pPr>
              <a:buFont typeface="Roboto"/>
              <a:buAutoNum type="arabicPeriod"/>
            </a:pPr>
            <a:r>
              <a:rPr lang="en-US" dirty="0"/>
              <a:t>Commit your codes to your Assignment repositories day-to-day to </a:t>
            </a:r>
            <a:r>
              <a:rPr lang="en-CA" dirty="0"/>
              <a:t>demonstrate incremental development of your solution.</a:t>
            </a:r>
            <a:endParaRPr lang="en-US" dirty="0"/>
          </a:p>
          <a:p>
            <a:pPr>
              <a:buFont typeface="Roboto"/>
              <a:buAutoNum type="arabicPeriod"/>
            </a:pPr>
            <a:r>
              <a:rPr lang="en-US" dirty="0"/>
              <a:t>No cheating on exams.</a:t>
            </a:r>
          </a:p>
          <a:p>
            <a:pPr>
              <a:buFont typeface="Roboto"/>
              <a:buAutoNum type="arabicPeriod"/>
            </a:pPr>
            <a:r>
              <a:rPr lang="en-US" dirty="0"/>
              <a:t>Complete the final project.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is React?</a:t>
            </a:r>
            <a:endParaRPr/>
          </a:p>
        </p:txBody>
      </p:sp>
      <p:sp>
        <p:nvSpPr>
          <p:cNvPr id="87" name="Google Shape;87;p17"/>
          <p:cNvSpPr txBox="1">
            <a:spLocks noGrp="1"/>
          </p:cNvSpPr>
          <p:nvPr>
            <p:ph type="body" idx="1"/>
          </p:nvPr>
        </p:nvSpPr>
        <p:spPr>
          <a:xfrm>
            <a:off x="387900" y="12612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From the </a:t>
            </a:r>
            <a:r>
              <a:rPr lang="en" sz="1600" u="sng">
                <a:solidFill>
                  <a:schemeClr val="hlink"/>
                </a:solidFill>
                <a:hlinkClick r:id="rId3"/>
              </a:rPr>
              <a:t>React site</a:t>
            </a:r>
            <a:r>
              <a:rPr lang="en" sz="1600"/>
              <a:t> "A JavaScript library for building user interfaces".</a:t>
            </a:r>
            <a:endParaRPr sz="1600"/>
          </a:p>
          <a:p>
            <a:pPr marL="0" lvl="0" indent="0" algn="l" rtl="0">
              <a:spcBef>
                <a:spcPts val="1600"/>
              </a:spcBef>
              <a:spcAft>
                <a:spcPts val="0"/>
              </a:spcAft>
              <a:buNone/>
            </a:pPr>
            <a:r>
              <a:rPr lang="en" sz="1600"/>
              <a:t>This is a library that can be used to create "single page applications". </a:t>
            </a:r>
            <a:r>
              <a:rPr lang="en" sz="1600" u="sng">
                <a:solidFill>
                  <a:schemeClr val="hlink"/>
                </a:solidFill>
                <a:hlinkClick r:id="rId4"/>
              </a:rPr>
              <a:t>Single Page Application</a:t>
            </a:r>
            <a:r>
              <a:rPr lang="en" sz="1600"/>
              <a:t> make it so we don't have to fetch a new page every time we navigate on our site, or refresh our web pages when create/update data.</a:t>
            </a:r>
            <a:endParaRPr sz="1600"/>
          </a:p>
          <a:p>
            <a:pPr marL="0" lvl="0" indent="0" algn="l" rtl="0">
              <a:spcBef>
                <a:spcPts val="1600"/>
              </a:spcBef>
              <a:spcAft>
                <a:spcPts val="0"/>
              </a:spcAft>
              <a:buNone/>
            </a:pPr>
            <a:r>
              <a:rPr lang="en" sz="1600"/>
              <a:t>React lets you build really complicated User Interfaces (UIs) by breaking parts of your page into what's called "Components".</a:t>
            </a:r>
            <a:endParaRPr sz="1600"/>
          </a:p>
          <a:p>
            <a:pPr marL="0" lvl="0" indent="0" algn="l" rtl="0">
              <a:spcBef>
                <a:spcPts val="1600"/>
              </a:spcBef>
              <a:spcAft>
                <a:spcPts val="0"/>
              </a:spcAft>
              <a:buNone/>
            </a:pPr>
            <a:r>
              <a:rPr lang="en" sz="1600"/>
              <a:t>React also primarily uses JSX (templatingish language) which is a super flexible html like syntax that we're going to look at today.</a:t>
            </a:r>
            <a:endParaRPr sz="1600"/>
          </a:p>
          <a:p>
            <a:pPr marL="0" lvl="0" indent="0" algn="l" rtl="0">
              <a:spcBef>
                <a:spcPts val="1600"/>
              </a:spcBef>
              <a:spcAft>
                <a:spcPts val="1600"/>
              </a:spcAft>
              <a:buNone/>
            </a:pP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Why use React?</a:t>
            </a:r>
            <a:endParaRPr/>
          </a:p>
        </p:txBody>
      </p:sp>
      <p:sp>
        <p:nvSpPr>
          <p:cNvPr id="93" name="Google Shape;93;p18"/>
          <p:cNvSpPr txBox="1">
            <a:spLocks noGrp="1"/>
          </p:cNvSpPr>
          <p:nvPr>
            <p:ph type="body" idx="1"/>
          </p:nvPr>
        </p:nvSpPr>
        <p:spPr>
          <a:xfrm>
            <a:off x="387900" y="1261225"/>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t>Why use it for work?</a:t>
            </a:r>
            <a:endParaRPr sz="1200" b="1"/>
          </a:p>
          <a:p>
            <a:pPr marL="457200" lvl="0" indent="-304800" algn="l" rtl="0">
              <a:spcBef>
                <a:spcPts val="1600"/>
              </a:spcBef>
              <a:spcAft>
                <a:spcPts val="0"/>
              </a:spcAft>
              <a:buSzPts val="1200"/>
              <a:buChar char="●"/>
            </a:pPr>
            <a:r>
              <a:rPr lang="en" sz="1200"/>
              <a:t>The most (according) popular to the 2019 state of js and the stack overflow developer insights survey.</a:t>
            </a:r>
            <a:endParaRPr sz="1200"/>
          </a:p>
          <a:p>
            <a:pPr marL="914400" lvl="1" indent="-304800" algn="l" rtl="0">
              <a:spcBef>
                <a:spcPts val="0"/>
              </a:spcBef>
              <a:spcAft>
                <a:spcPts val="0"/>
              </a:spcAft>
              <a:buSzPts val="1200"/>
              <a:buChar char="○"/>
            </a:pPr>
            <a:r>
              <a:rPr lang="en"/>
              <a:t>On the Developer insights, this is the second most popular framework (any language) which is pretty great. It's second only to JQuery which has been trending down for the last 5 years.</a:t>
            </a:r>
            <a:endParaRPr sz="1200"/>
          </a:p>
          <a:p>
            <a:pPr marL="457200" lvl="0" indent="-304800" algn="l" rtl="0">
              <a:spcBef>
                <a:spcPts val="0"/>
              </a:spcBef>
              <a:spcAft>
                <a:spcPts val="0"/>
              </a:spcAft>
              <a:buSzPts val="1200"/>
              <a:buChar char="●"/>
            </a:pPr>
            <a:r>
              <a:rPr lang="en" sz="1200"/>
              <a:t>Also many companies around town are using it, and currently there's the most jobs for it out there for front end development.</a:t>
            </a:r>
            <a:endParaRPr sz="1200"/>
          </a:p>
        </p:txBody>
      </p:sp>
      <p:sp>
        <p:nvSpPr>
          <p:cNvPr id="94" name="Google Shape;94;p18"/>
          <p:cNvSpPr txBox="1">
            <a:spLocks noGrp="1"/>
          </p:cNvSpPr>
          <p:nvPr>
            <p:ph type="body" idx="2"/>
          </p:nvPr>
        </p:nvSpPr>
        <p:spPr>
          <a:xfrm>
            <a:off x="4756200" y="1261225"/>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t>Why is it technically nice?</a:t>
            </a:r>
            <a:endParaRPr sz="1200" b="1"/>
          </a:p>
          <a:p>
            <a:pPr marL="457200" lvl="0" indent="-304800" algn="l" rtl="0">
              <a:spcBef>
                <a:spcPts val="1600"/>
              </a:spcBef>
              <a:spcAft>
                <a:spcPts val="0"/>
              </a:spcAft>
              <a:buSzPts val="1200"/>
              <a:buChar char="●"/>
            </a:pPr>
            <a:r>
              <a:rPr lang="en" sz="1200"/>
              <a:t>It's a framework written by really smart people, and maintained by a very large community in the open source.</a:t>
            </a:r>
            <a:endParaRPr sz="1200"/>
          </a:p>
          <a:p>
            <a:pPr marL="457200" lvl="0" indent="-304800" algn="l" rtl="0">
              <a:spcBef>
                <a:spcPts val="0"/>
              </a:spcBef>
              <a:spcAft>
                <a:spcPts val="0"/>
              </a:spcAft>
              <a:buSzPts val="1200"/>
              <a:buChar char="●"/>
            </a:pPr>
            <a:r>
              <a:rPr lang="en" sz="1200"/>
              <a:t>You've probably heard me talk about State management, and how its' difficult. React solves this problem and allows you to focus on the  business logic of your application.</a:t>
            </a:r>
            <a:endParaRPr sz="1200"/>
          </a:p>
          <a:p>
            <a:pPr marL="457200" lvl="0" indent="-304800" algn="l" rtl="0">
              <a:spcBef>
                <a:spcPts val="0"/>
              </a:spcBef>
              <a:spcAft>
                <a:spcPts val="0"/>
              </a:spcAft>
              <a:buSzPts val="1200"/>
              <a:buChar char="●"/>
            </a:pPr>
            <a:r>
              <a:rPr lang="en" sz="1200"/>
              <a:t>There's a ton of open source projects that play really nicely with React.</a:t>
            </a:r>
            <a:endParaRPr sz="1200"/>
          </a:p>
          <a:p>
            <a:pPr marL="457200" lvl="0" indent="-304800" algn="l" rtl="0">
              <a:spcBef>
                <a:spcPts val="0"/>
              </a:spcBef>
              <a:spcAft>
                <a:spcPts val="0"/>
              </a:spcAft>
              <a:buSzPts val="1200"/>
              <a:buChar char="●"/>
            </a:pPr>
            <a:r>
              <a:rPr lang="en" sz="1200"/>
              <a:t>Since the community is large if you're having an issue, someone's probably already had it so you can find solutions and not waste a ton of time (this is very valuable).</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Why use React? Some Resources to look at.</a:t>
            </a:r>
            <a:endParaRPr/>
          </a:p>
        </p:txBody>
      </p:sp>
      <p:sp>
        <p:nvSpPr>
          <p:cNvPr id="100" name="Google Shape;100;p19"/>
          <p:cNvSpPr txBox="1">
            <a:spLocks noGrp="1"/>
          </p:cNvSpPr>
          <p:nvPr>
            <p:ph type="body" idx="1"/>
          </p:nvPr>
        </p:nvSpPr>
        <p:spPr>
          <a:xfrm>
            <a:off x="387900" y="12612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Popularity</a:t>
            </a:r>
            <a:endParaRPr sz="1200"/>
          </a:p>
          <a:p>
            <a:pPr marL="457200" lvl="0" indent="-304800" algn="l" rtl="0">
              <a:spcBef>
                <a:spcPts val="1600"/>
              </a:spcBef>
              <a:spcAft>
                <a:spcPts val="0"/>
              </a:spcAft>
              <a:buSzPts val="1200"/>
              <a:buChar char="●"/>
            </a:pPr>
            <a:r>
              <a:rPr lang="en" sz="1200" u="sng">
                <a:solidFill>
                  <a:schemeClr val="hlink"/>
                </a:solidFill>
                <a:hlinkClick r:id="rId3"/>
              </a:rPr>
              <a:t>Stack overflow developer survey</a:t>
            </a:r>
            <a:endParaRPr sz="1200"/>
          </a:p>
          <a:p>
            <a:pPr marL="0" lvl="0" indent="0" algn="l" rtl="0">
              <a:spcBef>
                <a:spcPts val="1600"/>
              </a:spcBef>
              <a:spcAft>
                <a:spcPts val="0"/>
              </a:spcAft>
              <a:buNone/>
            </a:pPr>
            <a:r>
              <a:rPr lang="en" sz="1200"/>
              <a:t>Jobs</a:t>
            </a:r>
            <a:endParaRPr sz="1200"/>
          </a:p>
          <a:p>
            <a:pPr marL="457200" lvl="0" indent="-304800" algn="l" rtl="0">
              <a:spcBef>
                <a:spcPts val="1600"/>
              </a:spcBef>
              <a:spcAft>
                <a:spcPts val="0"/>
              </a:spcAft>
              <a:buSzPts val="1200"/>
              <a:buChar char="●"/>
            </a:pPr>
            <a:r>
              <a:rPr lang="en" sz="1200" u="sng">
                <a:solidFill>
                  <a:schemeClr val="hlink"/>
                </a:solidFill>
                <a:hlinkClick r:id="rId4"/>
              </a:rPr>
              <a:t>https://ca.indeed.com/jobs?q=react+developer&amp;l=Edmonton%2C+AB</a:t>
            </a:r>
            <a:endParaRPr sz="1200"/>
          </a:p>
          <a:p>
            <a:pPr marL="0" lvl="0" indent="0" algn="l" rtl="0">
              <a:spcBef>
                <a:spcPts val="1600"/>
              </a:spcBef>
              <a:spcAft>
                <a:spcPts val="0"/>
              </a:spcAft>
              <a:buNone/>
            </a:pPr>
            <a:r>
              <a:rPr lang="en" sz="1200"/>
              <a:t>Trends (Jquery going down React going up in the last 5 years).</a:t>
            </a:r>
            <a:endParaRPr sz="1200"/>
          </a:p>
          <a:p>
            <a:pPr marL="457200" lvl="0" indent="-304800" algn="l" rtl="0">
              <a:spcBef>
                <a:spcPts val="1600"/>
              </a:spcBef>
              <a:spcAft>
                <a:spcPts val="0"/>
              </a:spcAft>
              <a:buSzPts val="1200"/>
              <a:buChar char="●"/>
            </a:pPr>
            <a:r>
              <a:rPr lang="en" sz="1200" u="sng">
                <a:solidFill>
                  <a:schemeClr val="hlink"/>
                </a:solidFill>
                <a:hlinkClick r:id="rId5"/>
              </a:rPr>
              <a:t>https://trends.google.com/trends/explore?date=today%205-y&amp;geo=US&amp;q=%2Fm%2F0268gyp,%2Fm%2F012l1vxv,%2Fg%2F11c0vmgx5d,%2Fg%2F11c5t00h04,%2Fm%2F0j45p7w</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106" name="Google Shape;106;p20"/>
          <p:cNvSpPr txBox="1">
            <a:spLocks noGrp="1"/>
          </p:cNvSpPr>
          <p:nvPr>
            <p:ph type="body" idx="2"/>
          </p:nvPr>
        </p:nvSpPr>
        <p:spPr>
          <a:xfrm>
            <a:off x="4946900" y="1086825"/>
            <a:ext cx="4297200" cy="3695100"/>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AutoNum type="arabicPeriod"/>
            </a:pPr>
            <a:r>
              <a:rPr lang="en" sz="1600"/>
              <a:t>Expectations</a:t>
            </a:r>
            <a:endParaRPr sz="1600"/>
          </a:p>
          <a:p>
            <a:pPr marL="457200" lvl="0" indent="-330200" algn="l" rtl="0">
              <a:spcBef>
                <a:spcPts val="0"/>
              </a:spcBef>
              <a:spcAft>
                <a:spcPts val="0"/>
              </a:spcAft>
              <a:buSzPts val="1600"/>
              <a:buAutoNum type="arabicPeriod"/>
            </a:pPr>
            <a:r>
              <a:rPr lang="en" sz="1600"/>
              <a:t>What is React</a:t>
            </a:r>
            <a:endParaRPr sz="1600"/>
          </a:p>
          <a:p>
            <a:pPr marL="457200" lvl="0" indent="-330200" algn="l" rtl="0">
              <a:spcBef>
                <a:spcPts val="0"/>
              </a:spcBef>
              <a:spcAft>
                <a:spcPts val="0"/>
              </a:spcAft>
              <a:buSzPts val="1600"/>
              <a:buAutoNum type="arabicPeriod"/>
            </a:pPr>
            <a:r>
              <a:rPr lang="en" sz="1600"/>
              <a:t>Why use React</a:t>
            </a:r>
            <a:endParaRPr sz="1600"/>
          </a:p>
          <a:p>
            <a:pPr marL="457200" lvl="0" indent="-330200" algn="l" rtl="0">
              <a:spcBef>
                <a:spcPts val="0"/>
              </a:spcBef>
              <a:spcAft>
                <a:spcPts val="0"/>
              </a:spcAft>
              <a:buSzPts val="1600"/>
              <a:buAutoNum type="arabicPeriod"/>
            </a:pPr>
            <a:r>
              <a:rPr lang="en" sz="1600"/>
              <a:t>What is Next.js</a:t>
            </a:r>
            <a:endParaRPr sz="1600"/>
          </a:p>
          <a:p>
            <a:pPr marL="457200" lvl="0" indent="-330200" algn="l" rtl="0">
              <a:spcBef>
                <a:spcPts val="0"/>
              </a:spcBef>
              <a:spcAft>
                <a:spcPts val="0"/>
              </a:spcAft>
              <a:buSzPts val="1600"/>
              <a:buAutoNum type="arabicPeriod"/>
            </a:pPr>
            <a:r>
              <a:rPr lang="en" sz="1600"/>
              <a:t>Okay Who uses react and Next.js</a:t>
            </a:r>
            <a:endParaRPr sz="1600"/>
          </a:p>
          <a:p>
            <a:pPr marL="457200" lvl="0" indent="-330200" algn="l" rtl="0">
              <a:spcBef>
                <a:spcPts val="0"/>
              </a:spcBef>
              <a:spcAft>
                <a:spcPts val="0"/>
              </a:spcAft>
              <a:buSzPts val="1600"/>
              <a:buAutoNum type="arabicPeriod"/>
            </a:pPr>
            <a:r>
              <a:rPr lang="en" sz="1600"/>
              <a:t>React Components</a:t>
            </a:r>
            <a:endParaRPr sz="1600"/>
          </a:p>
          <a:p>
            <a:pPr marL="457200" lvl="0" indent="-330200" algn="l" rtl="0">
              <a:spcBef>
                <a:spcPts val="0"/>
              </a:spcBef>
              <a:spcAft>
                <a:spcPts val="0"/>
              </a:spcAft>
              <a:buSzPts val="1600"/>
              <a:buAutoNum type="arabicPeriod"/>
            </a:pPr>
            <a:r>
              <a:rPr lang="en" sz="1600"/>
              <a:t>What does it look like?</a:t>
            </a:r>
            <a:endParaRPr sz="1600"/>
          </a:p>
          <a:p>
            <a:pPr marL="457200" lvl="0" indent="-330200" algn="l" rtl="0">
              <a:spcBef>
                <a:spcPts val="0"/>
              </a:spcBef>
              <a:spcAft>
                <a:spcPts val="0"/>
              </a:spcAft>
              <a:buSzPts val="1600"/>
              <a:buAutoNum type="arabicPeriod"/>
            </a:pPr>
            <a:r>
              <a:rPr lang="en" sz="1600"/>
              <a:t>A small intro to JSX</a:t>
            </a:r>
            <a:endParaRPr sz="1600"/>
          </a:p>
          <a:p>
            <a:pPr marL="457200" lvl="0" indent="-330200" algn="l" rtl="0">
              <a:spcBef>
                <a:spcPts val="0"/>
              </a:spcBef>
              <a:spcAft>
                <a:spcPts val="0"/>
              </a:spcAft>
              <a:buSzPts val="1600"/>
              <a:buAutoNum type="arabicPeriod"/>
            </a:pPr>
            <a:r>
              <a:rPr lang="en" sz="1600"/>
              <a:t>A Class Based Component with JSX</a:t>
            </a:r>
            <a:endParaRPr sz="1600"/>
          </a:p>
          <a:p>
            <a:pPr marL="457200" lvl="0" indent="-330200" algn="l" rtl="0">
              <a:spcBef>
                <a:spcPts val="0"/>
              </a:spcBef>
              <a:spcAft>
                <a:spcPts val="0"/>
              </a:spcAft>
              <a:buSzPts val="1600"/>
              <a:buAutoNum type="arabicPeriod"/>
            </a:pPr>
            <a:r>
              <a:rPr lang="en" sz="1600"/>
              <a:t>A Function Based Component (Hook) </a:t>
            </a:r>
            <a:endParaRPr sz="1600"/>
          </a:p>
          <a:p>
            <a:pPr marL="457200" lvl="0" indent="-330200" algn="l" rtl="0">
              <a:spcBef>
                <a:spcPts val="0"/>
              </a:spcBef>
              <a:spcAft>
                <a:spcPts val="0"/>
              </a:spcAft>
              <a:buSzPts val="1600"/>
              <a:buAutoNum type="arabicPeriod"/>
            </a:pPr>
            <a:r>
              <a:rPr lang="en" sz="1600"/>
              <a:t>Let’s Install and Explore Next.js</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Okay so React is good what is Next.js?</a:t>
            </a:r>
            <a:endParaRPr/>
          </a:p>
        </p:txBody>
      </p:sp>
      <p:sp>
        <p:nvSpPr>
          <p:cNvPr id="112" name="Google Shape;112;p21"/>
          <p:cNvSpPr txBox="1">
            <a:spLocks noGrp="1"/>
          </p:cNvSpPr>
          <p:nvPr>
            <p:ph type="body" idx="1"/>
          </p:nvPr>
        </p:nvSpPr>
        <p:spPr>
          <a:xfrm>
            <a:off x="387900" y="12612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Next.js is a framework that uses React.js at its’ core, but adds a lot of features that are great for development and rendering speed of the application. We’re going to discuss many of added benefits in detail throughout the course, so if it doesn’t make sense right now don’t worry.</a:t>
            </a:r>
            <a:endParaRPr sz="1200"/>
          </a:p>
          <a:p>
            <a:pPr marL="0" lvl="0" indent="0" algn="l" rtl="0">
              <a:spcBef>
                <a:spcPts val="1600"/>
              </a:spcBef>
              <a:spcAft>
                <a:spcPts val="0"/>
              </a:spcAft>
              <a:buNone/>
            </a:pPr>
            <a:r>
              <a:rPr lang="en" sz="1200"/>
              <a:t>Added Benefits:</a:t>
            </a:r>
            <a:endParaRPr sz="1200"/>
          </a:p>
          <a:p>
            <a:pPr marL="457200" lvl="0" indent="-304800" algn="l" rtl="0">
              <a:spcBef>
                <a:spcPts val="1600"/>
              </a:spcBef>
              <a:spcAft>
                <a:spcPts val="0"/>
              </a:spcAft>
              <a:buSzPts val="1200"/>
              <a:buChar char="●"/>
            </a:pPr>
            <a:r>
              <a:rPr lang="en" sz="1200"/>
              <a:t>Server Side Rendering and other Rendering techniques (Such as Pre-rendering/Static Site Generation and Deferred Rendering/Incremental Static Regeneration)</a:t>
            </a:r>
            <a:endParaRPr sz="1200"/>
          </a:p>
          <a:p>
            <a:pPr marL="914400" lvl="1" indent="-304800" algn="l" rtl="0">
              <a:spcBef>
                <a:spcPts val="0"/>
              </a:spcBef>
              <a:spcAft>
                <a:spcPts val="0"/>
              </a:spcAft>
              <a:buSzPts val="1200"/>
              <a:buChar char="○"/>
            </a:pPr>
            <a:r>
              <a:rPr lang="en" sz="1200"/>
              <a:t>Gives you the ability to speed up your site</a:t>
            </a:r>
            <a:endParaRPr sz="1200"/>
          </a:p>
          <a:p>
            <a:pPr marL="914400" lvl="1" indent="-304800" algn="l" rtl="0">
              <a:spcBef>
                <a:spcPts val="0"/>
              </a:spcBef>
              <a:spcAft>
                <a:spcPts val="0"/>
              </a:spcAft>
              <a:buSzPts val="1200"/>
              <a:buChar char="○"/>
            </a:pPr>
            <a:r>
              <a:rPr lang="en" sz="1200"/>
              <a:t>Gives you out of the box indexable website which is great for SEO</a:t>
            </a:r>
            <a:endParaRPr sz="1200"/>
          </a:p>
          <a:p>
            <a:pPr marL="457200" lvl="0" indent="-304800" algn="l" rtl="0">
              <a:spcBef>
                <a:spcPts val="0"/>
              </a:spcBef>
              <a:spcAft>
                <a:spcPts val="0"/>
              </a:spcAft>
              <a:buSzPts val="1200"/>
              <a:buChar char="●"/>
            </a:pPr>
            <a:r>
              <a:rPr lang="en" sz="1200"/>
              <a:t>Automatic Code Splitting</a:t>
            </a:r>
            <a:endParaRPr sz="1200"/>
          </a:p>
          <a:p>
            <a:pPr marL="914400" lvl="1" indent="-304800" algn="l" rtl="0">
              <a:spcBef>
                <a:spcPts val="0"/>
              </a:spcBef>
              <a:spcAft>
                <a:spcPts val="0"/>
              </a:spcAft>
              <a:buSzPts val="1200"/>
              <a:buChar char="○"/>
            </a:pPr>
            <a:r>
              <a:rPr lang="en" sz="1200"/>
              <a:t>Next.js is smart enough to split JS and CSS </a:t>
            </a:r>
            <a:endParaRPr sz="1200"/>
          </a:p>
          <a:p>
            <a:pPr marL="457200" lvl="0" indent="-304800" algn="l" rtl="0">
              <a:spcBef>
                <a:spcPts val="0"/>
              </a:spcBef>
              <a:spcAft>
                <a:spcPts val="0"/>
              </a:spcAft>
              <a:buSzPts val="1200"/>
              <a:buChar char="●"/>
            </a:pPr>
            <a:r>
              <a:rPr lang="en" sz="1200"/>
              <a:t>Hot Module Replacement (more for devs)</a:t>
            </a:r>
            <a:endParaRPr sz="1200"/>
          </a:p>
          <a:p>
            <a:pPr marL="914400" lvl="1" indent="-304800" algn="l" rtl="0">
              <a:spcBef>
                <a:spcPts val="0"/>
              </a:spcBef>
              <a:spcAft>
                <a:spcPts val="0"/>
              </a:spcAft>
              <a:buSzPts val="1200"/>
              <a:buChar char="○"/>
            </a:pPr>
            <a:r>
              <a:rPr lang="en" sz="1200"/>
              <a:t>This gives an environment for devs that when you make a change in your code it is immediately reflected on your environment</a:t>
            </a:r>
            <a:endParaRPr sz="1200"/>
          </a:p>
          <a:p>
            <a:pPr marL="457200" lvl="0" indent="-304800" algn="l" rtl="0">
              <a:spcBef>
                <a:spcPts val="0"/>
              </a:spcBef>
              <a:spcAft>
                <a:spcPts val="0"/>
              </a:spcAft>
              <a:buSzPts val="1200"/>
              <a:buChar char="●"/>
            </a:pPr>
            <a:r>
              <a:rPr lang="en" sz="1200"/>
              <a:t>This framework allows you get React projects setup more quickly in general rather than just using React.js without next.</a:t>
            </a:r>
            <a:endParaRPr sz="1200"/>
          </a:p>
          <a:p>
            <a:pPr marL="0" lvl="0" indent="0" algn="l" rtl="0">
              <a:spcBef>
                <a:spcPts val="1600"/>
              </a:spcBef>
              <a:spcAft>
                <a:spcPts val="0"/>
              </a:spcAft>
              <a:buNone/>
            </a:pPr>
            <a:endParaRPr sz="1200"/>
          </a:p>
          <a:p>
            <a:pPr marL="0" lvl="0" indent="0" algn="l" rtl="0">
              <a:spcBef>
                <a:spcPts val="1600"/>
              </a:spcBef>
              <a:spcAft>
                <a:spcPts val="1600"/>
              </a:spcAft>
              <a:buNone/>
            </a:pP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Okay Who uses react and Next.js </a:t>
            </a:r>
            <a:endParaRPr/>
          </a:p>
        </p:txBody>
      </p:sp>
      <p:sp>
        <p:nvSpPr>
          <p:cNvPr id="118" name="Google Shape;118;p22"/>
          <p:cNvSpPr txBox="1">
            <a:spLocks noGrp="1"/>
          </p:cNvSpPr>
          <p:nvPr>
            <p:ph type="body" idx="1"/>
          </p:nvPr>
        </p:nvSpPr>
        <p:spPr>
          <a:xfrm>
            <a:off x="387900" y="12612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Companies that use Next.js in production.</a:t>
            </a:r>
            <a:endParaRPr sz="1400"/>
          </a:p>
          <a:p>
            <a:pPr marL="457200" lvl="0" indent="-317500" algn="l" rtl="0">
              <a:spcBef>
                <a:spcPts val="1600"/>
              </a:spcBef>
              <a:spcAft>
                <a:spcPts val="0"/>
              </a:spcAft>
              <a:buSzPts val="1400"/>
              <a:buChar char="●"/>
            </a:pPr>
            <a:r>
              <a:rPr lang="en" sz="1400"/>
              <a:t>Netflix</a:t>
            </a:r>
            <a:endParaRPr sz="1400"/>
          </a:p>
          <a:p>
            <a:pPr marL="457200" lvl="0" indent="-317500" algn="l" rtl="0">
              <a:spcBef>
                <a:spcPts val="0"/>
              </a:spcBef>
              <a:spcAft>
                <a:spcPts val="0"/>
              </a:spcAft>
              <a:buSzPts val="1400"/>
              <a:buChar char="●"/>
            </a:pPr>
            <a:r>
              <a:rPr lang="en" sz="1400"/>
              <a:t>Twitch</a:t>
            </a:r>
            <a:endParaRPr sz="1400"/>
          </a:p>
          <a:p>
            <a:pPr marL="457200" lvl="0" indent="-317500" algn="l" rtl="0">
              <a:spcBef>
                <a:spcPts val="0"/>
              </a:spcBef>
              <a:spcAft>
                <a:spcPts val="0"/>
              </a:spcAft>
              <a:buSzPts val="1400"/>
              <a:buChar char="●"/>
            </a:pPr>
            <a:r>
              <a:rPr lang="en" sz="1400"/>
              <a:t>TikTok</a:t>
            </a:r>
            <a:endParaRPr sz="1400"/>
          </a:p>
          <a:p>
            <a:pPr marL="457200" lvl="0" indent="-317500" algn="l" rtl="0">
              <a:spcBef>
                <a:spcPts val="0"/>
              </a:spcBef>
              <a:spcAft>
                <a:spcPts val="0"/>
              </a:spcAft>
              <a:buSzPts val="1400"/>
              <a:buChar char="●"/>
            </a:pPr>
            <a:r>
              <a:rPr lang="en" sz="1400"/>
              <a:t>Hulu</a:t>
            </a:r>
            <a:endParaRPr sz="1400"/>
          </a:p>
          <a:p>
            <a:pPr marL="457200" lvl="0" indent="-317500" algn="l" rtl="0">
              <a:spcBef>
                <a:spcPts val="0"/>
              </a:spcBef>
              <a:spcAft>
                <a:spcPts val="0"/>
              </a:spcAft>
              <a:buSzPts val="1400"/>
              <a:buChar char="●"/>
            </a:pPr>
            <a:r>
              <a:rPr lang="en" sz="1400"/>
              <a:t>Nike</a:t>
            </a:r>
            <a:endParaRPr sz="1400"/>
          </a:p>
          <a:p>
            <a:pPr marL="457200" lvl="0" indent="-317500" algn="l" rtl="0">
              <a:spcBef>
                <a:spcPts val="0"/>
              </a:spcBef>
              <a:spcAft>
                <a:spcPts val="0"/>
              </a:spcAft>
              <a:buSzPts val="1400"/>
              <a:buChar char="●"/>
            </a:pPr>
            <a:r>
              <a:rPr lang="en" sz="1400"/>
              <a:t>Uber</a:t>
            </a:r>
            <a:endParaRPr sz="1400"/>
          </a:p>
          <a:p>
            <a:pPr marL="457200" lvl="0" indent="-317500" algn="l" rtl="0">
              <a:spcBef>
                <a:spcPts val="0"/>
              </a:spcBef>
              <a:spcAft>
                <a:spcPts val="0"/>
              </a:spcAft>
              <a:buSzPts val="1400"/>
              <a:buChar char="●"/>
            </a:pPr>
            <a:r>
              <a:rPr lang="en" sz="1400"/>
              <a:t>Elastic</a:t>
            </a:r>
            <a:endParaRPr sz="1400"/>
          </a:p>
          <a:p>
            <a:pPr marL="0" lvl="0" indent="0" algn="l" rtl="0">
              <a:spcBef>
                <a:spcPts val="1600"/>
              </a:spcBef>
              <a:spcAft>
                <a:spcPts val="1600"/>
              </a:spcAft>
              <a:buNone/>
            </a:pPr>
            <a:r>
              <a:rPr lang="en" sz="1400"/>
              <a:t>You can see the full list here </a:t>
            </a:r>
            <a:r>
              <a:rPr lang="en" sz="1400" u="sng">
                <a:solidFill>
                  <a:schemeClr val="hlink"/>
                </a:solidFill>
                <a:hlinkClick r:id="rId3"/>
              </a:rPr>
              <a:t>https://nextjs.org/showcase</a:t>
            </a:r>
            <a:endParaRPr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React Components</a:t>
            </a:r>
            <a:endParaRPr/>
          </a:p>
        </p:txBody>
      </p:sp>
      <p:sp>
        <p:nvSpPr>
          <p:cNvPr id="124" name="Google Shape;124;p23"/>
          <p:cNvSpPr txBox="1">
            <a:spLocks noGrp="1"/>
          </p:cNvSpPr>
          <p:nvPr>
            <p:ph type="body" idx="1"/>
          </p:nvPr>
        </p:nvSpPr>
        <p:spPr>
          <a:xfrm>
            <a:off x="387900" y="1185025"/>
            <a:ext cx="8368200" cy="38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Components could be pages in your app, some type of piece of functionality in your app, or some type of layout/styling.</a:t>
            </a:r>
            <a:endParaRPr sz="1400"/>
          </a:p>
          <a:p>
            <a:pPr marL="0" lvl="0" indent="0" algn="l" rtl="0">
              <a:spcBef>
                <a:spcPts val="1600"/>
              </a:spcBef>
              <a:spcAft>
                <a:spcPts val="0"/>
              </a:spcAft>
              <a:buNone/>
            </a:pPr>
            <a:r>
              <a:rPr lang="en" sz="1400"/>
              <a:t>Types of Component</a:t>
            </a:r>
            <a:endParaRPr sz="1400"/>
          </a:p>
          <a:p>
            <a:pPr marL="457200" lvl="0" indent="-317500" algn="l" rtl="0">
              <a:spcBef>
                <a:spcPts val="1600"/>
              </a:spcBef>
              <a:spcAft>
                <a:spcPts val="0"/>
              </a:spcAft>
              <a:buSzPts val="1400"/>
              <a:buChar char="●"/>
            </a:pPr>
            <a:r>
              <a:rPr lang="en" sz="1400"/>
              <a:t>Class Based Components</a:t>
            </a:r>
            <a:endParaRPr sz="1400"/>
          </a:p>
          <a:p>
            <a:pPr marL="914400" lvl="1" indent="-317500" algn="l" rtl="0">
              <a:spcBef>
                <a:spcPts val="0"/>
              </a:spcBef>
              <a:spcAft>
                <a:spcPts val="0"/>
              </a:spcAft>
              <a:buSzPts val="1400"/>
              <a:buChar char="○"/>
            </a:pPr>
            <a:r>
              <a:rPr lang="en"/>
              <a:t>Class based components are what react what originally written with. </a:t>
            </a:r>
            <a:endParaRPr/>
          </a:p>
          <a:p>
            <a:pPr marL="457200" lvl="0" indent="-317500" algn="l" rtl="0">
              <a:spcBef>
                <a:spcPts val="0"/>
              </a:spcBef>
              <a:spcAft>
                <a:spcPts val="0"/>
              </a:spcAft>
              <a:buSzPts val="1400"/>
              <a:buChar char="●"/>
            </a:pPr>
            <a:r>
              <a:rPr lang="en" sz="1400"/>
              <a:t>Functionally Based Components (hooks)</a:t>
            </a:r>
            <a:endParaRPr sz="1400"/>
          </a:p>
          <a:p>
            <a:pPr marL="914400" lvl="1" indent="-317500" algn="l" rtl="0">
              <a:spcBef>
                <a:spcPts val="0"/>
              </a:spcBef>
              <a:spcAft>
                <a:spcPts val="0"/>
              </a:spcAft>
              <a:buSzPts val="1400"/>
              <a:buChar char="○"/>
            </a:pPr>
            <a:r>
              <a:rPr lang="en"/>
              <a:t>There are the newer* way to write components in react, also it is encouraged to write components in this way. As well this saves many lines of code.</a:t>
            </a:r>
            <a:endParaRPr/>
          </a:p>
          <a:p>
            <a:pPr marL="0" lvl="0" indent="0" algn="l" rtl="0">
              <a:spcBef>
                <a:spcPts val="1600"/>
              </a:spcBef>
              <a:spcAft>
                <a:spcPts val="1600"/>
              </a:spcAft>
              <a:buNone/>
            </a:pPr>
            <a:r>
              <a:rPr lang="en" sz="1400"/>
              <a:t>Note: While React encourages users to use functionally based components </a:t>
            </a:r>
            <a:r>
              <a:rPr lang="en" sz="1400" u="sng">
                <a:solidFill>
                  <a:schemeClr val="hlink"/>
                </a:solidFill>
                <a:hlinkClick r:id="rId3"/>
              </a:rPr>
              <a:t>it does not have any plans to retire Class based components</a:t>
            </a:r>
            <a:r>
              <a:rPr lang="en" sz="1400"/>
              <a:t>. Although since we're learning from the start then we're going to mainly focus on functional based components.</a:t>
            </a: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4"/>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What does React even look like?</a:t>
            </a:r>
            <a:endParaRPr/>
          </a:p>
        </p:txBody>
      </p:sp>
      <p:sp>
        <p:nvSpPr>
          <p:cNvPr id="130" name="Google Shape;130;p24"/>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200" u="sng">
                <a:solidFill>
                  <a:schemeClr val="hlink"/>
                </a:solidFill>
                <a:hlinkClick r:id="rId3"/>
              </a:rPr>
              <a:t>React without JSX Example</a:t>
            </a:r>
            <a:r>
              <a:rPr lang="en" sz="2200"/>
              <a:t> </a:t>
            </a:r>
            <a:endParaRPr sz="2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5"/>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136" name="Google Shape;136;p25"/>
          <p:cNvSpPr txBox="1">
            <a:spLocks noGrp="1"/>
          </p:cNvSpPr>
          <p:nvPr>
            <p:ph type="body" idx="2"/>
          </p:nvPr>
        </p:nvSpPr>
        <p:spPr>
          <a:xfrm>
            <a:off x="4946900" y="1086825"/>
            <a:ext cx="4297200" cy="3695100"/>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AutoNum type="arabicPeriod"/>
            </a:pPr>
            <a:r>
              <a:rPr lang="en" sz="1600"/>
              <a:t>Expectations</a:t>
            </a:r>
            <a:endParaRPr sz="1600"/>
          </a:p>
          <a:p>
            <a:pPr marL="457200" lvl="0" indent="-330200" algn="l" rtl="0">
              <a:spcBef>
                <a:spcPts val="0"/>
              </a:spcBef>
              <a:spcAft>
                <a:spcPts val="0"/>
              </a:spcAft>
              <a:buSzPts val="1600"/>
              <a:buAutoNum type="arabicPeriod"/>
            </a:pPr>
            <a:r>
              <a:rPr lang="en" sz="1600"/>
              <a:t>What is React</a:t>
            </a:r>
            <a:endParaRPr sz="1600"/>
          </a:p>
          <a:p>
            <a:pPr marL="457200" lvl="0" indent="-330200" algn="l" rtl="0">
              <a:spcBef>
                <a:spcPts val="0"/>
              </a:spcBef>
              <a:spcAft>
                <a:spcPts val="0"/>
              </a:spcAft>
              <a:buSzPts val="1600"/>
              <a:buAutoNum type="arabicPeriod"/>
            </a:pPr>
            <a:r>
              <a:rPr lang="en" sz="1600"/>
              <a:t>Why use React</a:t>
            </a:r>
            <a:endParaRPr sz="1600"/>
          </a:p>
          <a:p>
            <a:pPr marL="457200" lvl="0" indent="-330200" algn="l" rtl="0">
              <a:spcBef>
                <a:spcPts val="0"/>
              </a:spcBef>
              <a:spcAft>
                <a:spcPts val="0"/>
              </a:spcAft>
              <a:buSzPts val="1600"/>
              <a:buAutoNum type="arabicPeriod"/>
            </a:pPr>
            <a:r>
              <a:rPr lang="en" sz="1600"/>
              <a:t>What is Next.js</a:t>
            </a:r>
            <a:endParaRPr sz="1600"/>
          </a:p>
          <a:p>
            <a:pPr marL="457200" lvl="0" indent="-330200" algn="l" rtl="0">
              <a:spcBef>
                <a:spcPts val="0"/>
              </a:spcBef>
              <a:spcAft>
                <a:spcPts val="0"/>
              </a:spcAft>
              <a:buSzPts val="1600"/>
              <a:buAutoNum type="arabicPeriod"/>
            </a:pPr>
            <a:r>
              <a:rPr lang="en" sz="1600"/>
              <a:t>React Components</a:t>
            </a:r>
            <a:endParaRPr sz="1600"/>
          </a:p>
          <a:p>
            <a:pPr marL="457200" lvl="0" indent="-330200" algn="l" rtl="0">
              <a:spcBef>
                <a:spcPts val="0"/>
              </a:spcBef>
              <a:spcAft>
                <a:spcPts val="0"/>
              </a:spcAft>
              <a:buSzPts val="1600"/>
              <a:buAutoNum type="arabicPeriod"/>
            </a:pPr>
            <a:r>
              <a:rPr lang="en" sz="1600"/>
              <a:t>What does it look like?</a:t>
            </a:r>
            <a:endParaRPr sz="1600"/>
          </a:p>
          <a:p>
            <a:pPr marL="457200" lvl="0" indent="-330200" algn="l" rtl="0">
              <a:spcBef>
                <a:spcPts val="0"/>
              </a:spcBef>
              <a:spcAft>
                <a:spcPts val="0"/>
              </a:spcAft>
              <a:buSzPts val="1600"/>
              <a:buAutoNum type="arabicPeriod"/>
            </a:pPr>
            <a:r>
              <a:rPr lang="en" sz="1600"/>
              <a:t>A small intro to JSX</a:t>
            </a:r>
            <a:endParaRPr sz="1600"/>
          </a:p>
          <a:p>
            <a:pPr marL="457200" lvl="0" indent="-330200" algn="l" rtl="0">
              <a:spcBef>
                <a:spcPts val="0"/>
              </a:spcBef>
              <a:spcAft>
                <a:spcPts val="0"/>
              </a:spcAft>
              <a:buSzPts val="1600"/>
              <a:buAutoNum type="arabicPeriod"/>
            </a:pPr>
            <a:r>
              <a:rPr lang="en" sz="1600"/>
              <a:t>A Class Based Component with JSX</a:t>
            </a:r>
            <a:endParaRPr sz="1600"/>
          </a:p>
          <a:p>
            <a:pPr marL="457200" lvl="0" indent="-330200" algn="l" rtl="0">
              <a:spcBef>
                <a:spcPts val="0"/>
              </a:spcBef>
              <a:spcAft>
                <a:spcPts val="0"/>
              </a:spcAft>
              <a:buSzPts val="1600"/>
              <a:buAutoNum type="arabicPeriod"/>
            </a:pPr>
            <a:r>
              <a:rPr lang="en" sz="1600"/>
              <a:t>A Function Based Component (Hook) </a:t>
            </a:r>
            <a:endParaRPr sz="1600"/>
          </a:p>
          <a:p>
            <a:pPr marL="457200" lvl="0" indent="-330200" algn="l" rtl="0">
              <a:spcBef>
                <a:spcPts val="0"/>
              </a:spcBef>
              <a:spcAft>
                <a:spcPts val="0"/>
              </a:spcAft>
              <a:buSzPts val="1600"/>
              <a:buAutoNum type="arabicPeriod"/>
            </a:pPr>
            <a:r>
              <a:rPr lang="en" sz="1600"/>
              <a:t>Let’s Install and Explore Next.js</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 Small Intro to JSX</a:t>
            </a:r>
            <a:endParaRPr/>
          </a:p>
        </p:txBody>
      </p:sp>
      <p:sp>
        <p:nvSpPr>
          <p:cNvPr id="142" name="Google Shape;142;p26"/>
          <p:cNvSpPr txBox="1">
            <a:spLocks noGrp="1"/>
          </p:cNvSpPr>
          <p:nvPr>
            <p:ph type="body" idx="1"/>
          </p:nvPr>
        </p:nvSpPr>
        <p:spPr>
          <a:xfrm>
            <a:off x="387900" y="1185025"/>
            <a:ext cx="8368200" cy="38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We've seen that with React.createElement we can create elements in React.</a:t>
            </a:r>
            <a:endParaRPr/>
          </a:p>
          <a:p>
            <a:pPr marL="0" lvl="0" indent="0" algn="l" rtl="0">
              <a:spcBef>
                <a:spcPts val="1600"/>
              </a:spcBef>
              <a:spcAft>
                <a:spcPts val="0"/>
              </a:spcAft>
              <a:buNone/>
            </a:pPr>
            <a:r>
              <a:rPr lang="en"/>
              <a:t>You can probably is going to be a cumbersome if you have to write React.createElement everytime.</a:t>
            </a:r>
            <a:endParaRPr/>
          </a:p>
          <a:p>
            <a:pPr marL="0" lvl="0" indent="0" algn="l" rtl="0">
              <a:spcBef>
                <a:spcPts val="1600"/>
              </a:spcBef>
              <a:spcAft>
                <a:spcPts val="0"/>
              </a:spcAft>
              <a:buNone/>
            </a:pPr>
            <a:r>
              <a:rPr lang="en"/>
              <a:t>JSX is a template(ish) language that allows you to write what feels like HTML and Javascript together. Under the hood babel is converting all of the elements to "React.createElement" anyways, but more on that later.</a:t>
            </a:r>
            <a:endParaRPr/>
          </a:p>
          <a:p>
            <a:pPr marL="0" lvl="0" indent="0" algn="l" rtl="0">
              <a:spcBef>
                <a:spcPts val="1600"/>
              </a:spcBef>
              <a:spcAft>
                <a:spcPts val="0"/>
              </a:spcAft>
              <a:buNone/>
            </a:pPr>
            <a:r>
              <a:rPr lang="en"/>
              <a:t>Let’s go take a look at an example of what it looks like.</a:t>
            </a:r>
            <a:endParaRPr/>
          </a:p>
          <a:p>
            <a:pPr marL="0" lvl="0" indent="0" algn="l" rtl="0">
              <a:spcBef>
                <a:spcPts val="1600"/>
              </a:spcBef>
              <a:spcAft>
                <a:spcPts val="16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JSX Example</a:t>
            </a:r>
            <a:endParaRPr/>
          </a:p>
        </p:txBody>
      </p:sp>
      <p:sp>
        <p:nvSpPr>
          <p:cNvPr id="148" name="Google Shape;148;p27"/>
          <p:cNvSpPr txBox="1"/>
          <p:nvPr/>
        </p:nvSpPr>
        <p:spPr>
          <a:xfrm>
            <a:off x="286625" y="1840350"/>
            <a:ext cx="3930900" cy="144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helloKitties = () =&gt;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a:t>
            </a:r>
            <a:r>
              <a:rPr lang="en" sz="1150">
                <a:solidFill>
                  <a:srgbClr val="CE93D8"/>
                </a:solidFill>
                <a:latin typeface="Roboto Mono"/>
                <a:ea typeface="Roboto Mono"/>
                <a:cs typeface="Roboto Mono"/>
                <a:sym typeface="Roboto Mono"/>
              </a:rPr>
              <a:t>Cat</a:t>
            </a:r>
            <a:r>
              <a:rPr lang="en" sz="1150">
                <a:solidFill>
                  <a:srgbClr val="ECEFF1"/>
                </a:solidFill>
                <a:latin typeface="Roboto Mono"/>
                <a:ea typeface="Roboto Mono"/>
                <a:cs typeface="Roboto Mono"/>
                <a:sym typeface="Roboto Mono"/>
              </a:rPr>
              <a:t> cat=</a:t>
            </a:r>
            <a:r>
              <a:rPr lang="en" sz="1150">
                <a:solidFill>
                  <a:srgbClr val="9CCC65"/>
                </a:solidFill>
                <a:latin typeface="Roboto Mono"/>
                <a:ea typeface="Roboto Mono"/>
                <a:cs typeface="Roboto Mono"/>
                <a:sym typeface="Roboto Mono"/>
              </a:rPr>
              <a:t>"MarshMallow"</a:t>
            </a:r>
            <a:r>
              <a:rPr lang="en" sz="1150">
                <a:solidFill>
                  <a:srgbClr val="ECEFF1"/>
                </a:solidFill>
                <a:latin typeface="Roboto Mono"/>
                <a:ea typeface="Roboto Mono"/>
                <a:cs typeface="Roboto Mono"/>
                <a:sym typeface="Roboto Mono"/>
              </a:rPr>
              <a:t> color=</a:t>
            </a:r>
            <a:r>
              <a:rPr lang="en" sz="1150">
                <a:solidFill>
                  <a:srgbClr val="9CCC65"/>
                </a:solidFill>
                <a:latin typeface="Roboto Mono"/>
                <a:ea typeface="Roboto Mono"/>
                <a:cs typeface="Roboto Mono"/>
                <a:sym typeface="Roboto Mono"/>
              </a:rPr>
              <a:t>"white"</a:t>
            </a:r>
            <a:r>
              <a:rPr lang="en" sz="1150">
                <a:solidFill>
                  <a:srgbClr val="ECEFF1"/>
                </a:solidFill>
                <a:latin typeface="Roboto Mono"/>
                <a:ea typeface="Roboto Mono"/>
                <a:cs typeface="Roboto Mono"/>
                <a:sym typeface="Roboto Mono"/>
              </a:rPr>
              <a:t>/&gt;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a:t>
            </a:r>
            <a:r>
              <a:rPr lang="en" sz="1150">
                <a:solidFill>
                  <a:srgbClr val="CE93D8"/>
                </a:solidFill>
                <a:latin typeface="Roboto Mono"/>
                <a:ea typeface="Roboto Mono"/>
                <a:cs typeface="Roboto Mono"/>
                <a:sym typeface="Roboto Mono"/>
              </a:rPr>
              <a:t>Cat</a:t>
            </a:r>
            <a:r>
              <a:rPr lang="en" sz="1150">
                <a:solidFill>
                  <a:srgbClr val="ECEFF1"/>
                </a:solidFill>
                <a:latin typeface="Roboto Mono"/>
                <a:ea typeface="Roboto Mono"/>
                <a:cs typeface="Roboto Mono"/>
                <a:sym typeface="Roboto Mono"/>
              </a:rPr>
              <a:t> cat=</a:t>
            </a:r>
            <a:r>
              <a:rPr lang="en" sz="1150">
                <a:solidFill>
                  <a:srgbClr val="9CCC65"/>
                </a:solidFill>
                <a:latin typeface="Roboto Mono"/>
                <a:ea typeface="Roboto Mono"/>
                <a:cs typeface="Roboto Mono"/>
                <a:sym typeface="Roboto Mono"/>
              </a:rPr>
              <a:t>"Gambit"</a:t>
            </a:r>
            <a:r>
              <a:rPr lang="en" sz="1150">
                <a:solidFill>
                  <a:srgbClr val="ECEFF1"/>
                </a:solidFill>
                <a:latin typeface="Roboto Mono"/>
                <a:ea typeface="Roboto Mono"/>
                <a:cs typeface="Roboto Mono"/>
                <a:sym typeface="Roboto Mono"/>
              </a:rPr>
              <a:t> color=</a:t>
            </a:r>
            <a:r>
              <a:rPr lang="en" sz="1150">
                <a:solidFill>
                  <a:srgbClr val="9CCC65"/>
                </a:solidFill>
                <a:latin typeface="Roboto Mono"/>
                <a:ea typeface="Roboto Mono"/>
                <a:cs typeface="Roboto Mono"/>
                <a:sym typeface="Roboto Mono"/>
              </a:rPr>
              <a:t>"white"</a:t>
            </a:r>
            <a:r>
              <a:rPr lang="en" sz="1150">
                <a:solidFill>
                  <a:srgbClr val="ECEFF1"/>
                </a:solidFill>
                <a:latin typeface="Roboto Mono"/>
                <a:ea typeface="Roboto Mono"/>
                <a:cs typeface="Roboto Mono"/>
                <a:sym typeface="Roboto Mono"/>
              </a:rPr>
              <a:t>/&gt;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a:t>
            </a:r>
            <a:r>
              <a:rPr lang="en" sz="1150">
                <a:solidFill>
                  <a:srgbClr val="CE93D8"/>
                </a:solidFill>
                <a:latin typeface="Roboto Mono"/>
                <a:ea typeface="Roboto Mono"/>
                <a:cs typeface="Roboto Mono"/>
                <a:sym typeface="Roboto Mono"/>
              </a:rPr>
              <a:t>Cat</a:t>
            </a:r>
            <a:r>
              <a:rPr lang="en" sz="1150">
                <a:solidFill>
                  <a:srgbClr val="ECEFF1"/>
                </a:solidFill>
                <a:latin typeface="Roboto Mono"/>
                <a:ea typeface="Roboto Mono"/>
                <a:cs typeface="Roboto Mono"/>
                <a:sym typeface="Roboto Mono"/>
              </a:rPr>
              <a:t> cat=</a:t>
            </a:r>
            <a:r>
              <a:rPr lang="en" sz="1150">
                <a:solidFill>
                  <a:srgbClr val="9CCC65"/>
                </a:solidFill>
                <a:latin typeface="Roboto Mono"/>
                <a:ea typeface="Roboto Mono"/>
                <a:cs typeface="Roboto Mono"/>
                <a:sym typeface="Roboto Mono"/>
              </a:rPr>
              <a:t>"Ghost"</a:t>
            </a:r>
            <a:r>
              <a:rPr lang="en" sz="1150">
                <a:solidFill>
                  <a:srgbClr val="ECEFF1"/>
                </a:solidFill>
                <a:latin typeface="Roboto Mono"/>
                <a:ea typeface="Roboto Mono"/>
                <a:cs typeface="Roboto Mono"/>
                <a:sym typeface="Roboto Mono"/>
              </a:rPr>
              <a:t> color=</a:t>
            </a:r>
            <a:r>
              <a:rPr lang="en" sz="1150">
                <a:solidFill>
                  <a:srgbClr val="9CCC65"/>
                </a:solidFill>
                <a:latin typeface="Roboto Mono"/>
                <a:ea typeface="Roboto Mono"/>
                <a:cs typeface="Roboto Mono"/>
                <a:sym typeface="Roboto Mono"/>
              </a:rPr>
              <a:t>"white"</a:t>
            </a:r>
            <a:r>
              <a:rPr lang="en" sz="1150">
                <a:solidFill>
                  <a:srgbClr val="ECEFF1"/>
                </a:solidFill>
                <a:latin typeface="Roboto Mono"/>
                <a:ea typeface="Roboto Mono"/>
                <a:cs typeface="Roboto Mono"/>
                <a:sym typeface="Roboto Mono"/>
              </a:rPr>
              <a:t>/&gt;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49" name="Google Shape;149;p27"/>
          <p:cNvSpPr txBox="1"/>
          <p:nvPr/>
        </p:nvSpPr>
        <p:spPr>
          <a:xfrm>
            <a:off x="4217650" y="1535550"/>
            <a:ext cx="4894500" cy="242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helloKitties = () =&gt;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React</a:t>
            </a:r>
            <a:r>
              <a:rPr lang="en" sz="1150">
                <a:solidFill>
                  <a:srgbClr val="ECEFF1"/>
                </a:solidFill>
                <a:latin typeface="Roboto Mono"/>
                <a:ea typeface="Roboto Mono"/>
                <a:cs typeface="Roboto Mono"/>
                <a:sym typeface="Roboto Mono"/>
              </a:rPr>
              <a:t>.createElement(</a:t>
            </a:r>
            <a:r>
              <a:rPr lang="en" sz="1150">
                <a:solidFill>
                  <a:srgbClr val="9CCC65"/>
                </a:solidFill>
                <a:latin typeface="Roboto Mono"/>
                <a:ea typeface="Roboto Mono"/>
                <a:cs typeface="Roboto Mono"/>
                <a:sym typeface="Roboto Mono"/>
              </a:rPr>
              <a:t>"div"</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null</a:t>
            </a:r>
            <a:r>
              <a:rPr lang="en" sz="1150">
                <a:solidFill>
                  <a:srgbClr val="ECEFF1"/>
                </a:solidFill>
                <a:latin typeface="Roboto Mono"/>
                <a:ea typeface="Roboto Mono"/>
                <a:cs typeface="Roboto Mono"/>
                <a:sym typeface="Roboto Mono"/>
              </a:rPr>
              <a:t>, </a:t>
            </a:r>
            <a:r>
              <a:rPr lang="en" sz="1150">
                <a:solidFill>
                  <a:srgbClr val="F06292"/>
                </a:solidFill>
                <a:latin typeface="Roboto Mono"/>
                <a:ea typeface="Roboto Mono"/>
                <a:cs typeface="Roboto Mono"/>
                <a:sym typeface="Roboto Mono"/>
              </a:rPr>
              <a:t>//next line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React</a:t>
            </a:r>
            <a:r>
              <a:rPr lang="en" sz="1150">
                <a:solidFill>
                  <a:srgbClr val="ECEFF1"/>
                </a:solidFill>
                <a:latin typeface="Roboto Mono"/>
                <a:ea typeface="Roboto Mono"/>
                <a:cs typeface="Roboto Mono"/>
                <a:sym typeface="Roboto Mono"/>
              </a:rPr>
              <a:t>.createElement(</a:t>
            </a:r>
            <a:r>
              <a:rPr lang="en" sz="1150">
                <a:solidFill>
                  <a:srgbClr val="CE93D8"/>
                </a:solidFill>
                <a:latin typeface="Roboto Mono"/>
                <a:ea typeface="Roboto Mono"/>
                <a:cs typeface="Roboto Mono"/>
                <a:sym typeface="Roboto Mono"/>
              </a:rPr>
              <a:t>Cat</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cat: </a:t>
            </a:r>
            <a:r>
              <a:rPr lang="en" sz="1150">
                <a:solidFill>
                  <a:srgbClr val="9CCC65"/>
                </a:solidFill>
                <a:latin typeface="Roboto Mono"/>
                <a:ea typeface="Roboto Mono"/>
                <a:cs typeface="Roboto Mono"/>
                <a:sym typeface="Roboto Mono"/>
              </a:rPr>
              <a:t>"MarshMallow"</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color: </a:t>
            </a:r>
            <a:r>
              <a:rPr lang="en" sz="1150">
                <a:solidFill>
                  <a:srgbClr val="9CCC65"/>
                </a:solidFill>
                <a:latin typeface="Roboto Mono"/>
                <a:ea typeface="Roboto Mono"/>
                <a:cs typeface="Roboto Mono"/>
                <a:sym typeface="Roboto Mono"/>
              </a:rPr>
              <a:t>"white"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 </a:t>
            </a:r>
            <a:r>
              <a:rPr lang="en" sz="1150">
                <a:solidFill>
                  <a:srgbClr val="CE93D8"/>
                </a:solidFill>
                <a:latin typeface="Roboto Mono"/>
                <a:ea typeface="Roboto Mono"/>
                <a:cs typeface="Roboto Mono"/>
                <a:sym typeface="Roboto Mono"/>
              </a:rPr>
              <a:t>React</a:t>
            </a:r>
            <a:r>
              <a:rPr lang="en" sz="1150">
                <a:solidFill>
                  <a:srgbClr val="ECEFF1"/>
                </a:solidFill>
                <a:latin typeface="Roboto Mono"/>
                <a:ea typeface="Roboto Mono"/>
                <a:cs typeface="Roboto Mono"/>
                <a:sym typeface="Roboto Mono"/>
              </a:rPr>
              <a:t>.createElement(</a:t>
            </a:r>
            <a:r>
              <a:rPr lang="en" sz="1150">
                <a:solidFill>
                  <a:srgbClr val="CE93D8"/>
                </a:solidFill>
                <a:latin typeface="Roboto Mono"/>
                <a:ea typeface="Roboto Mono"/>
                <a:cs typeface="Roboto Mono"/>
                <a:sym typeface="Roboto Mono"/>
              </a:rPr>
              <a:t>Cat</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cat: </a:t>
            </a:r>
            <a:r>
              <a:rPr lang="en" sz="1150">
                <a:solidFill>
                  <a:srgbClr val="9CCC65"/>
                </a:solidFill>
                <a:latin typeface="Roboto Mono"/>
                <a:ea typeface="Roboto Mono"/>
                <a:cs typeface="Roboto Mono"/>
                <a:sym typeface="Roboto Mono"/>
              </a:rPr>
              <a:t>"Gambit"</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color: </a:t>
            </a:r>
            <a:r>
              <a:rPr lang="en" sz="1150">
                <a:solidFill>
                  <a:srgbClr val="9CCC65"/>
                </a:solidFill>
                <a:latin typeface="Roboto Mono"/>
                <a:ea typeface="Roboto Mono"/>
                <a:cs typeface="Roboto Mono"/>
                <a:sym typeface="Roboto Mono"/>
              </a:rPr>
              <a:t>"white"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 </a:t>
            </a:r>
            <a:r>
              <a:rPr lang="en" sz="1150">
                <a:solidFill>
                  <a:srgbClr val="CE93D8"/>
                </a:solidFill>
                <a:latin typeface="Roboto Mono"/>
                <a:ea typeface="Roboto Mono"/>
                <a:cs typeface="Roboto Mono"/>
                <a:sym typeface="Roboto Mono"/>
              </a:rPr>
              <a:t>React</a:t>
            </a:r>
            <a:r>
              <a:rPr lang="en" sz="1150">
                <a:solidFill>
                  <a:srgbClr val="ECEFF1"/>
                </a:solidFill>
                <a:latin typeface="Roboto Mono"/>
                <a:ea typeface="Roboto Mono"/>
                <a:cs typeface="Roboto Mono"/>
                <a:sym typeface="Roboto Mono"/>
              </a:rPr>
              <a:t>.createElement(</a:t>
            </a:r>
            <a:r>
              <a:rPr lang="en" sz="1150">
                <a:solidFill>
                  <a:srgbClr val="CE93D8"/>
                </a:solidFill>
                <a:latin typeface="Roboto Mono"/>
                <a:ea typeface="Roboto Mono"/>
                <a:cs typeface="Roboto Mono"/>
                <a:sym typeface="Roboto Mono"/>
              </a:rPr>
              <a:t>Cat</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cat: </a:t>
            </a:r>
            <a:r>
              <a:rPr lang="en" sz="1150">
                <a:solidFill>
                  <a:srgbClr val="9CCC65"/>
                </a:solidFill>
                <a:latin typeface="Roboto Mono"/>
                <a:ea typeface="Roboto Mono"/>
                <a:cs typeface="Roboto Mono"/>
                <a:sym typeface="Roboto Mono"/>
              </a:rPr>
              <a:t>"Ghost"</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color: </a:t>
            </a:r>
            <a:r>
              <a:rPr lang="en" sz="1150">
                <a:solidFill>
                  <a:srgbClr val="9CCC65"/>
                </a:solidFill>
                <a:latin typeface="Roboto Mono"/>
                <a:ea typeface="Roboto Mono"/>
                <a:cs typeface="Roboto Mono"/>
                <a:sym typeface="Roboto Mono"/>
              </a:rPr>
              <a:t>"white"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50" name="Google Shape;150;p27"/>
          <p:cNvSpPr txBox="1">
            <a:spLocks noGrp="1"/>
          </p:cNvSpPr>
          <p:nvPr>
            <p:ph type="body" idx="1"/>
          </p:nvPr>
        </p:nvSpPr>
        <p:spPr>
          <a:xfrm>
            <a:off x="286625" y="1261225"/>
            <a:ext cx="35454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JSX (what you’re going to write)</a:t>
            </a:r>
            <a:endParaRPr sz="1200"/>
          </a:p>
        </p:txBody>
      </p:sp>
      <p:sp>
        <p:nvSpPr>
          <p:cNvPr id="151" name="Google Shape;151;p27"/>
          <p:cNvSpPr txBox="1">
            <a:spLocks noGrp="1"/>
          </p:cNvSpPr>
          <p:nvPr>
            <p:ph type="body" idx="4294967295"/>
          </p:nvPr>
        </p:nvSpPr>
        <p:spPr>
          <a:xfrm>
            <a:off x="4217650" y="894625"/>
            <a:ext cx="39999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Transpiled with Babel (what is transpiled with babel, essentially what’s happening under the hood.)</a:t>
            </a:r>
            <a:endParaRPr sz="1200"/>
          </a:p>
        </p:txBody>
      </p:sp>
      <p:sp>
        <p:nvSpPr>
          <p:cNvPr id="152" name="Google Shape;152;p27"/>
          <p:cNvSpPr txBox="1">
            <a:spLocks noGrp="1"/>
          </p:cNvSpPr>
          <p:nvPr>
            <p:ph type="body" idx="1"/>
          </p:nvPr>
        </p:nvSpPr>
        <p:spPr>
          <a:xfrm>
            <a:off x="387900" y="4057050"/>
            <a:ext cx="78297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If you’d like to go take a look at how JSX will transpile in the end, you can take a look here at </a:t>
            </a:r>
            <a:r>
              <a:rPr lang="en" sz="1200" u="sng">
                <a:solidFill>
                  <a:schemeClr val="hlink"/>
                </a:solidFill>
                <a:hlinkClick r:id="rId3"/>
              </a:rPr>
              <a:t>the online babel transpiler</a:t>
            </a:r>
            <a:r>
              <a:rPr lang="en" sz="1200"/>
              <a:t>.</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 Class Based Component with JSX</a:t>
            </a:r>
            <a:endParaRPr/>
          </a:p>
        </p:txBody>
      </p:sp>
      <p:sp>
        <p:nvSpPr>
          <p:cNvPr id="158" name="Google Shape;158;p28"/>
          <p:cNvSpPr txBox="1"/>
          <p:nvPr/>
        </p:nvSpPr>
        <p:spPr>
          <a:xfrm>
            <a:off x="1420800" y="1929075"/>
            <a:ext cx="3000000" cy="398100"/>
          </a:xfrm>
          <a:prstGeom prst="rect">
            <a:avLst/>
          </a:prstGeom>
          <a:noFill/>
          <a:ln>
            <a:noFill/>
          </a:ln>
        </p:spPr>
        <p:txBody>
          <a:bodyPr spcFirstLastPara="1" wrap="square" lIns="91425" tIns="91425" rIns="91425" bIns="91425" anchor="t" anchorCtr="0">
            <a:noAutofit/>
          </a:bodyPr>
          <a:lstStyle/>
          <a:p>
            <a:pPr marL="0" lvl="0" indent="0" algn="l" rtl="0">
              <a:lnSpc>
                <a:spcPct val="146739"/>
              </a:lnSpc>
              <a:spcBef>
                <a:spcPts val="0"/>
              </a:spcBef>
              <a:spcAft>
                <a:spcPts val="0"/>
              </a:spcAft>
              <a:buNone/>
            </a:pPr>
            <a:r>
              <a:rPr lang="en" sz="1150">
                <a:solidFill>
                  <a:srgbClr val="4DD0E1"/>
                </a:solidFill>
                <a:latin typeface="Roboto Mono"/>
                <a:ea typeface="Roboto Mono"/>
                <a:cs typeface="Roboto Mono"/>
                <a:sym typeface="Roboto Mono"/>
              </a:rPr>
              <a:t>&lt;div</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id</a:t>
            </a:r>
            <a:r>
              <a:rPr lang="en" sz="1150">
                <a:solidFill>
                  <a:srgbClr val="ECEFF1"/>
                </a:solidFill>
                <a:latin typeface="Roboto Mono"/>
                <a:ea typeface="Roboto Mono"/>
                <a:cs typeface="Roboto Mono"/>
                <a:sym typeface="Roboto Mono"/>
              </a:rPr>
              <a:t>=</a:t>
            </a:r>
            <a:r>
              <a:rPr lang="en" sz="1150">
                <a:solidFill>
                  <a:srgbClr val="9CCC65"/>
                </a:solidFill>
                <a:latin typeface="Roboto Mono"/>
                <a:ea typeface="Roboto Mono"/>
                <a:cs typeface="Roboto Mono"/>
                <a:sym typeface="Roboto Mono"/>
              </a:rPr>
              <a:t>"react-container"</a:t>
            </a:r>
            <a:r>
              <a:rPr lang="en" sz="1150">
                <a:solidFill>
                  <a:srgbClr val="4DD0E1"/>
                </a:solidFill>
                <a:latin typeface="Roboto Mono"/>
                <a:ea typeface="Roboto Mono"/>
                <a:cs typeface="Roboto Mono"/>
                <a:sym typeface="Roboto Mono"/>
              </a:rPr>
              <a:t>&gt;&lt;/div&gt;</a:t>
            </a:r>
            <a:endParaRPr sz="1150">
              <a:solidFill>
                <a:srgbClr val="4DD0E1"/>
              </a:solidFill>
              <a:latin typeface="Roboto Mono"/>
              <a:ea typeface="Roboto Mono"/>
              <a:cs typeface="Roboto Mono"/>
              <a:sym typeface="Roboto Mono"/>
            </a:endParaRPr>
          </a:p>
        </p:txBody>
      </p:sp>
      <p:sp>
        <p:nvSpPr>
          <p:cNvPr id="159" name="Google Shape;159;p28"/>
          <p:cNvSpPr txBox="1"/>
          <p:nvPr/>
        </p:nvSpPr>
        <p:spPr>
          <a:xfrm>
            <a:off x="1420800" y="2757100"/>
            <a:ext cx="4387200" cy="144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class</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HelloWorld</a:t>
            </a:r>
            <a:r>
              <a:rPr lang="en" sz="1150">
                <a:solidFill>
                  <a:srgbClr val="ECEFF1"/>
                </a:solidFill>
                <a:latin typeface="Roboto Mono"/>
                <a:ea typeface="Roboto Mono"/>
                <a:cs typeface="Roboto Mono"/>
                <a:sym typeface="Roboto Mono"/>
              </a:rPr>
              <a:t> extends </a:t>
            </a:r>
            <a:r>
              <a:rPr lang="en" sz="1150">
                <a:solidFill>
                  <a:srgbClr val="CE93D8"/>
                </a:solidFill>
                <a:latin typeface="Roboto Mono"/>
                <a:ea typeface="Roboto Mono"/>
                <a:cs typeface="Roboto Mono"/>
                <a:sym typeface="Roboto Mono"/>
              </a:rPr>
              <a:t>React</a:t>
            </a:r>
            <a:r>
              <a:rPr lang="en" sz="1150">
                <a:solidFill>
                  <a:srgbClr val="ECEFF1"/>
                </a:solidFill>
                <a:latin typeface="Roboto Mono"/>
                <a:ea typeface="Roboto Mono"/>
                <a:cs typeface="Roboto Mono"/>
                <a:sym typeface="Roboto Mono"/>
              </a:rPr>
              <a:t>.</a:t>
            </a:r>
            <a:r>
              <a:rPr lang="en" sz="1150">
                <a:solidFill>
                  <a:srgbClr val="CE93D8"/>
                </a:solidFill>
                <a:latin typeface="Roboto Mono"/>
                <a:ea typeface="Roboto Mono"/>
                <a:cs typeface="Roboto Mono"/>
                <a:sym typeface="Roboto Mono"/>
              </a:rPr>
              <a:t>Component</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render()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&lt;div&gt;</a:t>
            </a:r>
            <a:r>
              <a:rPr lang="en" sz="1150">
                <a:solidFill>
                  <a:srgbClr val="CE93D8"/>
                </a:solidFill>
                <a:latin typeface="Roboto Mono"/>
                <a:ea typeface="Roboto Mono"/>
                <a:cs typeface="Roboto Mono"/>
                <a:sym typeface="Roboto Mono"/>
              </a:rPr>
              <a:t>Hello</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World</a:t>
            </a:r>
            <a:r>
              <a:rPr lang="en" sz="1150">
                <a:solidFill>
                  <a:srgbClr val="ECEFF1"/>
                </a:solidFill>
                <a:latin typeface="Roboto Mono"/>
                <a:ea typeface="Roboto Mono"/>
                <a:cs typeface="Roboto Mono"/>
                <a:sym typeface="Roboto Mono"/>
              </a:rPr>
              <a:t>, you seem classy&lt;/div&gt;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60" name="Google Shape;160;p28"/>
          <p:cNvSpPr txBox="1">
            <a:spLocks noGrp="1"/>
          </p:cNvSpPr>
          <p:nvPr>
            <p:ph type="body" idx="1"/>
          </p:nvPr>
        </p:nvSpPr>
        <p:spPr>
          <a:xfrm>
            <a:off x="1420800" y="1562475"/>
            <a:ext cx="35454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HTML:</a:t>
            </a:r>
            <a:endParaRPr sz="1200"/>
          </a:p>
        </p:txBody>
      </p:sp>
      <p:sp>
        <p:nvSpPr>
          <p:cNvPr id="161" name="Google Shape;161;p28"/>
          <p:cNvSpPr txBox="1">
            <a:spLocks noGrp="1"/>
          </p:cNvSpPr>
          <p:nvPr>
            <p:ph type="body" idx="4294967295"/>
          </p:nvPr>
        </p:nvSpPr>
        <p:spPr>
          <a:xfrm>
            <a:off x="1420800" y="2513500"/>
            <a:ext cx="39999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Javascript</a:t>
            </a:r>
            <a:endParaRPr sz="1200"/>
          </a:p>
        </p:txBody>
      </p:sp>
      <p:sp>
        <p:nvSpPr>
          <p:cNvPr id="162" name="Google Shape;162;p28"/>
          <p:cNvSpPr txBox="1">
            <a:spLocks noGrp="1"/>
          </p:cNvSpPr>
          <p:nvPr>
            <p:ph type="body" idx="4294967295"/>
          </p:nvPr>
        </p:nvSpPr>
        <p:spPr>
          <a:xfrm>
            <a:off x="4966200" y="1407925"/>
            <a:ext cx="3999900" cy="36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Example:</a:t>
            </a:r>
            <a:br>
              <a:rPr lang="en" sz="1200"/>
            </a:br>
            <a:r>
              <a:rPr lang="en" sz="1200" u="sng">
                <a:solidFill>
                  <a:schemeClr val="hlink"/>
                </a:solidFill>
                <a:hlinkClick r:id="rId3"/>
              </a:rPr>
              <a:t>https://jsfiddle.net/dgmouris/9625cmta/7/</a:t>
            </a:r>
            <a:br>
              <a:rPr lang="en" sz="1200"/>
            </a:br>
            <a:r>
              <a:rPr lang="en" sz="1200" u="sng">
                <a:solidFill>
                  <a:schemeClr val="hlink"/>
                </a:solidFill>
                <a:hlinkClick r:id="rId4"/>
              </a:rPr>
              <a:t>https://jsfiddle.net/dgmouris/9625cmta/19/</a:t>
            </a:r>
            <a:r>
              <a:rPr lang="en" sz="1200"/>
              <a:t> </a:t>
            </a:r>
            <a:endParaRPr sz="1200"/>
          </a:p>
          <a:p>
            <a:pPr marL="0" lvl="0" indent="0" algn="l" rtl="0">
              <a:spcBef>
                <a:spcPts val="1600"/>
              </a:spcBef>
              <a:spcAft>
                <a:spcPts val="0"/>
              </a:spcAft>
              <a:buNone/>
            </a:pPr>
            <a:r>
              <a:rPr lang="en" sz="1200"/>
              <a:t> </a:t>
            </a:r>
            <a:endParaRPr sz="1200"/>
          </a:p>
          <a:p>
            <a:pPr marL="0" lvl="0" indent="0" algn="l" rtl="0">
              <a:spcBef>
                <a:spcPts val="1600"/>
              </a:spcBef>
              <a:spcAft>
                <a:spcPts val="1600"/>
              </a:spcAft>
              <a:buNone/>
            </a:pP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 Function Based Component with JSX</a:t>
            </a:r>
            <a:endParaRPr/>
          </a:p>
        </p:txBody>
      </p:sp>
      <p:sp>
        <p:nvSpPr>
          <p:cNvPr id="168" name="Google Shape;168;p29"/>
          <p:cNvSpPr txBox="1"/>
          <p:nvPr/>
        </p:nvSpPr>
        <p:spPr>
          <a:xfrm>
            <a:off x="1344600" y="1852875"/>
            <a:ext cx="3000000" cy="398100"/>
          </a:xfrm>
          <a:prstGeom prst="rect">
            <a:avLst/>
          </a:prstGeom>
          <a:noFill/>
          <a:ln>
            <a:noFill/>
          </a:ln>
        </p:spPr>
        <p:txBody>
          <a:bodyPr spcFirstLastPara="1" wrap="square" lIns="91425" tIns="91425" rIns="91425" bIns="91425" anchor="t" anchorCtr="0">
            <a:noAutofit/>
          </a:bodyPr>
          <a:lstStyle/>
          <a:p>
            <a:pPr marL="0" lvl="0" indent="0" algn="l" rtl="0">
              <a:lnSpc>
                <a:spcPct val="146739"/>
              </a:lnSpc>
              <a:spcBef>
                <a:spcPts val="0"/>
              </a:spcBef>
              <a:spcAft>
                <a:spcPts val="0"/>
              </a:spcAft>
              <a:buNone/>
            </a:pPr>
            <a:r>
              <a:rPr lang="en" sz="1150">
                <a:solidFill>
                  <a:srgbClr val="4DD0E1"/>
                </a:solidFill>
                <a:latin typeface="Roboto Mono"/>
                <a:ea typeface="Roboto Mono"/>
                <a:cs typeface="Roboto Mono"/>
                <a:sym typeface="Roboto Mono"/>
              </a:rPr>
              <a:t>&lt;div</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id</a:t>
            </a:r>
            <a:r>
              <a:rPr lang="en" sz="1150">
                <a:solidFill>
                  <a:srgbClr val="ECEFF1"/>
                </a:solidFill>
                <a:latin typeface="Roboto Mono"/>
                <a:ea typeface="Roboto Mono"/>
                <a:cs typeface="Roboto Mono"/>
                <a:sym typeface="Roboto Mono"/>
              </a:rPr>
              <a:t>=</a:t>
            </a:r>
            <a:r>
              <a:rPr lang="en" sz="1150">
                <a:solidFill>
                  <a:srgbClr val="9CCC65"/>
                </a:solidFill>
                <a:latin typeface="Roboto Mono"/>
                <a:ea typeface="Roboto Mono"/>
                <a:cs typeface="Roboto Mono"/>
                <a:sym typeface="Roboto Mono"/>
              </a:rPr>
              <a:t>"react-container"</a:t>
            </a:r>
            <a:r>
              <a:rPr lang="en" sz="1150">
                <a:solidFill>
                  <a:srgbClr val="4DD0E1"/>
                </a:solidFill>
                <a:latin typeface="Roboto Mono"/>
                <a:ea typeface="Roboto Mono"/>
                <a:cs typeface="Roboto Mono"/>
                <a:sym typeface="Roboto Mono"/>
              </a:rPr>
              <a:t>&gt;&lt;/div&gt;</a:t>
            </a:r>
            <a:endParaRPr sz="1150">
              <a:solidFill>
                <a:srgbClr val="4DD0E1"/>
              </a:solidFill>
              <a:latin typeface="Roboto Mono"/>
              <a:ea typeface="Roboto Mono"/>
              <a:cs typeface="Roboto Mono"/>
              <a:sym typeface="Roboto Mono"/>
            </a:endParaRPr>
          </a:p>
        </p:txBody>
      </p:sp>
      <p:sp>
        <p:nvSpPr>
          <p:cNvPr id="169" name="Google Shape;169;p29"/>
          <p:cNvSpPr txBox="1">
            <a:spLocks noGrp="1"/>
          </p:cNvSpPr>
          <p:nvPr>
            <p:ph type="body" idx="1"/>
          </p:nvPr>
        </p:nvSpPr>
        <p:spPr>
          <a:xfrm>
            <a:off x="1344600" y="1486275"/>
            <a:ext cx="35454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HTML:</a:t>
            </a:r>
            <a:endParaRPr sz="1200"/>
          </a:p>
        </p:txBody>
      </p:sp>
      <p:sp>
        <p:nvSpPr>
          <p:cNvPr id="170" name="Google Shape;170;p29"/>
          <p:cNvSpPr txBox="1">
            <a:spLocks noGrp="1"/>
          </p:cNvSpPr>
          <p:nvPr>
            <p:ph type="body" idx="4294967295"/>
          </p:nvPr>
        </p:nvSpPr>
        <p:spPr>
          <a:xfrm>
            <a:off x="1344600" y="2437300"/>
            <a:ext cx="39999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Javascript:</a:t>
            </a:r>
            <a:endParaRPr sz="1200"/>
          </a:p>
        </p:txBody>
      </p:sp>
      <p:sp>
        <p:nvSpPr>
          <p:cNvPr id="171" name="Google Shape;171;p29"/>
          <p:cNvSpPr txBox="1"/>
          <p:nvPr/>
        </p:nvSpPr>
        <p:spPr>
          <a:xfrm>
            <a:off x="1344600" y="2803900"/>
            <a:ext cx="6966900" cy="122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Most basic simple (function) React JSX Component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HelloWorld</a:t>
            </a:r>
            <a:r>
              <a:rPr lang="en" sz="1150">
                <a:solidFill>
                  <a:srgbClr val="ECEFF1"/>
                </a:solidFill>
                <a:latin typeface="Roboto Mono"/>
                <a:ea typeface="Roboto Mono"/>
                <a:cs typeface="Roboto Mono"/>
                <a:sym typeface="Roboto Mono"/>
              </a:rPr>
              <a:t> = () =&gt;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(&lt;div&gt; </a:t>
            </a:r>
            <a:r>
              <a:rPr lang="en" sz="1150">
                <a:solidFill>
                  <a:srgbClr val="CE93D8"/>
                </a:solidFill>
                <a:latin typeface="Roboto Mono"/>
                <a:ea typeface="Roboto Mono"/>
                <a:cs typeface="Roboto Mono"/>
                <a:sym typeface="Roboto Mono"/>
              </a:rPr>
              <a:t>Hello</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World</a:t>
            </a:r>
            <a:r>
              <a:rPr lang="en" sz="1150">
                <a:solidFill>
                  <a:srgbClr val="ECEFF1"/>
                </a:solidFill>
                <a:latin typeface="Roboto Mono"/>
                <a:ea typeface="Roboto Mono"/>
                <a:cs typeface="Roboto Mono"/>
                <a:sym typeface="Roboto Mono"/>
              </a:rPr>
              <a:t>, you are func-y &lt;/div&gt;);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72" name="Google Shape;172;p29"/>
          <p:cNvSpPr txBox="1">
            <a:spLocks noGrp="1"/>
          </p:cNvSpPr>
          <p:nvPr>
            <p:ph type="body" idx="4294967295"/>
          </p:nvPr>
        </p:nvSpPr>
        <p:spPr>
          <a:xfrm>
            <a:off x="5244825" y="1399950"/>
            <a:ext cx="3999900" cy="36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Example:</a:t>
            </a:r>
            <a:br>
              <a:rPr lang="en" sz="1200"/>
            </a:br>
            <a:r>
              <a:rPr lang="en" sz="1200" u="sng">
                <a:solidFill>
                  <a:schemeClr val="hlink"/>
                </a:solidFill>
                <a:hlinkClick r:id="rId3"/>
              </a:rPr>
              <a:t>https://jsfiddle.net/dgmouris/rubjdt6k/6/</a:t>
            </a:r>
            <a:br>
              <a:rPr lang="en" sz="1200"/>
            </a:br>
            <a:r>
              <a:rPr lang="en" sz="1200" u="sng">
                <a:solidFill>
                  <a:schemeClr val="hlink"/>
                </a:solidFill>
                <a:hlinkClick r:id="rId4"/>
              </a:rPr>
              <a:t>https://jsfiddle.net/dgmouris/rubjdt6k/14/</a:t>
            </a:r>
            <a:r>
              <a:rPr lang="en" sz="1200"/>
              <a:t> </a:t>
            </a:r>
            <a:endParaRPr sz="1200"/>
          </a:p>
          <a:p>
            <a:pPr marL="0" lvl="0" indent="0" algn="l" rtl="0">
              <a:spcBef>
                <a:spcPts val="1600"/>
              </a:spcBef>
              <a:spcAft>
                <a:spcPts val="1600"/>
              </a:spcAft>
              <a:buNone/>
            </a:pP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We’re going use Function Based Components</a:t>
            </a:r>
            <a:endParaRPr/>
          </a:p>
        </p:txBody>
      </p:sp>
      <p:sp>
        <p:nvSpPr>
          <p:cNvPr id="178" name="Google Shape;178;p30"/>
          <p:cNvSpPr txBox="1">
            <a:spLocks noGrp="1"/>
          </p:cNvSpPr>
          <p:nvPr>
            <p:ph type="body" idx="1"/>
          </p:nvPr>
        </p:nvSpPr>
        <p:spPr>
          <a:xfrm>
            <a:off x="387900" y="1329800"/>
            <a:ext cx="8368200" cy="36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Class based components are great, but the standard in React.js and Next.js has been to use function based examples and hooks (of which we’ll be learning about a ton).</a:t>
            </a:r>
            <a:endParaRPr/>
          </a:p>
          <a:p>
            <a:pPr marL="0" lvl="0" indent="0" algn="l" rtl="0">
              <a:spcBef>
                <a:spcPts val="1600"/>
              </a:spcBef>
              <a:spcAft>
                <a:spcPts val="0"/>
              </a:spcAft>
              <a:buNone/>
            </a:pPr>
            <a:r>
              <a:rPr lang="en"/>
              <a:t>So if you’re thinking to yourself, I want to learn one way of understanding how these components work, we’re going to be focusing on that.</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1"/>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184" name="Google Shape;184;p31"/>
          <p:cNvSpPr txBox="1">
            <a:spLocks noGrp="1"/>
          </p:cNvSpPr>
          <p:nvPr>
            <p:ph type="body" idx="2"/>
          </p:nvPr>
        </p:nvSpPr>
        <p:spPr>
          <a:xfrm>
            <a:off x="4946900" y="1086825"/>
            <a:ext cx="4297200" cy="3695100"/>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AutoNum type="arabicPeriod"/>
            </a:pPr>
            <a:r>
              <a:rPr lang="en" sz="1600"/>
              <a:t>Expectations</a:t>
            </a:r>
            <a:endParaRPr sz="1600"/>
          </a:p>
          <a:p>
            <a:pPr marL="457200" lvl="0" indent="-330200" algn="l" rtl="0">
              <a:spcBef>
                <a:spcPts val="0"/>
              </a:spcBef>
              <a:spcAft>
                <a:spcPts val="0"/>
              </a:spcAft>
              <a:buSzPts val="1600"/>
              <a:buAutoNum type="arabicPeriod"/>
            </a:pPr>
            <a:r>
              <a:rPr lang="en" sz="1600"/>
              <a:t>What is React</a:t>
            </a:r>
            <a:endParaRPr sz="1600"/>
          </a:p>
          <a:p>
            <a:pPr marL="457200" lvl="0" indent="-330200" algn="l" rtl="0">
              <a:spcBef>
                <a:spcPts val="0"/>
              </a:spcBef>
              <a:spcAft>
                <a:spcPts val="0"/>
              </a:spcAft>
              <a:buSzPts val="1600"/>
              <a:buAutoNum type="arabicPeriod"/>
            </a:pPr>
            <a:r>
              <a:rPr lang="en" sz="1600"/>
              <a:t>Why use React</a:t>
            </a:r>
            <a:endParaRPr sz="1600"/>
          </a:p>
          <a:p>
            <a:pPr marL="457200" lvl="0" indent="-330200" algn="l" rtl="0">
              <a:spcBef>
                <a:spcPts val="0"/>
              </a:spcBef>
              <a:spcAft>
                <a:spcPts val="0"/>
              </a:spcAft>
              <a:buSzPts val="1600"/>
              <a:buAutoNum type="arabicPeriod"/>
            </a:pPr>
            <a:r>
              <a:rPr lang="en" sz="1600"/>
              <a:t>What is Next.js</a:t>
            </a:r>
            <a:endParaRPr sz="1600"/>
          </a:p>
          <a:p>
            <a:pPr marL="457200" lvl="0" indent="-330200" algn="l" rtl="0">
              <a:spcBef>
                <a:spcPts val="0"/>
              </a:spcBef>
              <a:spcAft>
                <a:spcPts val="0"/>
              </a:spcAft>
              <a:buSzPts val="1600"/>
              <a:buAutoNum type="arabicPeriod"/>
            </a:pPr>
            <a:r>
              <a:rPr lang="en" sz="1600"/>
              <a:t>Okay Who uses react and Next.js</a:t>
            </a:r>
            <a:endParaRPr sz="1600"/>
          </a:p>
          <a:p>
            <a:pPr marL="457200" lvl="0" indent="-330200" algn="l" rtl="0">
              <a:spcBef>
                <a:spcPts val="0"/>
              </a:spcBef>
              <a:spcAft>
                <a:spcPts val="0"/>
              </a:spcAft>
              <a:buSzPts val="1600"/>
              <a:buAutoNum type="arabicPeriod"/>
            </a:pPr>
            <a:r>
              <a:rPr lang="en" sz="1600"/>
              <a:t>React Components</a:t>
            </a:r>
            <a:endParaRPr sz="1600"/>
          </a:p>
          <a:p>
            <a:pPr marL="457200" lvl="0" indent="-330200" algn="l" rtl="0">
              <a:spcBef>
                <a:spcPts val="0"/>
              </a:spcBef>
              <a:spcAft>
                <a:spcPts val="0"/>
              </a:spcAft>
              <a:buSzPts val="1600"/>
              <a:buAutoNum type="arabicPeriod"/>
            </a:pPr>
            <a:r>
              <a:rPr lang="en" sz="1600"/>
              <a:t>What does it look like?</a:t>
            </a:r>
            <a:endParaRPr sz="1600"/>
          </a:p>
          <a:p>
            <a:pPr marL="457200" lvl="0" indent="-330200" algn="l" rtl="0">
              <a:spcBef>
                <a:spcPts val="0"/>
              </a:spcBef>
              <a:spcAft>
                <a:spcPts val="0"/>
              </a:spcAft>
              <a:buSzPts val="1600"/>
              <a:buAutoNum type="arabicPeriod"/>
            </a:pPr>
            <a:r>
              <a:rPr lang="en" sz="1600"/>
              <a:t>A small intro to JSX</a:t>
            </a:r>
            <a:endParaRPr sz="1600"/>
          </a:p>
          <a:p>
            <a:pPr marL="457200" lvl="0" indent="-330200" algn="l" rtl="0">
              <a:spcBef>
                <a:spcPts val="0"/>
              </a:spcBef>
              <a:spcAft>
                <a:spcPts val="0"/>
              </a:spcAft>
              <a:buSzPts val="1600"/>
              <a:buAutoNum type="arabicPeriod"/>
            </a:pPr>
            <a:r>
              <a:rPr lang="en" sz="1600"/>
              <a:t>A Class Based Component with JSX</a:t>
            </a:r>
            <a:endParaRPr sz="1600"/>
          </a:p>
          <a:p>
            <a:pPr marL="457200" lvl="0" indent="-330200" algn="l" rtl="0">
              <a:spcBef>
                <a:spcPts val="0"/>
              </a:spcBef>
              <a:spcAft>
                <a:spcPts val="0"/>
              </a:spcAft>
              <a:buSzPts val="1600"/>
              <a:buAutoNum type="arabicPeriod"/>
            </a:pPr>
            <a:r>
              <a:rPr lang="en" sz="1600"/>
              <a:t>A Function Based Component (Hook) </a:t>
            </a:r>
            <a:endParaRPr sz="1600"/>
          </a:p>
          <a:p>
            <a:pPr marL="457200" lvl="0" indent="-330200" algn="l" rtl="0">
              <a:spcBef>
                <a:spcPts val="0"/>
              </a:spcBef>
              <a:spcAft>
                <a:spcPts val="0"/>
              </a:spcAft>
              <a:buSzPts val="1600"/>
              <a:buAutoNum type="arabicPeriod"/>
            </a:pPr>
            <a:r>
              <a:rPr lang="en" sz="1600"/>
              <a:t>Let’s Install and Explore Next.js</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2"/>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Let’s Install and Explore Next.js </a:t>
            </a:r>
            <a:endParaRPr/>
          </a:p>
        </p:txBody>
      </p:sp>
      <p:sp>
        <p:nvSpPr>
          <p:cNvPr id="190" name="Google Shape;190;p32"/>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Let’s install the “create-next-app” with npm globally so that we can explore how to create a new project, run it and explore the folder structure.</a:t>
            </a:r>
            <a:endParaRPr sz="1400"/>
          </a:p>
          <a:p>
            <a:pPr marL="457200" lvl="0" indent="-317500" algn="l" rtl="0">
              <a:spcBef>
                <a:spcPts val="1600"/>
              </a:spcBef>
              <a:spcAft>
                <a:spcPts val="0"/>
              </a:spcAft>
              <a:buSzPts val="1400"/>
              <a:buAutoNum type="arabicPeriod"/>
            </a:pPr>
            <a:r>
              <a:rPr lang="en" sz="1400"/>
              <a:t>Install create-next-app</a:t>
            </a:r>
            <a:br>
              <a:rPr lang="en" sz="1400"/>
            </a:br>
            <a:r>
              <a:rPr lang="en" sz="1400">
                <a:solidFill>
                  <a:srgbClr val="ECEFF1"/>
                </a:solidFill>
                <a:latin typeface="Roboto Mono"/>
                <a:ea typeface="Roboto Mono"/>
                <a:cs typeface="Roboto Mono"/>
                <a:sym typeface="Roboto Mono"/>
              </a:rPr>
              <a:t>npm install -g create-next-app@latest</a:t>
            </a:r>
            <a:endParaRPr sz="1400"/>
          </a:p>
          <a:p>
            <a:pPr marL="457200" lvl="0" indent="-317500" algn="l" rtl="0">
              <a:spcBef>
                <a:spcPts val="0"/>
              </a:spcBef>
              <a:spcAft>
                <a:spcPts val="0"/>
              </a:spcAft>
              <a:buSzPts val="1400"/>
              <a:buAutoNum type="arabicPeriod"/>
            </a:pPr>
            <a:r>
              <a:rPr lang="en" sz="1400"/>
              <a:t>Create a project with create-next-app</a:t>
            </a:r>
            <a:br>
              <a:rPr lang="en" sz="1400"/>
            </a:br>
            <a:r>
              <a:rPr lang="en" sz="1400">
                <a:solidFill>
                  <a:srgbClr val="ECEFF1"/>
                </a:solidFill>
                <a:latin typeface="Roboto Mono"/>
                <a:ea typeface="Roboto Mono"/>
                <a:cs typeface="Roboto Mono"/>
                <a:sym typeface="Roboto Mono"/>
              </a:rPr>
              <a:t>npx create-next-app@latest hello-next </a:t>
            </a:r>
            <a:br>
              <a:rPr lang="en" sz="1400">
                <a:solidFill>
                  <a:srgbClr val="ECEFF1"/>
                </a:solidFill>
                <a:latin typeface="Roboto Mono"/>
                <a:ea typeface="Roboto Mono"/>
                <a:cs typeface="Roboto Mono"/>
                <a:sym typeface="Roboto Mono"/>
              </a:rPr>
            </a:br>
            <a:r>
              <a:rPr lang="en" sz="1400"/>
              <a:t>This is going to take a while to build your project in the nested folder (</a:t>
            </a:r>
            <a:r>
              <a:rPr lang="en" sz="1400">
                <a:solidFill>
                  <a:srgbClr val="ECEFF1"/>
                </a:solidFill>
                <a:latin typeface="Roboto Mono"/>
                <a:ea typeface="Roboto Mono"/>
                <a:cs typeface="Roboto Mono"/>
                <a:sym typeface="Roboto Mono"/>
              </a:rPr>
              <a:t>hello-next</a:t>
            </a:r>
            <a:r>
              <a:rPr lang="en" sz="1400"/>
              <a:t>)</a:t>
            </a:r>
            <a:endParaRPr sz="1400"/>
          </a:p>
          <a:p>
            <a:pPr marL="457200" lvl="0" indent="-317500" algn="l" rtl="0">
              <a:spcBef>
                <a:spcPts val="0"/>
              </a:spcBef>
              <a:spcAft>
                <a:spcPts val="0"/>
              </a:spcAft>
              <a:buSzPts val="1400"/>
              <a:buAutoNum type="arabicPeriod"/>
            </a:pPr>
            <a:r>
              <a:rPr lang="en" sz="1400"/>
              <a:t>Run the project</a:t>
            </a:r>
            <a:endParaRPr sz="1400"/>
          </a:p>
          <a:p>
            <a:pPr marL="914400" lvl="1" indent="-317500" algn="l" rtl="0">
              <a:spcBef>
                <a:spcPts val="0"/>
              </a:spcBef>
              <a:spcAft>
                <a:spcPts val="0"/>
              </a:spcAft>
              <a:buSzPts val="1400"/>
              <a:buAutoNum type="alphaLcPeriod"/>
            </a:pPr>
            <a:r>
              <a:rPr lang="en"/>
              <a:t>Go in to the folder</a:t>
            </a:r>
            <a:br>
              <a:rPr lang="en"/>
            </a:br>
            <a:r>
              <a:rPr lang="en"/>
              <a:t>cd hello-next</a:t>
            </a:r>
            <a:endParaRPr/>
          </a:p>
          <a:p>
            <a:pPr marL="914400" lvl="1" indent="-317500" algn="l" rtl="0">
              <a:spcBef>
                <a:spcPts val="0"/>
              </a:spcBef>
              <a:spcAft>
                <a:spcPts val="0"/>
              </a:spcAft>
              <a:buSzPts val="1400"/>
              <a:buAutoNum type="alphaLcPeriod"/>
            </a:pPr>
            <a:r>
              <a:rPr lang="en"/>
              <a:t>Run the project</a:t>
            </a:r>
            <a:br>
              <a:rPr lang="en"/>
            </a:br>
            <a:r>
              <a:rPr lang="en">
                <a:solidFill>
                  <a:srgbClr val="ECEFF1"/>
                </a:solidFill>
                <a:latin typeface="Roboto Mono"/>
                <a:ea typeface="Roboto Mono"/>
                <a:cs typeface="Roboto Mono"/>
                <a:sym typeface="Roboto Mono"/>
              </a:rPr>
              <a:t>npm run dev</a:t>
            </a:r>
            <a:br>
              <a:rPr lang="en" sz="1400"/>
            </a:br>
            <a:br>
              <a:rPr lang="en" sz="1400"/>
            </a:br>
            <a:endParaRPr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Reading/Resources</a:t>
            </a:r>
            <a:endParaRPr/>
          </a:p>
        </p:txBody>
      </p:sp>
      <p:sp>
        <p:nvSpPr>
          <p:cNvPr id="196" name="Google Shape;196;p33"/>
          <p:cNvSpPr txBox="1">
            <a:spLocks noGrp="1"/>
          </p:cNvSpPr>
          <p:nvPr>
            <p:ph type="body" idx="1"/>
          </p:nvPr>
        </p:nvSpPr>
        <p:spPr>
          <a:xfrm>
            <a:off x="387900" y="1289999"/>
            <a:ext cx="8368200" cy="30789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100"/>
              <a:t>Next.js</a:t>
            </a:r>
            <a:endParaRPr sz="1100"/>
          </a:p>
          <a:p>
            <a:pPr marL="914400" lvl="1" indent="-298450" algn="l" rtl="0">
              <a:spcBef>
                <a:spcPts val="0"/>
              </a:spcBef>
              <a:spcAft>
                <a:spcPts val="0"/>
              </a:spcAft>
              <a:buSzPts val="1100"/>
              <a:buChar char="○"/>
            </a:pPr>
            <a:r>
              <a:rPr lang="en" sz="1100" u="sng">
                <a:solidFill>
                  <a:schemeClr val="accent5"/>
                </a:solidFill>
                <a:hlinkClick r:id="rId3">
                  <a:extLst>
                    <a:ext uri="{A12FA001-AC4F-418D-AE19-62706E023703}">
                      <ahyp:hlinkClr xmlns:ahyp="http://schemas.microsoft.com/office/drawing/2018/hyperlinkcolor" val="tx"/>
                    </a:ext>
                  </a:extLst>
                </a:hlinkClick>
              </a:rPr>
              <a:t>https://nextjs.org/</a:t>
            </a:r>
            <a:r>
              <a:rPr lang="en" sz="1100"/>
              <a:t> </a:t>
            </a:r>
            <a:endParaRPr sz="1100"/>
          </a:p>
          <a:p>
            <a:pPr marL="457200" lvl="0" indent="-298450" algn="l" rtl="0">
              <a:spcBef>
                <a:spcPts val="0"/>
              </a:spcBef>
              <a:spcAft>
                <a:spcPts val="0"/>
              </a:spcAft>
              <a:buSzPts val="1100"/>
              <a:buChar char="●"/>
            </a:pPr>
            <a:r>
              <a:rPr lang="en" sz="1100"/>
              <a:t>Single Page Application</a:t>
            </a:r>
            <a:endParaRPr sz="1100"/>
          </a:p>
          <a:p>
            <a:pPr marL="914400" lvl="1" indent="-298450" algn="l" rtl="0">
              <a:spcBef>
                <a:spcPts val="0"/>
              </a:spcBef>
              <a:spcAft>
                <a:spcPts val="0"/>
              </a:spcAft>
              <a:buSzPts val="1100"/>
              <a:buChar char="○"/>
            </a:pPr>
            <a:r>
              <a:rPr lang="en" sz="1100" u="sng">
                <a:solidFill>
                  <a:schemeClr val="hlink"/>
                </a:solidFill>
                <a:hlinkClick r:id="rId4"/>
              </a:rPr>
              <a:t>https://en.wikipedia.org/wiki/Single-page_application</a:t>
            </a:r>
            <a:r>
              <a:rPr lang="en" sz="1100"/>
              <a:t> </a:t>
            </a:r>
            <a:endParaRPr sz="1100"/>
          </a:p>
          <a:p>
            <a:pPr marL="457200" lvl="0" indent="-298450" algn="l" rtl="0">
              <a:spcBef>
                <a:spcPts val="0"/>
              </a:spcBef>
              <a:spcAft>
                <a:spcPts val="0"/>
              </a:spcAft>
              <a:buSzPts val="1100"/>
              <a:buChar char="●"/>
            </a:pPr>
            <a:r>
              <a:rPr lang="en" sz="1100"/>
              <a:t>React Website</a:t>
            </a:r>
            <a:endParaRPr sz="1100"/>
          </a:p>
          <a:p>
            <a:pPr marL="914400" lvl="1" indent="-298450" algn="l" rtl="0">
              <a:spcBef>
                <a:spcPts val="0"/>
              </a:spcBef>
              <a:spcAft>
                <a:spcPts val="0"/>
              </a:spcAft>
              <a:buSzPts val="1100"/>
              <a:buChar char="○"/>
            </a:pPr>
            <a:r>
              <a:rPr lang="en" sz="1100" u="sng">
                <a:solidFill>
                  <a:schemeClr val="hlink"/>
                </a:solidFill>
                <a:hlinkClick r:id="rId5"/>
              </a:rPr>
              <a:t>https://reactjs.org/</a:t>
            </a:r>
            <a:r>
              <a:rPr lang="en" sz="1100"/>
              <a:t> </a:t>
            </a:r>
            <a:endParaRPr sz="1100"/>
          </a:p>
          <a:p>
            <a:pPr marL="457200" lvl="0" indent="-298450" algn="l" rtl="0">
              <a:spcBef>
                <a:spcPts val="0"/>
              </a:spcBef>
              <a:spcAft>
                <a:spcPts val="0"/>
              </a:spcAft>
              <a:buSzPts val="1100"/>
              <a:buChar char="●"/>
            </a:pPr>
            <a:r>
              <a:rPr lang="en" sz="1100"/>
              <a:t>Hooks FAQ</a:t>
            </a:r>
            <a:endParaRPr sz="1100"/>
          </a:p>
          <a:p>
            <a:pPr marL="914400" lvl="1" indent="-298450" algn="l" rtl="0">
              <a:spcBef>
                <a:spcPts val="0"/>
              </a:spcBef>
              <a:spcAft>
                <a:spcPts val="0"/>
              </a:spcAft>
              <a:buSzPts val="1100"/>
              <a:buChar char="○"/>
            </a:pPr>
            <a:r>
              <a:rPr lang="en" sz="1100" u="sng">
                <a:solidFill>
                  <a:schemeClr val="hlink"/>
                </a:solidFill>
                <a:hlinkClick r:id="rId6"/>
              </a:rPr>
              <a:t>https://reactjs.org/docs/hooks-faq.html</a:t>
            </a:r>
            <a:r>
              <a:rPr lang="en" sz="1100"/>
              <a:t> </a:t>
            </a:r>
            <a:endParaRPr sz="1100"/>
          </a:p>
          <a:p>
            <a:pPr marL="457200" lvl="0" indent="-298450" algn="l" rtl="0">
              <a:spcBef>
                <a:spcPts val="0"/>
              </a:spcBef>
              <a:spcAft>
                <a:spcPts val="0"/>
              </a:spcAft>
              <a:buSzPts val="1100"/>
              <a:buChar char="●"/>
            </a:pPr>
            <a:r>
              <a:rPr lang="en" sz="1100"/>
              <a:t>Gradual Adoption </a:t>
            </a:r>
            <a:endParaRPr sz="1100"/>
          </a:p>
          <a:p>
            <a:pPr marL="914400" lvl="1" indent="-298450" algn="l" rtl="0">
              <a:spcBef>
                <a:spcPts val="0"/>
              </a:spcBef>
              <a:spcAft>
                <a:spcPts val="0"/>
              </a:spcAft>
              <a:buSzPts val="1100"/>
              <a:buChar char="○"/>
            </a:pPr>
            <a:r>
              <a:rPr lang="en" sz="1100" u="sng">
                <a:solidFill>
                  <a:schemeClr val="hlink"/>
                </a:solidFill>
                <a:hlinkClick r:id="rId7"/>
              </a:rPr>
              <a:t>https://reactjs.org/docs/hooks-intro.html#gradual-adoption-strategy</a:t>
            </a:r>
            <a:r>
              <a:rPr lang="en" sz="1100"/>
              <a:t> </a:t>
            </a:r>
            <a:endParaRPr sz="1100"/>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1729</Words>
  <Application>Microsoft Office PowerPoint</Application>
  <PresentationFormat>On-screen Show (16:9)</PresentationFormat>
  <Paragraphs>183</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Roboto</vt:lpstr>
      <vt:lpstr>Roboto Mono</vt:lpstr>
      <vt:lpstr>Roboto Slab</vt:lpstr>
      <vt:lpstr>Marina</vt:lpstr>
      <vt:lpstr>React and Next.js</vt:lpstr>
      <vt:lpstr>Announcements</vt:lpstr>
      <vt:lpstr>Where are we?</vt:lpstr>
      <vt:lpstr>Expectations - What I expect from you</vt:lpstr>
      <vt:lpstr>What is React?</vt:lpstr>
      <vt:lpstr>Why use React?</vt:lpstr>
      <vt:lpstr>Why use React? Some Resources to look at.</vt:lpstr>
      <vt:lpstr>Where are we?</vt:lpstr>
      <vt:lpstr>Okay so React is good what is Next.js?</vt:lpstr>
      <vt:lpstr>Okay Who uses react and Next.js </vt:lpstr>
      <vt:lpstr>React Components</vt:lpstr>
      <vt:lpstr>What does React even look like?</vt:lpstr>
      <vt:lpstr>Where are we?</vt:lpstr>
      <vt:lpstr>A Small Intro to JSX</vt:lpstr>
      <vt:lpstr>JSX Example</vt:lpstr>
      <vt:lpstr>A Class Based Component with JSX</vt:lpstr>
      <vt:lpstr>A Function Based Component with JSX</vt:lpstr>
      <vt:lpstr>We’re going use Function Based Components</vt:lpstr>
      <vt:lpstr>Where are we?</vt:lpstr>
      <vt:lpstr>Let’s Install and Explore Next.js </vt:lpstr>
      <vt:lpstr>Reading/Resources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Jhimlie Eustaquio</cp:lastModifiedBy>
  <cp:revision>1</cp:revision>
  <dcterms:modified xsi:type="dcterms:W3CDTF">2026-09-17T15:49:25Z</dcterms:modified>
</cp:coreProperties>
</file>