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6858000" cy="9144000"/>
  <p:embeddedFontLst>
    <p:embeddedFont>
      <p:font typeface="Roboto" panose="02000000000000000000" pitchFamily="2" charset="0"/>
      <p:regular r:id="rId12"/>
      <p:bold r:id="rId13"/>
      <p:italic r:id="rId14"/>
    </p:embeddedFont>
    <p:embeddedFont>
      <p:font typeface="Roboto Slab" pitchFamily="2" charset="0"/>
      <p:regular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902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5ad3a4879e_2_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5ad3a4879e_2_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4c141908b7_0_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4c141908b7_0_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80fb9f6395_4_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80fb9f6395_4_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acb0490f35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acb0490f35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19bbd8333d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19bbd8333d6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18a0444062d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18a0444062d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18a0444062d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18a0444062d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abf6eed5da_1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abf6eed5da_1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1524800" y="672606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accent5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1" name="Google Shape;11;p2"/>
          <p:cNvSpPr/>
          <p:nvPr/>
        </p:nvSpPr>
        <p:spPr>
          <a:xfrm rot="10800000">
            <a:off x="6537563" y="3342925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accent5"/>
            </a:solidFill>
            <a:prstDash val="solid"/>
            <a:miter lim="8000"/>
            <a:headEnd type="none" w="sm" len="sm"/>
            <a:tailEnd type="none" w="sm" len="sm"/>
          </a:ln>
        </p:spPr>
      </p:sp>
      <p:cxnSp>
        <p:nvCxnSpPr>
          <p:cNvPr id="12" name="Google Shape;12;p2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" name="Google Shape;13;p2"/>
          <p:cNvSpPr txBox="1">
            <a:spLocks noGrp="1"/>
          </p:cNvSpPr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1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480750" y="1764950"/>
            <a:ext cx="8222100" cy="90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Google Shape;21;p4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Google Shape;26;p5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7" name="Google Shape;27;p5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body" idx="1"/>
          </p:nvPr>
        </p:nvSpPr>
        <p:spPr>
          <a:xfrm>
            <a:off x="387900" y="1489825"/>
            <a:ext cx="39999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2"/>
          </p:nvPr>
        </p:nvSpPr>
        <p:spPr>
          <a:xfrm>
            <a:off x="4756200" y="1489825"/>
            <a:ext cx="39999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" name="Google Shape;35;p7"/>
          <p:cNvCxnSpPr/>
          <p:nvPr/>
        </p:nvCxnSpPr>
        <p:spPr>
          <a:xfrm>
            <a:off x="489218" y="1412277"/>
            <a:ext cx="3315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6" name="Google Shape;36;p7"/>
          <p:cNvSpPr txBox="1">
            <a:spLocks noGrp="1"/>
          </p:cNvSpPr>
          <p:nvPr>
            <p:ph type="title"/>
          </p:nvPr>
        </p:nvSpPr>
        <p:spPr>
          <a:xfrm>
            <a:off x="3879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7" name="Google Shape;37;p7"/>
          <p:cNvSpPr txBox="1">
            <a:spLocks noGrp="1"/>
          </p:cNvSpPr>
          <p:nvPr>
            <p:ph type="body" idx="1"/>
          </p:nvPr>
        </p:nvSpPr>
        <p:spPr>
          <a:xfrm>
            <a:off x="387900" y="1594025"/>
            <a:ext cx="2808000" cy="268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1" name="Google Shape;41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/>
          <p:nvPr/>
        </p:nvSpPr>
        <p:spPr>
          <a:xfrm>
            <a:off x="4572000" y="-7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4" name="Google Shape;44;p9"/>
          <p:cNvCxnSpPr/>
          <p:nvPr/>
        </p:nvCxnSpPr>
        <p:spPr>
          <a:xfrm>
            <a:off x="5029675" y="4495503"/>
            <a:ext cx="540900" cy="0"/>
          </a:xfrm>
          <a:prstGeom prst="straightConnector1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5" name="Google Shape;45;p9"/>
          <p:cNvSpPr txBox="1">
            <a:spLocks noGrp="1"/>
          </p:cNvSpPr>
          <p:nvPr>
            <p:ph type="title"/>
          </p:nvPr>
        </p:nvSpPr>
        <p:spPr>
          <a:xfrm>
            <a:off x="265500" y="1209075"/>
            <a:ext cx="4045200" cy="1506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subTitle" idx="1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9pPr>
          </a:lstStyle>
          <a:p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8" name="Google Shape;48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>
            <a:spLocks noGrp="1"/>
          </p:cNvSpPr>
          <p:nvPr>
            <p:ph type="body" idx="1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1pPr>
          </a:lstStyle>
          <a:p>
            <a:endParaRPr/>
          </a:p>
        </p:txBody>
      </p:sp>
      <p:sp>
        <p:nvSpPr>
          <p:cNvPr id="51" name="Google Shape;51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1"/>
          <p:cNvSpPr/>
          <p:nvPr/>
        </p:nvSpPr>
        <p:spPr>
          <a:xfrm>
            <a:off x="150" y="5076825"/>
            <a:ext cx="9143700" cy="66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11"/>
          <p:cNvSpPr txBox="1">
            <a:spLocks noGrp="1"/>
          </p:cNvSpPr>
          <p:nvPr>
            <p:ph type="title" hasCustomPrompt="1"/>
          </p:nvPr>
        </p:nvSpPr>
        <p:spPr>
          <a:xfrm>
            <a:off x="387900" y="1152450"/>
            <a:ext cx="8368200" cy="15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5" name="Google Shape;55;p11"/>
          <p:cNvSpPr txBox="1">
            <a:spLocks noGrp="1"/>
          </p:cNvSpPr>
          <p:nvPr>
            <p:ph type="body" idx="1"/>
          </p:nvPr>
        </p:nvSpPr>
        <p:spPr>
          <a:xfrm>
            <a:off x="387900" y="2919450"/>
            <a:ext cx="8368200" cy="10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6" name="Google Shape;56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rina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vercel.com/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5" Type="http://schemas.openxmlformats.org/officeDocument/2006/relationships/hyperlink" Target="https://www.netlify.com/with/nextjs/" TargetMode="External"/><Relationship Id="rId4" Type="http://schemas.openxmlformats.org/officeDocument/2006/relationships/hyperlink" Target="https://docs.digitalocean.com/tutorials/app-nextjs-deploy/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vercel.com/docs/concepts/deployments/overview#git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5" Type="http://schemas.openxmlformats.org/officeDocument/2006/relationships/hyperlink" Target="https://vercel.com/docs/cli/deploying-from-cli" TargetMode="External"/><Relationship Id="rId4" Type="http://schemas.openxmlformats.org/officeDocument/2006/relationships/hyperlink" Target="https://vercel.com/guides/how-can-i-use-github-actions-with-vercel" TargetMode="Externa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vercel.com/docs/concepts/deployments/overview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resources.github.com/ci-cd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3"/>
          <p:cNvSpPr txBox="1">
            <a:spLocks noGrp="1"/>
          </p:cNvSpPr>
          <p:nvPr>
            <p:ph type="ctrTitle"/>
          </p:nvPr>
        </p:nvSpPr>
        <p:spPr>
          <a:xfrm>
            <a:off x="1628877" y="1219800"/>
            <a:ext cx="5783400" cy="14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Deployment With Vercel</a:t>
            </a:r>
            <a:endParaRPr/>
          </a:p>
        </p:txBody>
      </p:sp>
      <p:sp>
        <p:nvSpPr>
          <p:cNvPr id="64" name="Google Shape;64;p13"/>
          <p:cNvSpPr txBox="1">
            <a:spLocks noGrp="1"/>
          </p:cNvSpPr>
          <p:nvPr>
            <p:ph type="subTitle" idx="1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Javascript DMIT 2008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>
            <a:spLocks noGrp="1"/>
          </p:cNvSpPr>
          <p:nvPr>
            <p:ph type="title"/>
          </p:nvPr>
        </p:nvSpPr>
        <p:spPr>
          <a:xfrm>
            <a:off x="480750" y="1764950"/>
            <a:ext cx="8222100" cy="90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Announcements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>
            <a:spLocks noGrp="1"/>
          </p:cNvSpPr>
          <p:nvPr>
            <p:ph type="title"/>
          </p:nvPr>
        </p:nvSpPr>
        <p:spPr>
          <a:xfrm>
            <a:off x="248400" y="1440025"/>
            <a:ext cx="4045200" cy="1506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Where are we?</a:t>
            </a:r>
            <a:endParaRPr/>
          </a:p>
        </p:txBody>
      </p:sp>
      <p:sp>
        <p:nvSpPr>
          <p:cNvPr id="75" name="Google Shape;75;p15"/>
          <p:cNvSpPr txBox="1">
            <a:spLocks noGrp="1"/>
          </p:cNvSpPr>
          <p:nvPr>
            <p:ph type="body" idx="2"/>
          </p:nvPr>
        </p:nvSpPr>
        <p:spPr>
          <a:xfrm>
            <a:off x="4799375" y="1026450"/>
            <a:ext cx="42972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" sz="1600"/>
              <a:t>Expectations</a:t>
            </a:r>
            <a:endParaRPr sz="160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" sz="1600"/>
              <a:t>What is a deployment, what are the options?</a:t>
            </a:r>
            <a:endParaRPr sz="160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" sz="1600"/>
              <a:t>Vercel and other deployment options</a:t>
            </a:r>
            <a:endParaRPr sz="160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" sz="1600"/>
              <a:t>How does one deploy a Next.js application</a:t>
            </a:r>
            <a:endParaRPr sz="160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" sz="1600"/>
              <a:t>Let’s do a deployment!</a:t>
            </a:r>
            <a:endParaRPr sz="16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Expectations - What I expect from you</a:t>
            </a:r>
            <a:endParaRPr/>
          </a:p>
        </p:txBody>
      </p:sp>
      <p:sp>
        <p:nvSpPr>
          <p:cNvPr id="81" name="Google Shape;81;p16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Font typeface="Roboto"/>
              <a:buAutoNum type="arabicPeriod"/>
            </a:pPr>
            <a:r>
              <a:rPr lang="en-US" dirty="0"/>
              <a:t>Pay Attention and ask questions while on session.</a:t>
            </a:r>
          </a:p>
          <a:p>
            <a:pPr>
              <a:buFont typeface="Roboto"/>
              <a:buAutoNum type="arabicPeriod"/>
            </a:pPr>
            <a:r>
              <a:rPr lang="en-US" dirty="0"/>
              <a:t>Follow along the coding exercises.</a:t>
            </a:r>
          </a:p>
          <a:p>
            <a:pPr>
              <a:buFont typeface="Roboto"/>
              <a:buAutoNum type="arabicPeriod"/>
            </a:pPr>
            <a:r>
              <a:rPr lang="en-US" dirty="0"/>
              <a:t>Focus on the task on hand, don’t go wandering.</a:t>
            </a:r>
          </a:p>
          <a:p>
            <a:pPr>
              <a:buFont typeface="Roboto"/>
              <a:buAutoNum type="arabicPeriod"/>
            </a:pPr>
            <a:r>
              <a:rPr lang="en-US" dirty="0"/>
              <a:t>No late submission of Assignments.</a:t>
            </a:r>
          </a:p>
          <a:p>
            <a:pPr>
              <a:buFont typeface="Roboto"/>
              <a:buAutoNum type="arabicPeriod"/>
            </a:pPr>
            <a:r>
              <a:rPr lang="en-US" dirty="0"/>
              <a:t>Commit your codes to your Assignment repositories day-to-day to </a:t>
            </a:r>
            <a:r>
              <a:rPr lang="en-CA" dirty="0"/>
              <a:t>demonstrate incremental development of your solution.</a:t>
            </a:r>
            <a:endParaRPr lang="en-US" dirty="0"/>
          </a:p>
          <a:p>
            <a:pPr>
              <a:buFont typeface="Roboto"/>
              <a:buAutoNum type="arabicPeriod"/>
            </a:pPr>
            <a:r>
              <a:rPr lang="en-US" dirty="0"/>
              <a:t>No cheating on exams.</a:t>
            </a:r>
          </a:p>
          <a:p>
            <a:pPr>
              <a:buFont typeface="Roboto"/>
              <a:buAutoNum type="arabicPeriod"/>
            </a:pPr>
            <a:r>
              <a:rPr lang="en-US" dirty="0"/>
              <a:t>Complete the final project.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7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a Deployment?</a:t>
            </a:r>
            <a:endParaRPr/>
          </a:p>
        </p:txBody>
      </p:sp>
      <p:sp>
        <p:nvSpPr>
          <p:cNvPr id="87" name="Google Shape;87;p17"/>
          <p:cNvSpPr txBox="1">
            <a:spLocks noGrp="1"/>
          </p:cNvSpPr>
          <p:nvPr>
            <p:ph type="body" idx="1"/>
          </p:nvPr>
        </p:nvSpPr>
        <p:spPr>
          <a:xfrm>
            <a:off x="387900" y="1261825"/>
            <a:ext cx="8368200" cy="257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/>
              <a:t>A deployment is the </a:t>
            </a:r>
            <a:r>
              <a:rPr lang="en" sz="1200" b="1" dirty="0"/>
              <a:t>process in which you make your software available for the world to use</a:t>
            </a:r>
            <a:r>
              <a:rPr lang="en" sz="1200" dirty="0"/>
              <a:t>.</a:t>
            </a:r>
            <a:endParaRPr sz="1200" dirty="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200" dirty="0"/>
              <a:t>Your “</a:t>
            </a:r>
            <a:r>
              <a:rPr lang="en" sz="1200" dirty="0">
                <a:solidFill>
                  <a:srgbClr val="D9EAD3"/>
                </a:solidFill>
              </a:rPr>
              <a:t>local environment</a:t>
            </a:r>
            <a:r>
              <a:rPr lang="en" sz="1200" dirty="0"/>
              <a:t>” is where you build and test your application on your computer.</a:t>
            </a:r>
            <a:endParaRPr sz="1200" dirty="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200" dirty="0"/>
              <a:t>You “</a:t>
            </a:r>
            <a:r>
              <a:rPr lang="en" sz="1200" dirty="0">
                <a:solidFill>
                  <a:srgbClr val="E6B8AF"/>
                </a:solidFill>
              </a:rPr>
              <a:t>deploy</a:t>
            </a:r>
            <a:r>
              <a:rPr lang="en" sz="1200" dirty="0"/>
              <a:t>” your software to the “</a:t>
            </a:r>
            <a:r>
              <a:rPr lang="en" sz="1200" dirty="0">
                <a:solidFill>
                  <a:srgbClr val="EAD1DC"/>
                </a:solidFill>
              </a:rPr>
              <a:t>production environment</a:t>
            </a:r>
            <a:r>
              <a:rPr lang="en" sz="1200" dirty="0"/>
              <a:t>” so that it can be used by anyone.</a:t>
            </a:r>
            <a:br>
              <a:rPr lang="en" sz="1200" dirty="0"/>
            </a:br>
            <a:br>
              <a:rPr lang="en" sz="1200" dirty="0"/>
            </a:br>
            <a:r>
              <a:rPr lang="en" sz="1200" dirty="0"/>
              <a:t>You would normally deploy the most recent stable commit on a “master” or “main” branch of a github repository. Many times, a merge/push to the main branch triggers a deployment to deploy and build your changes on “production” machine</a:t>
            </a:r>
            <a:endParaRPr sz="1200" dirty="0"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1200" dirty="0"/>
              <a:t>This one type of deployment commonly referred to as Continuous Integration/Continous Deployment (referred to as CI/CD in the software world) and is a very common practice.</a:t>
            </a:r>
            <a:endParaRPr sz="1200" dirty="0"/>
          </a:p>
        </p:txBody>
      </p:sp>
      <p:sp>
        <p:nvSpPr>
          <p:cNvPr id="88" name="Google Shape;88;p17"/>
          <p:cNvSpPr/>
          <p:nvPr/>
        </p:nvSpPr>
        <p:spPr>
          <a:xfrm>
            <a:off x="588650" y="3951525"/>
            <a:ext cx="1804500" cy="743100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Local Environment</a:t>
            </a:r>
            <a:endParaRPr/>
          </a:p>
        </p:txBody>
      </p:sp>
      <p:sp>
        <p:nvSpPr>
          <p:cNvPr id="89" name="Google Shape;89;p17"/>
          <p:cNvSpPr/>
          <p:nvPr/>
        </p:nvSpPr>
        <p:spPr>
          <a:xfrm>
            <a:off x="3727650" y="3951525"/>
            <a:ext cx="1804500" cy="743100"/>
          </a:xfrm>
          <a:prstGeom prst="roundRect">
            <a:avLst>
              <a:gd name="adj" fmla="val 16667"/>
            </a:avLst>
          </a:prstGeom>
          <a:solidFill>
            <a:srgbClr val="C9DAF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Github Repository</a:t>
            </a:r>
            <a:endParaRPr/>
          </a:p>
        </p:txBody>
      </p:sp>
      <p:sp>
        <p:nvSpPr>
          <p:cNvPr id="90" name="Google Shape;90;p17"/>
          <p:cNvSpPr/>
          <p:nvPr/>
        </p:nvSpPr>
        <p:spPr>
          <a:xfrm>
            <a:off x="6823325" y="3951525"/>
            <a:ext cx="1804500" cy="743100"/>
          </a:xfrm>
          <a:prstGeom prst="roundRect">
            <a:avLst>
              <a:gd name="adj" fmla="val 16667"/>
            </a:avLst>
          </a:prstGeom>
          <a:solidFill>
            <a:srgbClr val="EAD1D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Production</a:t>
            </a:r>
            <a:endParaRPr/>
          </a:p>
        </p:txBody>
      </p:sp>
      <p:sp>
        <p:nvSpPr>
          <p:cNvPr id="91" name="Google Shape;91;p17"/>
          <p:cNvSpPr/>
          <p:nvPr/>
        </p:nvSpPr>
        <p:spPr>
          <a:xfrm>
            <a:off x="2452500" y="4009425"/>
            <a:ext cx="1233600" cy="6273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push/make PR</a:t>
            </a:r>
            <a:endParaRPr sz="900"/>
          </a:p>
        </p:txBody>
      </p:sp>
      <p:sp>
        <p:nvSpPr>
          <p:cNvPr id="92" name="Google Shape;92;p17"/>
          <p:cNvSpPr/>
          <p:nvPr/>
        </p:nvSpPr>
        <p:spPr>
          <a:xfrm>
            <a:off x="5647038" y="4009425"/>
            <a:ext cx="1061400" cy="6273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E6B8A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deployment</a:t>
            </a:r>
            <a:endParaRPr sz="1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8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Vercel and other deployment options</a:t>
            </a:r>
            <a:endParaRPr/>
          </a:p>
        </p:txBody>
      </p:sp>
      <p:sp>
        <p:nvSpPr>
          <p:cNvPr id="98" name="Google Shape;98;p18"/>
          <p:cNvSpPr txBox="1">
            <a:spLocks noGrp="1"/>
          </p:cNvSpPr>
          <p:nvPr>
            <p:ph type="body" idx="1"/>
          </p:nvPr>
        </p:nvSpPr>
        <p:spPr>
          <a:xfrm>
            <a:off x="387900" y="1261825"/>
            <a:ext cx="8368200" cy="34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/>
              <a:t>In this course we’re going to use </a:t>
            </a:r>
            <a:r>
              <a:rPr lang="en" sz="1400" u="sng" dirty="0">
                <a:solidFill>
                  <a:schemeClr val="hlink"/>
                </a:solidFill>
                <a:hlinkClick r:id="rId3"/>
              </a:rPr>
              <a:t>vercel</a:t>
            </a:r>
            <a:r>
              <a:rPr lang="en" sz="1400" dirty="0"/>
              <a:t> to deploy our applications in this course. This company are the creators of Next.js and they have a pretty great service.</a:t>
            </a:r>
            <a:endParaRPr sz="1400" dirty="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400" dirty="0"/>
              <a:t>If you don’t want to use Vercel deployment options that you can go checkout a lot of different providers.</a:t>
            </a:r>
            <a:endParaRPr sz="1400" dirty="0"/>
          </a:p>
          <a:p>
            <a:pPr marL="457200" lvl="0" indent="-317500" algn="l" rtl="0">
              <a:spcBef>
                <a:spcPts val="1600"/>
              </a:spcBef>
              <a:spcAft>
                <a:spcPts val="0"/>
              </a:spcAft>
              <a:buSzPts val="1400"/>
              <a:buChar char="●"/>
            </a:pPr>
            <a:r>
              <a:rPr lang="en" sz="1400" u="sng" dirty="0">
                <a:solidFill>
                  <a:schemeClr val="hlink"/>
                </a:solidFill>
                <a:hlinkClick r:id="rId4"/>
              </a:rPr>
              <a:t>Digital Ocean App Platform</a:t>
            </a:r>
            <a:endParaRPr sz="1400" dirty="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 u="sng" dirty="0">
                <a:solidFill>
                  <a:schemeClr val="hlink"/>
                </a:solidFill>
                <a:hlinkClick r:id="rId5"/>
              </a:rPr>
              <a:t>Netlify</a:t>
            </a:r>
            <a:endParaRPr sz="1400" dirty="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 dirty="0"/>
              <a:t>Google Cloud (take a look at App Engine)</a:t>
            </a:r>
            <a:endParaRPr sz="1400" dirty="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 dirty="0"/>
              <a:t>AWS (take a look at AWS Amplify)</a:t>
            </a:r>
            <a:endParaRPr sz="1400" dirty="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400" dirty="0"/>
              <a:t>Essentially this is a bit of a newer framework and you can deploy it a lot of different places but if it's for a hobby project, vercel would be recommended.</a:t>
            </a:r>
            <a:endParaRPr sz="1400" dirty="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sz="1400" dirty="0"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9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does one Deploy a Next.js application</a:t>
            </a:r>
            <a:endParaRPr/>
          </a:p>
        </p:txBody>
      </p:sp>
      <p:sp>
        <p:nvSpPr>
          <p:cNvPr id="104" name="Google Shape;104;p19"/>
          <p:cNvSpPr txBox="1">
            <a:spLocks noGrp="1"/>
          </p:cNvSpPr>
          <p:nvPr>
            <p:ph type="body" idx="1"/>
          </p:nvPr>
        </p:nvSpPr>
        <p:spPr>
          <a:xfrm>
            <a:off x="387900" y="1261825"/>
            <a:ext cx="8368200" cy="34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There’s a lot of different ways to deploy an application. The most seamless way is normally doing a “Continuous Deployment” approach. This is great because everytime you push (or merge a pull request) to the “main” branch in your github (or other provider) repository you essentially deploy your application.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Here’s a couple of ways to do deploy to Vercel:</a:t>
            </a:r>
            <a:endParaRPr/>
          </a:p>
          <a:p>
            <a:pPr marL="457200" lvl="0" indent="-342900" algn="l" rtl="0">
              <a:spcBef>
                <a:spcPts val="16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Using </a:t>
            </a:r>
            <a:r>
              <a:rPr lang="en" u="sng">
                <a:solidFill>
                  <a:schemeClr val="hlink"/>
                </a:solidFill>
                <a:hlinkClick r:id="rId3"/>
              </a:rPr>
              <a:t>github (connected to vercel)</a:t>
            </a:r>
            <a:r>
              <a:rPr lang="en"/>
              <a:t> which is the way we’ll look at, one of the more common ways of using vercel.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Using </a:t>
            </a:r>
            <a:r>
              <a:rPr lang="en" u="sng">
                <a:solidFill>
                  <a:schemeClr val="hlink"/>
                </a:solidFill>
                <a:hlinkClick r:id="rId4"/>
              </a:rPr>
              <a:t>github (with github actions)</a:t>
            </a:r>
            <a:r>
              <a:rPr lang="en"/>
              <a:t> if you want to leverage github actions.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Using the </a:t>
            </a:r>
            <a:r>
              <a:rPr lang="en" u="sng">
                <a:solidFill>
                  <a:schemeClr val="hlink"/>
                </a:solidFill>
                <a:hlinkClick r:id="rId5"/>
              </a:rPr>
              <a:t>Vercel CLI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0"/>
          <p:cNvSpPr txBox="1">
            <a:spLocks noGrp="1"/>
          </p:cNvSpPr>
          <p:nvPr>
            <p:ph type="title"/>
          </p:nvPr>
        </p:nvSpPr>
        <p:spPr>
          <a:xfrm>
            <a:off x="480750" y="1764950"/>
            <a:ext cx="8222100" cy="90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Let’s do a deployment!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1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Resources</a:t>
            </a:r>
            <a:endParaRPr/>
          </a:p>
        </p:txBody>
      </p:sp>
      <p:sp>
        <p:nvSpPr>
          <p:cNvPr id="115" name="Google Shape;115;p21"/>
          <p:cNvSpPr txBox="1">
            <a:spLocks noGrp="1"/>
          </p:cNvSpPr>
          <p:nvPr>
            <p:ph type="body" idx="1"/>
          </p:nvPr>
        </p:nvSpPr>
        <p:spPr>
          <a:xfrm>
            <a:off x="387900" y="1185024"/>
            <a:ext cx="83682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For everything deployment on vercel go take a look here</a:t>
            </a:r>
            <a:br>
              <a:rPr lang="en"/>
            </a:br>
            <a:r>
              <a:rPr lang="en" u="sng">
                <a:solidFill>
                  <a:schemeClr val="hlink"/>
                </a:solidFill>
                <a:hlinkClick r:id="rId3"/>
              </a:rPr>
              <a:t>https://vercel.com/docs/concepts/deployments/overview</a:t>
            </a:r>
            <a:r>
              <a:rPr lang="en"/>
              <a:t> 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longer explanation of CI/CD</a:t>
            </a:r>
            <a:br>
              <a:rPr lang="en"/>
            </a:br>
            <a:r>
              <a:rPr lang="en" u="sng">
                <a:solidFill>
                  <a:schemeClr val="hlink"/>
                </a:solidFill>
                <a:hlinkClick r:id="rId4"/>
              </a:rPr>
              <a:t>https://resources.github.com/ci-cd/</a:t>
            </a:r>
            <a:r>
              <a:rPr lang="en"/>
              <a:t> </a:t>
            </a:r>
            <a:br>
              <a:rPr lang="en"/>
            </a:b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arina">
  <a:themeElements>
    <a:clrScheme name="Marina">
      <a:dk1>
        <a:srgbClr val="FFFFFF"/>
      </a:dk1>
      <a:lt1>
        <a:srgbClr val="00517C"/>
      </a:lt1>
      <a:dk2>
        <a:srgbClr val="004065"/>
      </a:dk2>
      <a:lt2>
        <a:srgbClr val="CFD8DC"/>
      </a:lt2>
      <a:accent1>
        <a:srgbClr val="0277BD"/>
      </a:accent1>
      <a:accent2>
        <a:srgbClr val="558B2F"/>
      </a:accent2>
      <a:accent3>
        <a:srgbClr val="009688"/>
      </a:accent3>
      <a:accent4>
        <a:srgbClr val="039BE5"/>
      </a:accent4>
      <a:accent5>
        <a:srgbClr val="8BC34A"/>
      </a:accent5>
      <a:accent6>
        <a:srgbClr val="FFEB38"/>
      </a:accent6>
      <a:hlink>
        <a:srgbClr val="8BC34A"/>
      </a:hlink>
      <a:folHlink>
        <a:srgbClr val="8BC34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307</TotalTime>
  <Words>548</Words>
  <Application>Microsoft Office PowerPoint</Application>
  <PresentationFormat>On-screen Show (16:9)</PresentationFormat>
  <Paragraphs>45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Roboto</vt:lpstr>
      <vt:lpstr>Roboto Slab</vt:lpstr>
      <vt:lpstr>Marina</vt:lpstr>
      <vt:lpstr>Deployment With Vercel</vt:lpstr>
      <vt:lpstr>Announcements</vt:lpstr>
      <vt:lpstr>Where are we?</vt:lpstr>
      <vt:lpstr>Expectations - What I expect from you</vt:lpstr>
      <vt:lpstr>What is a Deployment?</vt:lpstr>
      <vt:lpstr>Vercel and other deployment options</vt:lpstr>
      <vt:lpstr>How does one Deploy a Next.js application</vt:lpstr>
      <vt:lpstr>Let’s do a deployment!</vt:lpstr>
      <vt:lpstr>Resources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Jhimlie Eustaquio</cp:lastModifiedBy>
  <cp:revision>3</cp:revision>
  <dcterms:modified xsi:type="dcterms:W3CDTF">2026-10-24T19:43:05Z</dcterms:modified>
</cp:coreProperties>
</file>