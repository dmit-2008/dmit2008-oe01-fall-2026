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Roboto" panose="02000000000000000000" pitchFamily="2" charset="0"/>
      <p:regular r:id="rId11"/>
      <p:bold r:id="rId12"/>
      <p:italic r:id="rId13"/>
      <p:boldItalic r:id="rId14"/>
    </p:embeddedFont>
    <p:embeddedFont>
      <p:font typeface="Roboto Mono" panose="00000009000000000000" pitchFamily="49" charset="0"/>
      <p:regular r:id="rId15"/>
      <p:bold r:id="rId16"/>
      <p:italic r:id="rId17"/>
      <p:boldItalic r:id="rId18"/>
    </p:embeddedFont>
    <p:embeddedFont>
      <p:font typeface="Roboto Slab" pitchFamily="2" charset="0"/>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himlie Eustaquio" userId="056709674e28ecbe" providerId="LiveId" clId="{EE34A1E4-FB65-4281-8752-43B6C66EB902}"/>
    <pc:docChg chg="modSld">
      <pc:chgData name="Jhimlie Eustaquio" userId="056709674e28ecbe" providerId="LiveId" clId="{EE34A1E4-FB65-4281-8752-43B6C66EB902}" dt="2026-10-03T23:03:54.136" v="0"/>
      <pc:docMkLst>
        <pc:docMk/>
      </pc:docMkLst>
      <pc:sldChg chg="modSp modNotes">
        <pc:chgData name="Jhimlie Eustaquio" userId="056709674e28ecbe" providerId="LiveId" clId="{EE34A1E4-FB65-4281-8752-43B6C66EB902}" dt="2026-10-03T23:03:54.136" v="0"/>
        <pc:sldMkLst>
          <pc:docMk/>
          <pc:sldMk cId="0" sldId="259"/>
        </pc:sldMkLst>
        <pc:spChg chg="mod">
          <ac:chgData name="Jhimlie Eustaquio" userId="056709674e28ecbe" providerId="LiveId" clId="{EE34A1E4-FB65-4281-8752-43B6C66EB902}" dt="2026-10-03T23:03:54.136" v="0"/>
          <ac:spMkLst>
            <pc:docMk/>
            <pc:sldMk cId="0" sldId="259"/>
            <ac:spMk id="8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5ad3a4879e_2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5ad3a4879e_2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4c141908b7_0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4c141908b7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80fb9f6395_4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80fb9f6395_4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5cd47e326e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5cd47e326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5cd503524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5cd503524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81620d828e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81620d828e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7bc0a4b21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7bc0a4b21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24800" y="672606"/>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sp>
        <p:nvSpPr>
          <p:cNvPr id="11" name="Google Shape;11;p2"/>
          <p:cNvSpPr/>
          <p:nvPr/>
        </p:nvSpPr>
        <p:spPr>
          <a:xfrm rot="10800000">
            <a:off x="6537563" y="33429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accent5"/>
            </a:solidFill>
            <a:prstDash val="solid"/>
            <a:miter lim="8000"/>
            <a:headEnd type="none" w="sm" len="sm"/>
            <a:tailEnd type="none" w="sm" len="sm"/>
          </a:ln>
        </p:spPr>
      </p:sp>
      <p:cxnSp>
        <p:nvCxnSpPr>
          <p:cNvPr id="12" name="Google Shape;12;p2"/>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3" name="Google Shape;13;p2"/>
          <p:cNvSpPr txBox="1">
            <a:spLocks noGrp="1"/>
          </p:cNvSpPr>
          <p:nvPr>
            <p:ph type="ctrTitle"/>
          </p:nvPr>
        </p:nvSpPr>
        <p:spPr>
          <a:xfrm>
            <a:off x="1680302" y="1188925"/>
            <a:ext cx="5783400" cy="1457400"/>
          </a:xfrm>
          <a:prstGeom prst="rect">
            <a:avLst/>
          </a:prstGeom>
        </p:spPr>
        <p:txBody>
          <a:bodyPr spcFirstLastPara="1" wrap="square" lIns="91425" tIns="91425" rIns="91425" bIns="91425" anchor="b" anchorCtr="0">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a:endParaRPr/>
          </a:p>
        </p:txBody>
      </p:sp>
      <p:sp>
        <p:nvSpPr>
          <p:cNvPr id="14" name="Google Shape;14;p2"/>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a:endParaRPr/>
          </a:p>
        </p:txBody>
      </p:sp>
      <p:sp>
        <p:nvSpPr>
          <p:cNvPr id="15" name="Google Shape;15;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w="38100" cap="flat" cmpd="sng">
            <a:solidFill>
              <a:schemeClr val="accent4"/>
            </a:solidFill>
            <a:prstDash val="solid"/>
            <a:round/>
            <a:headEnd type="none" w="sm" len="sm"/>
            <a:tailEnd type="none" w="sm" len="sm"/>
          </a:ln>
        </p:spPr>
      </p:cxnSp>
      <p:sp>
        <p:nvSpPr>
          <p:cNvPr id="18" name="Google Shape;18;p3"/>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2" name="Google Shape;22;p4"/>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 name="Google Shape;23;p4"/>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w="38100" cap="flat" cmpd="sng">
            <a:solidFill>
              <a:schemeClr val="accent4"/>
            </a:solidFill>
            <a:prstDash val="solid"/>
            <a:round/>
            <a:headEnd type="none" w="sm" len="sm"/>
            <a:tailEnd type="none" w="sm" len="sm"/>
          </a:ln>
        </p:spPr>
      </p:cxnSp>
      <p:sp>
        <p:nvSpPr>
          <p:cNvPr id="27" name="Google Shape;27;p5"/>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 name="Google Shape;28;p5"/>
          <p:cNvSpPr txBox="1">
            <a:spLocks noGrp="1"/>
          </p:cNvSpPr>
          <p:nvPr>
            <p:ph type="body" idx="1"/>
          </p:nvPr>
        </p:nvSpPr>
        <p:spPr>
          <a:xfrm>
            <a:off x="3879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756200" y="1489825"/>
            <a:ext cx="3999900" cy="3078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3" name="Google Shape;33;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w="38100" cap="flat" cmpd="sng">
            <a:solidFill>
              <a:schemeClr val="accent4"/>
            </a:solidFill>
            <a:prstDash val="solid"/>
            <a:round/>
            <a:headEnd type="none" w="sm" len="sm"/>
            <a:tailEnd type="none" w="sm" len="sm"/>
          </a:ln>
        </p:spPr>
      </p:cxnSp>
      <p:sp>
        <p:nvSpPr>
          <p:cNvPr id="36" name="Google Shape;36;p7"/>
          <p:cNvSpPr txBox="1">
            <a:spLocks noGrp="1"/>
          </p:cNvSpPr>
          <p:nvPr>
            <p:ph type="title"/>
          </p:nvPr>
        </p:nvSpPr>
        <p:spPr>
          <a:xfrm>
            <a:off x="3879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87900" y="1594025"/>
            <a:ext cx="2808000" cy="2681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8" name="Google Shape;3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4" name="Google Shape;44;p9"/>
          <p:cNvCxnSpPr/>
          <p:nvPr/>
        </p:nvCxnSpPr>
        <p:spPr>
          <a:xfrm>
            <a:off x="5029675" y="4495503"/>
            <a:ext cx="540900" cy="0"/>
          </a:xfrm>
          <a:prstGeom prst="straightConnector1">
            <a:avLst/>
          </a:prstGeom>
          <a:noFill/>
          <a:ln w="38100" cap="flat" cmpd="sng">
            <a:solidFill>
              <a:schemeClr val="accent5"/>
            </a:solidFill>
            <a:prstDash val="solid"/>
            <a:round/>
            <a:headEnd type="none" w="sm" len="sm"/>
            <a:tailEnd type="none" w="sm" len="sm"/>
          </a:ln>
        </p:spPr>
      </p:cxnSp>
      <p:sp>
        <p:nvSpPr>
          <p:cNvPr id="45" name="Google Shape;45;p9"/>
          <p:cNvSpPr txBox="1">
            <a:spLocks noGrp="1"/>
          </p:cNvSpPr>
          <p:nvPr>
            <p:ph type="title"/>
          </p:nvPr>
        </p:nvSpPr>
        <p:spPr>
          <a:xfrm>
            <a:off x="265500" y="1209075"/>
            <a:ext cx="4045200" cy="1506300"/>
          </a:xfrm>
          <a:prstGeom prst="rect">
            <a:avLst/>
          </a:prstGeom>
        </p:spPr>
        <p:txBody>
          <a:bodyPr spcFirstLastPara="1" wrap="square" lIns="91425" tIns="91425" rIns="91425" bIns="91425" anchor="b" anchorCtr="0">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46" name="Google Shape;46;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47" name="Google Shape;47;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9500" y="42337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1"/>
          <p:cNvSpPr txBox="1">
            <a:spLocks noGrp="1"/>
          </p:cNvSpPr>
          <p:nvPr>
            <p:ph type="title" hasCustomPrompt="1"/>
          </p:nvPr>
        </p:nvSpPr>
        <p:spPr>
          <a:xfrm>
            <a:off x="387900" y="1152450"/>
            <a:ext cx="8368200" cy="1538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a:spLocks noGrp="1"/>
          </p:cNvSpPr>
          <p:nvPr>
            <p:ph type="body" idx="1"/>
          </p:nvPr>
        </p:nvSpPr>
        <p:spPr>
          <a:xfrm>
            <a:off x="387900" y="2919450"/>
            <a:ext cx="83682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rina">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87900" y="458025"/>
            <a:ext cx="8368200" cy="6861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a:endParaRPr/>
          </a:p>
        </p:txBody>
      </p:sp>
      <p:sp>
        <p:nvSpPr>
          <p:cNvPr id="7" name="Google Shape;7;p1"/>
          <p:cNvSpPr txBox="1">
            <a:spLocks noGrp="1"/>
          </p:cNvSpPr>
          <p:nvPr>
            <p:ph type="body" idx="1"/>
          </p:nvPr>
        </p:nvSpPr>
        <p:spPr>
          <a:xfrm>
            <a:off x="387900" y="1489824"/>
            <a:ext cx="8368200" cy="30789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HackerNews/API#items"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hyperlink" Target="https://jsfiddle.net/dgmouris/9ug6518w/14/"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typicode/json-server" TargetMode="Externa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xfrm>
            <a:off x="1628877" y="1219800"/>
            <a:ext cx="5783400" cy="1457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React State and REST APIs</a:t>
            </a:r>
            <a:endParaRPr/>
          </a:p>
        </p:txBody>
      </p:sp>
      <p:sp>
        <p:nvSpPr>
          <p:cNvPr id="64" name="Google Shape;64;p13"/>
          <p:cNvSpPr txBox="1">
            <a:spLocks noGrp="1"/>
          </p:cNvSpPr>
          <p:nvPr>
            <p:ph type="subTitle" idx="1"/>
          </p:nvPr>
        </p:nvSpPr>
        <p:spPr>
          <a:xfrm>
            <a:off x="1680302" y="3049450"/>
            <a:ext cx="5783400" cy="909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Javascript DMIT 2008</a:t>
            </a:r>
            <a:endParaRPr/>
          </a:p>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48400" y="1440025"/>
            <a:ext cx="4045200" cy="1506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Where are we?</a:t>
            </a:r>
            <a:endParaRPr/>
          </a:p>
        </p:txBody>
      </p:sp>
      <p:sp>
        <p:nvSpPr>
          <p:cNvPr id="75" name="Google Shape;75;p15"/>
          <p:cNvSpPr txBox="1">
            <a:spLocks noGrp="1"/>
          </p:cNvSpPr>
          <p:nvPr>
            <p:ph type="body" idx="2"/>
          </p:nvPr>
        </p:nvSpPr>
        <p:spPr>
          <a:xfrm>
            <a:off x="4937025" y="724200"/>
            <a:ext cx="4297200" cy="3695100"/>
          </a:xfrm>
          <a:prstGeom prst="rect">
            <a:avLst/>
          </a:prstGeom>
        </p:spPr>
        <p:txBody>
          <a:bodyPr spcFirstLastPara="1" wrap="square" lIns="91425" tIns="91425" rIns="91425" bIns="91425" anchor="ctr" anchorCtr="0">
            <a:noAutofit/>
          </a:bodyPr>
          <a:lstStyle/>
          <a:p>
            <a:pPr marL="457200" lvl="0" indent="-330200" algn="l" rtl="0">
              <a:spcBef>
                <a:spcPts val="0"/>
              </a:spcBef>
              <a:spcAft>
                <a:spcPts val="0"/>
              </a:spcAft>
              <a:buSzPts val="1600"/>
              <a:buAutoNum type="arabicPeriod"/>
            </a:pPr>
            <a:r>
              <a:rPr lang="en" sz="1600"/>
              <a:t>Expectations</a:t>
            </a:r>
            <a:endParaRPr sz="1600"/>
          </a:p>
          <a:p>
            <a:pPr marL="457200" lvl="0" indent="-330200" algn="l" rtl="0">
              <a:spcBef>
                <a:spcPts val="0"/>
              </a:spcBef>
              <a:spcAft>
                <a:spcPts val="0"/>
              </a:spcAft>
              <a:buSzPts val="1600"/>
              <a:buAutoNum type="arabicPeriod"/>
            </a:pPr>
            <a:r>
              <a:rPr lang="en" sz="1600"/>
              <a:t>React State and REST APIs</a:t>
            </a:r>
            <a:endParaRPr sz="1600"/>
          </a:p>
          <a:p>
            <a:pPr marL="914400" lvl="1" indent="-330200" algn="l" rtl="0">
              <a:spcBef>
                <a:spcPts val="0"/>
              </a:spcBef>
              <a:spcAft>
                <a:spcPts val="0"/>
              </a:spcAft>
              <a:buSzPts val="1600"/>
              <a:buAutoNum type="alphaLcPeriod"/>
            </a:pPr>
            <a:r>
              <a:rPr lang="en" sz="1600"/>
              <a:t>Introduction</a:t>
            </a:r>
            <a:endParaRPr sz="1600"/>
          </a:p>
          <a:p>
            <a:pPr marL="914400" lvl="1" indent="-330200" algn="l" rtl="0">
              <a:spcBef>
                <a:spcPts val="0"/>
              </a:spcBef>
              <a:spcAft>
                <a:spcPts val="0"/>
              </a:spcAft>
              <a:buSzPts val="1600"/>
              <a:buAutoNum type="alphaLcPeriod"/>
            </a:pPr>
            <a:r>
              <a:rPr lang="en" sz="1600"/>
              <a:t>Example</a:t>
            </a:r>
            <a:endParaRPr sz="1600"/>
          </a:p>
          <a:p>
            <a:pPr marL="457200" lvl="0" indent="-330200" algn="l" rtl="0">
              <a:spcBef>
                <a:spcPts val="0"/>
              </a:spcBef>
              <a:spcAft>
                <a:spcPts val="0"/>
              </a:spcAft>
              <a:buSzPts val="1600"/>
              <a:buAutoNum type="arabicPeriod"/>
            </a:pPr>
            <a:r>
              <a:rPr lang="en" sz="1600"/>
              <a:t>A Custom Backend</a:t>
            </a:r>
            <a:endParaRPr sz="1600"/>
          </a:p>
          <a:p>
            <a:pPr marL="914400" lvl="1" indent="-330200" algn="l" rtl="0">
              <a:spcBef>
                <a:spcPts val="0"/>
              </a:spcBef>
              <a:spcAft>
                <a:spcPts val="0"/>
              </a:spcAft>
              <a:buSzPts val="1600"/>
              <a:buAutoNum type="alphaLcPeriod"/>
            </a:pPr>
            <a:r>
              <a:rPr lang="en" sz="1600"/>
              <a:t>JSON-server</a:t>
            </a:r>
            <a:endParaRPr sz="1600"/>
          </a:p>
          <a:p>
            <a:pPr marL="457200" lvl="0" indent="-330200" algn="l" rtl="0">
              <a:spcBef>
                <a:spcPts val="0"/>
              </a:spcBef>
              <a:spcAft>
                <a:spcPts val="0"/>
              </a:spcAft>
              <a:buSzPts val="1600"/>
              <a:buAutoNum type="arabicPeriod"/>
            </a:pPr>
            <a:r>
              <a:rPr lang="en" sz="1600"/>
              <a:t>Examples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Expectations - What I expect from you</a:t>
            </a:r>
            <a:endParaRPr/>
          </a:p>
        </p:txBody>
      </p:sp>
      <p:sp>
        <p:nvSpPr>
          <p:cNvPr id="81" name="Google Shape;81;p16"/>
          <p:cNvSpPr txBox="1">
            <a:spLocks noGrp="1"/>
          </p:cNvSpPr>
          <p:nvPr>
            <p:ph type="body" idx="1"/>
          </p:nvPr>
        </p:nvSpPr>
        <p:spPr>
          <a:xfrm>
            <a:off x="387900" y="1489824"/>
            <a:ext cx="8368200" cy="3078900"/>
          </a:xfrm>
          <a:prstGeom prst="rect">
            <a:avLst/>
          </a:prstGeom>
        </p:spPr>
        <p:txBody>
          <a:bodyPr spcFirstLastPara="1" wrap="square" lIns="91425" tIns="91425" rIns="91425" bIns="91425" anchor="t" anchorCtr="0">
            <a:noAutofit/>
          </a:bodyPr>
          <a:lstStyle/>
          <a:p>
            <a:pPr>
              <a:buFont typeface="Roboto"/>
              <a:buAutoNum type="arabicPeriod"/>
            </a:pPr>
            <a:r>
              <a:rPr lang="en-US" dirty="0"/>
              <a:t>Pay Attention and ask questions while on session.</a:t>
            </a:r>
          </a:p>
          <a:p>
            <a:pPr>
              <a:buFont typeface="Roboto"/>
              <a:buAutoNum type="arabicPeriod"/>
            </a:pPr>
            <a:r>
              <a:rPr lang="en-US" dirty="0"/>
              <a:t>Follow along the coding exercises.</a:t>
            </a:r>
          </a:p>
          <a:p>
            <a:pPr>
              <a:buFont typeface="Roboto"/>
              <a:buAutoNum type="arabicPeriod"/>
            </a:pPr>
            <a:r>
              <a:rPr lang="en-US" dirty="0"/>
              <a:t>Focus on the task on hand, don’t go wandering.</a:t>
            </a:r>
          </a:p>
          <a:p>
            <a:pPr>
              <a:buFont typeface="Roboto"/>
              <a:buAutoNum type="arabicPeriod"/>
            </a:pPr>
            <a:r>
              <a:rPr lang="en-US" dirty="0"/>
              <a:t>No late submission of Assignments.</a:t>
            </a:r>
          </a:p>
          <a:p>
            <a:pPr>
              <a:buFont typeface="Roboto"/>
              <a:buAutoNum type="arabicPeriod"/>
            </a:pPr>
            <a:r>
              <a:rPr lang="en-US" dirty="0"/>
              <a:t>Commit your codes to your Assignment repositories day-to-day to </a:t>
            </a:r>
            <a:r>
              <a:rPr lang="en-CA" dirty="0"/>
              <a:t>demonstrate incremental development of your solution.</a:t>
            </a:r>
            <a:endParaRPr lang="en-US" dirty="0"/>
          </a:p>
          <a:p>
            <a:pPr>
              <a:buFont typeface="Roboto"/>
              <a:buAutoNum type="arabicPeriod"/>
            </a:pPr>
            <a:r>
              <a:rPr lang="en-US" dirty="0"/>
              <a:t>No cheating on exams.</a:t>
            </a:r>
          </a:p>
          <a:p>
            <a:pPr>
              <a:buFont typeface="Roboto"/>
              <a:buAutoNum type="arabicPeriod"/>
            </a:pPr>
            <a:r>
              <a:rPr lang="en-US" dirty="0"/>
              <a:t>Complete the final project.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React State and REST APIs</a:t>
            </a:r>
            <a:endParaRPr/>
          </a:p>
        </p:txBody>
      </p:sp>
      <p:sp>
        <p:nvSpPr>
          <p:cNvPr id="87" name="Google Shape;87;p17"/>
          <p:cNvSpPr txBox="1">
            <a:spLocks noGrp="1"/>
          </p:cNvSpPr>
          <p:nvPr>
            <p:ph type="body" idx="1"/>
          </p:nvPr>
        </p:nvSpPr>
        <p:spPr>
          <a:xfrm>
            <a:off x="387900" y="1377050"/>
            <a:ext cx="8368200" cy="25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At the beginning of the course we used REST APIs to get data from various sources. In the last section we took a look at how we can affect State in react.</a:t>
            </a:r>
            <a:endParaRPr sz="1400"/>
          </a:p>
          <a:p>
            <a:pPr marL="0" lvl="0" indent="0" algn="l" rtl="0">
              <a:spcBef>
                <a:spcPts val="1600"/>
              </a:spcBef>
              <a:spcAft>
                <a:spcPts val="0"/>
              </a:spcAft>
              <a:buNone/>
            </a:pPr>
            <a:r>
              <a:rPr lang="en" sz="1400"/>
              <a:t>Now we’re going to put them together, and also talk about how to run a small “backend” web server so that we can practice with a customizable REST API that we do what we want. Using a custom backend is most likely what you’ll be doing in the workplace that you work at.</a:t>
            </a:r>
            <a:endParaRPr sz="1400"/>
          </a:p>
          <a:p>
            <a:pPr marL="0" lvl="0" indent="0" algn="l" rtl="0">
              <a:spcBef>
                <a:spcPts val="1600"/>
              </a:spcBef>
              <a:spcAft>
                <a:spcPts val="0"/>
              </a:spcAft>
              <a:buNone/>
            </a:pPr>
            <a:r>
              <a:rPr lang="en" sz="1400"/>
              <a:t>Let’s go dive in!</a:t>
            </a:r>
            <a:endParaRPr sz="1400"/>
          </a:p>
          <a:p>
            <a:pPr marL="0" lvl="0" indent="0" algn="l" rtl="0">
              <a:spcBef>
                <a:spcPts val="1600"/>
              </a:spcBef>
              <a:spcAft>
                <a:spcPts val="1600"/>
              </a:spcAft>
              <a:buNone/>
            </a:pP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React State and REST APIs - Example</a:t>
            </a:r>
            <a:endParaRPr/>
          </a:p>
        </p:txBody>
      </p:sp>
      <p:sp>
        <p:nvSpPr>
          <p:cNvPr id="93" name="Google Shape;93;p18"/>
          <p:cNvSpPr txBox="1">
            <a:spLocks noGrp="1"/>
          </p:cNvSpPr>
          <p:nvPr>
            <p:ph type="body" idx="1"/>
          </p:nvPr>
        </p:nvSpPr>
        <p:spPr>
          <a:xfrm>
            <a:off x="387900" y="1247575"/>
            <a:ext cx="3385500" cy="340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t>Let’s take a look at an example on the right. We’re going to use the </a:t>
            </a:r>
            <a:r>
              <a:rPr lang="en" sz="1200" u="sng">
                <a:solidFill>
                  <a:schemeClr val="hlink"/>
                </a:solidFill>
                <a:hlinkClick r:id="rId3"/>
              </a:rPr>
              <a:t>hacker news api</a:t>
            </a:r>
            <a:r>
              <a:rPr lang="en" sz="1200"/>
              <a:t> to display some data, take a look at the data to see what is returned.</a:t>
            </a:r>
            <a:endParaRPr sz="1200"/>
          </a:p>
          <a:p>
            <a:pPr marL="0" lvl="0" indent="0" algn="l" rtl="0">
              <a:spcBef>
                <a:spcPts val="1600"/>
              </a:spcBef>
              <a:spcAft>
                <a:spcPts val="0"/>
              </a:spcAft>
              <a:buNone/>
            </a:pPr>
            <a:r>
              <a:rPr lang="en" sz="1200"/>
              <a:t>Take a look at the JSX first, you see see that we’re only going to display the link if “</a:t>
            </a:r>
            <a:r>
              <a:rPr lang="en" sz="950">
                <a:solidFill>
                  <a:srgbClr val="ECEFF1"/>
                </a:solidFill>
                <a:latin typeface="Roboto Mono"/>
                <a:ea typeface="Roboto Mono"/>
                <a:cs typeface="Roboto Mono"/>
                <a:sym typeface="Roboto Mono"/>
              </a:rPr>
              <a:t>restData</a:t>
            </a:r>
            <a:r>
              <a:rPr lang="en" sz="1200"/>
              <a:t>” is defined or true. You can also see the original value of “</a:t>
            </a:r>
            <a:r>
              <a:rPr lang="en" sz="950">
                <a:solidFill>
                  <a:srgbClr val="ECEFF1"/>
                </a:solidFill>
                <a:latin typeface="Roboto Mono"/>
                <a:ea typeface="Roboto Mono"/>
                <a:cs typeface="Roboto Mono"/>
                <a:sym typeface="Roboto Mono"/>
              </a:rPr>
              <a:t>restData</a:t>
            </a:r>
            <a:r>
              <a:rPr lang="en" sz="1200"/>
              <a:t>”will be “undefined”.</a:t>
            </a:r>
            <a:endParaRPr sz="1200"/>
          </a:p>
          <a:p>
            <a:pPr marL="0" lvl="0" indent="0" algn="l" rtl="0">
              <a:spcBef>
                <a:spcPts val="1600"/>
              </a:spcBef>
              <a:spcAft>
                <a:spcPts val="1600"/>
              </a:spcAft>
              <a:buNone/>
            </a:pPr>
            <a:r>
              <a:rPr lang="en" sz="1200"/>
              <a:t>Now if you click the button the “</a:t>
            </a:r>
            <a:r>
              <a:rPr lang="en" sz="950">
                <a:solidFill>
                  <a:srgbClr val="ECEFF1"/>
                </a:solidFill>
                <a:latin typeface="Roboto Mono"/>
                <a:ea typeface="Roboto Mono"/>
                <a:cs typeface="Roboto Mono"/>
                <a:sym typeface="Roboto Mono"/>
              </a:rPr>
              <a:t>clickHandler</a:t>
            </a:r>
            <a:r>
              <a:rPr lang="en" sz="1200"/>
              <a:t>” will execute. In the function we “</a:t>
            </a:r>
            <a:r>
              <a:rPr lang="en" sz="950">
                <a:solidFill>
                  <a:srgbClr val="ECEFF1"/>
                </a:solidFill>
                <a:latin typeface="Roboto Mono"/>
                <a:ea typeface="Roboto Mono"/>
                <a:cs typeface="Roboto Mono"/>
                <a:sym typeface="Roboto Mono"/>
              </a:rPr>
              <a:t>fetch(</a:t>
            </a:r>
            <a:r>
              <a:rPr lang="en" sz="950">
                <a:solidFill>
                  <a:srgbClr val="FBC02D"/>
                </a:solidFill>
                <a:latin typeface="Roboto Mono"/>
                <a:ea typeface="Roboto Mono"/>
                <a:cs typeface="Roboto Mono"/>
                <a:sym typeface="Roboto Mono"/>
              </a:rPr>
              <a:t>SAMPLE_URL</a:t>
            </a:r>
            <a:r>
              <a:rPr lang="en" sz="950">
                <a:solidFill>
                  <a:srgbClr val="ECEFF1"/>
                </a:solidFill>
                <a:latin typeface="Roboto Mono"/>
                <a:ea typeface="Roboto Mono"/>
                <a:cs typeface="Roboto Mono"/>
                <a:sym typeface="Roboto Mono"/>
              </a:rPr>
              <a:t>)</a:t>
            </a:r>
            <a:r>
              <a:rPr lang="en" sz="1200"/>
              <a:t>”, in the final promise resolution we use “</a:t>
            </a:r>
            <a:r>
              <a:rPr lang="en" sz="950">
                <a:solidFill>
                  <a:srgbClr val="ECEFF1"/>
                </a:solidFill>
                <a:latin typeface="Roboto Mono"/>
                <a:ea typeface="Roboto Mono"/>
                <a:cs typeface="Roboto Mono"/>
                <a:sym typeface="Roboto Mono"/>
              </a:rPr>
              <a:t>setRestData(data)</a:t>
            </a:r>
            <a:r>
              <a:rPr lang="en" sz="1200"/>
              <a:t>” to update the “</a:t>
            </a:r>
            <a:r>
              <a:rPr lang="en" sz="950">
                <a:solidFill>
                  <a:srgbClr val="ECEFF1"/>
                </a:solidFill>
                <a:latin typeface="Roboto Mono"/>
                <a:ea typeface="Roboto Mono"/>
                <a:cs typeface="Roboto Mono"/>
                <a:sym typeface="Roboto Mono"/>
              </a:rPr>
              <a:t>restData</a:t>
            </a:r>
            <a:r>
              <a:rPr lang="en" sz="1200"/>
              <a:t>”. This will change the “</a:t>
            </a:r>
            <a:r>
              <a:rPr lang="en" sz="950">
                <a:solidFill>
                  <a:srgbClr val="ECEFF1"/>
                </a:solidFill>
                <a:latin typeface="Roboto Mono"/>
                <a:ea typeface="Roboto Mono"/>
                <a:cs typeface="Roboto Mono"/>
                <a:sym typeface="Roboto Mono"/>
              </a:rPr>
              <a:t>restData</a:t>
            </a:r>
            <a:r>
              <a:rPr lang="en" sz="1200"/>
              <a:t>” to be a defined object and will display on the page.</a:t>
            </a:r>
            <a:endParaRPr sz="1200"/>
          </a:p>
        </p:txBody>
      </p:sp>
      <p:sp>
        <p:nvSpPr>
          <p:cNvPr id="94" name="Google Shape;94;p18"/>
          <p:cNvSpPr txBox="1"/>
          <p:nvPr/>
        </p:nvSpPr>
        <p:spPr>
          <a:xfrm>
            <a:off x="3773325" y="1489825"/>
            <a:ext cx="5515500" cy="340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50">
                <a:solidFill>
                  <a:srgbClr val="4DD0E1"/>
                </a:solidFill>
                <a:latin typeface="Roboto Mono"/>
                <a:ea typeface="Roboto Mono"/>
                <a:cs typeface="Roboto Mono"/>
                <a:sym typeface="Roboto Mono"/>
              </a:rPr>
              <a:t>const</a:t>
            </a:r>
            <a:r>
              <a:rPr lang="en" sz="950">
                <a:solidFill>
                  <a:srgbClr val="ECEFF1"/>
                </a:solidFill>
                <a:latin typeface="Roboto Mono"/>
                <a:ea typeface="Roboto Mono"/>
                <a:cs typeface="Roboto Mono"/>
                <a:sym typeface="Roboto Mono"/>
              </a:rPr>
              <a:t> </a:t>
            </a:r>
            <a:r>
              <a:rPr lang="en" sz="950">
                <a:solidFill>
                  <a:srgbClr val="FBC02D"/>
                </a:solidFill>
                <a:latin typeface="Roboto Mono"/>
                <a:ea typeface="Roboto Mono"/>
                <a:cs typeface="Roboto Mono"/>
                <a:sym typeface="Roboto Mono"/>
              </a:rPr>
              <a:t>SAMPLE_URL</a:t>
            </a:r>
            <a:r>
              <a:rPr lang="en" sz="950">
                <a:solidFill>
                  <a:srgbClr val="ECEFF1"/>
                </a:solidFill>
                <a:latin typeface="Roboto Mono"/>
                <a:ea typeface="Roboto Mono"/>
                <a:cs typeface="Roboto Mono"/>
                <a:sym typeface="Roboto Mono"/>
              </a:rPr>
              <a:t> = </a:t>
            </a:r>
            <a:r>
              <a:rPr lang="en" sz="950">
                <a:solidFill>
                  <a:srgbClr val="9CCC65"/>
                </a:solidFill>
                <a:latin typeface="Roboto Mono"/>
                <a:ea typeface="Roboto Mono"/>
                <a:cs typeface="Roboto Mono"/>
                <a:sym typeface="Roboto Mono"/>
              </a:rPr>
              <a:t>"https://hacker-news.firebaseio.com/v0/item/8863.json</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4DD0E1"/>
                </a:solidFill>
                <a:latin typeface="Roboto Mono"/>
                <a:ea typeface="Roboto Mono"/>
                <a:cs typeface="Roboto Mono"/>
                <a:sym typeface="Roboto Mono"/>
              </a:rPr>
              <a:t>const</a:t>
            </a:r>
            <a:r>
              <a:rPr lang="en" sz="950">
                <a:solidFill>
                  <a:srgbClr val="ECEFF1"/>
                </a:solidFill>
                <a:latin typeface="Roboto Mono"/>
                <a:ea typeface="Roboto Mono"/>
                <a:cs typeface="Roboto Mono"/>
                <a:sym typeface="Roboto Mono"/>
              </a:rPr>
              <a:t> App = () =&gt;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const</a:t>
            </a:r>
            <a:r>
              <a:rPr lang="en" sz="950">
                <a:solidFill>
                  <a:srgbClr val="ECEFF1"/>
                </a:solidFill>
                <a:latin typeface="Roboto Mono"/>
                <a:ea typeface="Roboto Mono"/>
                <a:cs typeface="Roboto Mono"/>
                <a:sym typeface="Roboto Mono"/>
              </a:rPr>
              <a:t> [restData, setRestData] = React.useState();</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const</a:t>
            </a:r>
            <a:r>
              <a:rPr lang="en" sz="950">
                <a:solidFill>
                  <a:srgbClr val="ECEFF1"/>
                </a:solidFill>
                <a:latin typeface="Roboto Mono"/>
                <a:ea typeface="Roboto Mono"/>
                <a:cs typeface="Roboto Mono"/>
                <a:sym typeface="Roboto Mono"/>
              </a:rPr>
              <a:t> clickHandler = (event) =&gt;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fetch(</a:t>
            </a:r>
            <a:r>
              <a:rPr lang="en" sz="950">
                <a:solidFill>
                  <a:srgbClr val="FBC02D"/>
                </a:solidFill>
                <a:latin typeface="Roboto Mono"/>
                <a:ea typeface="Roboto Mono"/>
                <a:cs typeface="Roboto Mono"/>
                <a:sym typeface="Roboto Mono"/>
              </a:rPr>
              <a:t>SAMPLE_URL</a:t>
            </a: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.then((response)=&gt;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return</a:t>
            </a:r>
            <a:r>
              <a:rPr lang="en" sz="950">
                <a:solidFill>
                  <a:srgbClr val="ECEFF1"/>
                </a:solidFill>
                <a:latin typeface="Roboto Mono"/>
                <a:ea typeface="Roboto Mono"/>
                <a:cs typeface="Roboto Mono"/>
                <a:sym typeface="Roboto Mono"/>
              </a:rPr>
              <a:t> response.json()</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}).then((data)=&gt;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setRestData(data)</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a:t>
            </a:r>
            <a:r>
              <a:rPr lang="en" sz="950">
                <a:solidFill>
                  <a:srgbClr val="4DD0E1"/>
                </a:solidFill>
                <a:latin typeface="Roboto Mono"/>
                <a:ea typeface="Roboto Mono"/>
                <a:cs typeface="Roboto Mono"/>
                <a:sym typeface="Roboto Mono"/>
              </a:rPr>
              <a:t>return</a:t>
            </a:r>
            <a:r>
              <a:rPr lang="en" sz="950">
                <a:solidFill>
                  <a:srgbClr val="ECEFF1"/>
                </a:solidFill>
                <a:latin typeface="Roboto Mono"/>
                <a:ea typeface="Roboto Mono"/>
                <a:cs typeface="Roboto Mono"/>
                <a:sym typeface="Roboto Mono"/>
              </a:rPr>
              <a:t> (&lt;div&gt;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&lt;p&gt;{ restData &amp;&amp; </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&lt;a href={restData.url}&gt;{restData.title}&lt;/a&gt;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}&lt;/p&gt;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&lt;button onClick ={clickHandler}&gt;Load Data&lt;/button&gt;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    &lt;/div&gt;);</a:t>
            </a:r>
            <a:endParaRPr sz="950">
              <a:solidFill>
                <a:srgbClr val="ECEFF1"/>
              </a:solidFill>
              <a:latin typeface="Roboto Mono"/>
              <a:ea typeface="Roboto Mono"/>
              <a:cs typeface="Roboto Mono"/>
              <a:sym typeface="Roboto Mono"/>
            </a:endParaRPr>
          </a:p>
          <a:p>
            <a:pPr marL="0" lvl="0" indent="0" algn="l" rtl="0">
              <a:spcBef>
                <a:spcPts val="0"/>
              </a:spcBef>
              <a:spcAft>
                <a:spcPts val="0"/>
              </a:spcAft>
              <a:buNone/>
            </a:pPr>
            <a:r>
              <a:rPr lang="en" sz="950">
                <a:solidFill>
                  <a:srgbClr val="ECEFF1"/>
                </a:solidFill>
                <a:latin typeface="Roboto Mono"/>
                <a:ea typeface="Roboto Mono"/>
                <a:cs typeface="Roboto Mono"/>
                <a:sym typeface="Roboto Mono"/>
              </a:rPr>
              <a:t>}</a:t>
            </a:r>
            <a:endParaRPr sz="950">
              <a:solidFill>
                <a:srgbClr val="ECEFF1"/>
              </a:solidFill>
              <a:latin typeface="Roboto Mono"/>
              <a:ea typeface="Roboto Mono"/>
              <a:cs typeface="Roboto Mono"/>
              <a:sym typeface="Roboto Mono"/>
            </a:endParaRPr>
          </a:p>
          <a:p>
            <a:pPr marL="0" lvl="0" indent="0" algn="l" rtl="0">
              <a:lnSpc>
                <a:spcPct val="146739"/>
              </a:lnSpc>
              <a:spcBef>
                <a:spcPts val="0"/>
              </a:spcBef>
              <a:spcAft>
                <a:spcPts val="0"/>
              </a:spcAft>
              <a:buNone/>
            </a:pPr>
            <a:endParaRPr sz="950">
              <a:solidFill>
                <a:srgbClr val="ECEFF1"/>
              </a:solidFill>
              <a:latin typeface="Roboto Mono"/>
              <a:ea typeface="Roboto Mono"/>
              <a:cs typeface="Roboto Mono"/>
              <a:sym typeface="Roboto Mono"/>
            </a:endParaRPr>
          </a:p>
        </p:txBody>
      </p:sp>
      <p:sp>
        <p:nvSpPr>
          <p:cNvPr id="95" name="Google Shape;95;p18"/>
          <p:cNvSpPr txBox="1">
            <a:spLocks noGrp="1"/>
          </p:cNvSpPr>
          <p:nvPr>
            <p:ph type="body" idx="1"/>
          </p:nvPr>
        </p:nvSpPr>
        <p:spPr>
          <a:xfrm>
            <a:off x="3773325" y="1144125"/>
            <a:ext cx="3240600" cy="3456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200" u="sng">
                <a:solidFill>
                  <a:schemeClr val="hlink"/>
                </a:solidFill>
                <a:hlinkClick r:id="rId4"/>
              </a:rPr>
              <a:t>Example of REST APIs with state</a:t>
            </a:r>
            <a:endParaRPr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387900" y="458025"/>
            <a:ext cx="8368200" cy="686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Custom Backend</a:t>
            </a:r>
            <a:endParaRPr/>
          </a:p>
        </p:txBody>
      </p:sp>
      <p:sp>
        <p:nvSpPr>
          <p:cNvPr id="101" name="Google Shape;101;p19"/>
          <p:cNvSpPr txBox="1">
            <a:spLocks noGrp="1"/>
          </p:cNvSpPr>
          <p:nvPr>
            <p:ph type="body" idx="1"/>
          </p:nvPr>
        </p:nvSpPr>
        <p:spPr>
          <a:xfrm>
            <a:off x="387900" y="12612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In both the previous JavaScript course and the current course, we’ve been using external REST APIs that have been shared. Which is really cool because we can just use them as needed!</a:t>
            </a:r>
            <a:endParaRPr sz="1400"/>
          </a:p>
          <a:p>
            <a:pPr marL="0" lvl="0" indent="0" algn="l" rtl="0">
              <a:spcBef>
                <a:spcPts val="1600"/>
              </a:spcBef>
              <a:spcAft>
                <a:spcPts val="0"/>
              </a:spcAft>
              <a:buNone/>
            </a:pPr>
            <a:r>
              <a:rPr lang="en" sz="1400"/>
              <a:t>In reality when you’ll be in the work place, when working with a frontend you’ll most likely be working with a custom backend.</a:t>
            </a:r>
            <a:endParaRPr sz="1400"/>
          </a:p>
          <a:p>
            <a:pPr marL="0" lvl="0" indent="0" algn="l" rtl="0">
              <a:spcBef>
                <a:spcPts val="1600"/>
              </a:spcBef>
              <a:spcAft>
                <a:spcPts val="0"/>
              </a:spcAft>
              <a:buNone/>
            </a:pPr>
            <a:r>
              <a:rPr lang="en" sz="1400"/>
              <a:t>We’re going to use a custom backend and run it </a:t>
            </a:r>
            <a:r>
              <a:rPr lang="en"/>
              <a:t>at the same time (but separately) to our next.js projects.</a:t>
            </a:r>
            <a:endParaRPr/>
          </a:p>
          <a:p>
            <a:pPr marL="0" lvl="0" indent="0" algn="l" rtl="0">
              <a:spcBef>
                <a:spcPts val="1600"/>
              </a:spcBef>
              <a:spcAft>
                <a:spcPts val="1600"/>
              </a:spcAft>
              <a:buNone/>
            </a:pPr>
            <a:r>
              <a:rPr lang="en"/>
              <a:t>We’ll be using the </a:t>
            </a:r>
            <a:r>
              <a:rPr lang="en" u="sng">
                <a:solidFill>
                  <a:schemeClr val="hlink"/>
                </a:solidFill>
                <a:hlinkClick r:id="rId3"/>
              </a:rPr>
              <a:t>“json-server” project</a:t>
            </a:r>
            <a:r>
              <a:rPr lang="en"/>
              <a:t> to create an easy to use back end. </a:t>
            </a:r>
            <a:endParaRPr/>
          </a:p>
        </p:txBody>
      </p:sp>
      <p:sp>
        <p:nvSpPr>
          <p:cNvPr id="102" name="Google Shape;102;p19"/>
          <p:cNvSpPr txBox="1">
            <a:spLocks noGrp="1"/>
          </p:cNvSpPr>
          <p:nvPr>
            <p:ph type="body" idx="2"/>
          </p:nvPr>
        </p:nvSpPr>
        <p:spPr>
          <a:xfrm>
            <a:off x="4756200" y="1261225"/>
            <a:ext cx="3999900" cy="30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Install the json-server with the following command.</a:t>
            </a:r>
            <a:endParaRPr/>
          </a:p>
          <a:p>
            <a:pPr marL="0" lvl="0" indent="0" algn="l" rtl="0">
              <a:lnSpc>
                <a:spcPct val="146739"/>
              </a:lnSpc>
              <a:spcBef>
                <a:spcPts val="1600"/>
              </a:spcBef>
              <a:spcAft>
                <a:spcPts val="0"/>
              </a:spcAft>
              <a:buNone/>
            </a:pPr>
            <a:r>
              <a:rPr lang="en" sz="1150">
                <a:solidFill>
                  <a:srgbClr val="ECEFF1"/>
                </a:solidFill>
                <a:latin typeface="Roboto Mono"/>
                <a:ea typeface="Roboto Mono"/>
                <a:cs typeface="Roboto Mono"/>
                <a:sym typeface="Roboto Mono"/>
              </a:rPr>
              <a:t>npm install -g json-server</a:t>
            </a:r>
            <a:br>
              <a:rPr lang="en" sz="1150">
                <a:solidFill>
                  <a:srgbClr val="ECEFF1"/>
                </a:solidFill>
                <a:latin typeface="Roboto Mono"/>
                <a:ea typeface="Roboto Mono"/>
                <a:cs typeface="Roboto Mono"/>
                <a:sym typeface="Roboto Mono"/>
              </a:rPr>
            </a:br>
            <a:endParaRPr/>
          </a:p>
          <a:p>
            <a:pPr marL="0" lvl="0" indent="0" algn="l" rtl="0">
              <a:spcBef>
                <a:spcPts val="0"/>
              </a:spcBef>
              <a:spcAft>
                <a:spcPts val="0"/>
              </a:spcAft>
              <a:buNone/>
            </a:pPr>
            <a:r>
              <a:rPr lang="en"/>
              <a:t>Make sure you have a json file that will act as your database such as “</a:t>
            </a:r>
            <a:r>
              <a:rPr lang="en" sz="1150">
                <a:solidFill>
                  <a:srgbClr val="ECEFF1"/>
                </a:solidFill>
                <a:latin typeface="Roboto Mono"/>
                <a:ea typeface="Roboto Mono"/>
                <a:cs typeface="Roboto Mono"/>
                <a:sym typeface="Roboto Mono"/>
              </a:rPr>
              <a:t>reviews-db.json</a:t>
            </a:r>
            <a:r>
              <a:rPr lang="en"/>
              <a:t>” and then run it with the following command.</a:t>
            </a:r>
            <a:endParaRPr/>
          </a:p>
          <a:p>
            <a:pPr marL="0" lvl="0" indent="0" algn="l" rtl="0">
              <a:lnSpc>
                <a:spcPct val="146739"/>
              </a:lnSpc>
              <a:spcBef>
                <a:spcPts val="1600"/>
              </a:spcBef>
              <a:spcAft>
                <a:spcPts val="0"/>
              </a:spcAft>
              <a:buNone/>
            </a:pPr>
            <a:r>
              <a:rPr lang="en" sz="1150">
                <a:solidFill>
                  <a:srgbClr val="ECEFF1"/>
                </a:solidFill>
                <a:latin typeface="Roboto Mono"/>
                <a:ea typeface="Roboto Mono"/>
                <a:cs typeface="Roboto Mono"/>
                <a:sym typeface="Roboto Mono"/>
              </a:rPr>
              <a:t>npx json-server --watch reviews-db.json</a:t>
            </a:r>
            <a:br>
              <a:rPr lang="en" sz="1150">
                <a:solidFill>
                  <a:srgbClr val="ECEFF1"/>
                </a:solidFill>
                <a:latin typeface="Roboto Mono"/>
                <a:ea typeface="Roboto Mono"/>
                <a:cs typeface="Roboto Mono"/>
                <a:sym typeface="Roboto Mono"/>
              </a:rPr>
            </a:br>
            <a:endParaRPr/>
          </a:p>
          <a:p>
            <a:pPr marL="0" lvl="0" indent="0" algn="l" rtl="0">
              <a:spcBef>
                <a:spcPts val="0"/>
              </a:spcBef>
              <a:spcAft>
                <a:spcPts val="1600"/>
              </a:spcAft>
              <a:buNone/>
            </a:pPr>
            <a:r>
              <a:rPr lang="en"/>
              <a:t>Note: we’ll be running this in a separate folder than our next.js project.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480750" y="1764950"/>
            <a:ext cx="8222100" cy="9075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Examples</a:t>
            </a:r>
            <a:endParaRPr/>
          </a:p>
        </p:txBody>
      </p:sp>
    </p:spTree>
  </p:cSld>
  <p:clrMapOvr>
    <a:masterClrMapping/>
  </p:clrMapOvr>
</p:sld>
</file>

<file path=ppt/theme/theme1.xml><?xml version="1.0" encoding="utf-8"?>
<a:theme xmlns:a="http://schemas.openxmlformats.org/drawingml/2006/main"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654</Words>
  <Application>Microsoft Office PowerPoint</Application>
  <PresentationFormat>On-screen Show (16:9)</PresentationFormat>
  <Paragraphs>60</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Roboto</vt:lpstr>
      <vt:lpstr>Roboto Slab</vt:lpstr>
      <vt:lpstr>Roboto Mono</vt:lpstr>
      <vt:lpstr>Marina</vt:lpstr>
      <vt:lpstr>React State and REST APIs</vt:lpstr>
      <vt:lpstr>Announcements</vt:lpstr>
      <vt:lpstr>Where are we?</vt:lpstr>
      <vt:lpstr>Expectations - What I expect from you</vt:lpstr>
      <vt:lpstr>React State and REST APIs</vt:lpstr>
      <vt:lpstr>React State and REST APIs - Example</vt:lpstr>
      <vt:lpstr>A Custom Backend</vt:lpstr>
      <vt:lpstr>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Jhimlie Eustaquio</cp:lastModifiedBy>
  <cp:revision>1</cp:revision>
  <dcterms:modified xsi:type="dcterms:W3CDTF">2026-10-03T23:04:08Z</dcterms:modified>
</cp:coreProperties>
</file>