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9" r:id="rId4"/>
    <p:sldId id="258" r:id="rId5"/>
    <p:sldId id="261" r:id="rId6"/>
    <p:sldId id="262" r:id="rId7"/>
    <p:sldId id="263" r:id="rId8"/>
    <p:sldId id="264" r:id="rId9"/>
    <p:sldId id="265" r:id="rId10"/>
    <p:sldId id="266" r:id="rId11"/>
    <p:sldId id="267" r:id="rId12"/>
    <p:sldId id="268" r:id="rId13"/>
    <p:sldId id="269" r:id="rId14"/>
  </p:sldIdLst>
  <p:sldSz cx="9144000" cy="5143500" type="screen16x9"/>
  <p:notesSz cx="6858000" cy="9144000"/>
  <p:embeddedFontLst>
    <p:embeddedFont>
      <p:font typeface="Consolas" panose="020B0609020204030204" pitchFamily="49" charset="0"/>
      <p:regular r:id="rId16"/>
      <p:bold r:id="rId17"/>
      <p:italic r:id="rId18"/>
      <p:boldItalic r:id="rId19"/>
    </p:embeddedFont>
    <p:embeddedFont>
      <p:font typeface="Roboto" panose="02000000000000000000" pitchFamily="2" charset="0"/>
      <p:regular r:id="rId20"/>
      <p:bold r:id="rId21"/>
      <p:italic r:id="rId22"/>
      <p:boldItalic r:id="rId23"/>
    </p:embeddedFont>
    <p:embeddedFont>
      <p:font typeface="Roboto Mono" panose="00000009000000000000" pitchFamily="49" charset="0"/>
      <p:regular r:id="rId24"/>
      <p:bold r:id="rId25"/>
      <p:italic r:id="rId26"/>
      <p:boldItalic r:id="rId27"/>
    </p:embeddedFont>
    <p:embeddedFont>
      <p:font typeface="Roboto Slab" pitchFamily="2"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undo custSel delSld modSld sldOrd">
      <pc:chgData name="Jhimlie Eustaquio" userId="056709674e28ecbe" providerId="LiveId" clId="{EE34A1E4-FB65-4281-8752-43B6C66EB902}" dt="2026-09-12T02:59:53.473" v="274" actId="20577"/>
      <pc:docMkLst>
        <pc:docMk/>
      </pc:docMkLst>
      <pc:sldChg chg="addSp delSp modSp mod ord">
        <pc:chgData name="Jhimlie Eustaquio" userId="056709674e28ecbe" providerId="LiveId" clId="{EE34A1E4-FB65-4281-8752-43B6C66EB902}" dt="2026-09-12T02:59:53.473" v="274" actId="20577"/>
        <pc:sldMkLst>
          <pc:docMk/>
          <pc:sldMk cId="0" sldId="259"/>
        </pc:sldMkLst>
        <pc:spChg chg="add mod">
          <ac:chgData name="Jhimlie Eustaquio" userId="056709674e28ecbe" providerId="LiveId" clId="{EE34A1E4-FB65-4281-8752-43B6C66EB902}" dt="2026-09-12T02:59:53.473" v="274" actId="20577"/>
          <ac:spMkLst>
            <pc:docMk/>
            <pc:sldMk cId="0" sldId="259"/>
            <ac:spMk id="3" creationId="{59649C72-4DA5-A739-177D-40AEF8C785FC}"/>
          </ac:spMkLst>
        </pc:spChg>
        <pc:spChg chg="add del">
          <ac:chgData name="Jhimlie Eustaquio" userId="056709674e28ecbe" providerId="LiveId" clId="{EE34A1E4-FB65-4281-8752-43B6C66EB902}" dt="2026-09-12T02:57:00.801" v="192" actId="22"/>
          <ac:spMkLst>
            <pc:docMk/>
            <pc:sldMk cId="0" sldId="259"/>
            <ac:spMk id="5" creationId="{F7FA1F75-9293-3260-E5E4-B174B386411C}"/>
          </ac:spMkLst>
        </pc:spChg>
        <pc:spChg chg="del mod">
          <ac:chgData name="Jhimlie Eustaquio" userId="056709674e28ecbe" providerId="LiveId" clId="{EE34A1E4-FB65-4281-8752-43B6C66EB902}" dt="2026-09-12T02:56:58.450" v="190" actId="478"/>
          <ac:spMkLst>
            <pc:docMk/>
            <pc:sldMk cId="0" sldId="259"/>
            <ac:spMk id="81" creationId="{00000000-0000-0000-0000-000000000000}"/>
          </ac:spMkLst>
        </pc:spChg>
      </pc:sldChg>
      <pc:sldChg chg="del">
        <pc:chgData name="Jhimlie Eustaquio" userId="056709674e28ecbe" providerId="LiveId" clId="{EE34A1E4-FB65-4281-8752-43B6C66EB902}" dt="2026-09-12T02:56:03.064" v="174" actId="47"/>
        <pc:sldMkLst>
          <pc:docMk/>
          <pc:sldMk cId="0" sldId="260"/>
        </pc:sldMkLst>
      </pc:sldChg>
      <pc:sldChg chg="modSp mod">
        <pc:chgData name="Jhimlie Eustaquio" userId="056709674e28ecbe" providerId="LiveId" clId="{EE34A1E4-FB65-4281-8752-43B6C66EB902}" dt="2026-09-12T02:55:42.626" v="171" actId="20577"/>
        <pc:sldMkLst>
          <pc:docMk/>
          <pc:sldMk cId="0" sldId="261"/>
        </pc:sldMkLst>
        <pc:spChg chg="mod">
          <ac:chgData name="Jhimlie Eustaquio" userId="056709674e28ecbe" providerId="LiveId" clId="{EE34A1E4-FB65-4281-8752-43B6C66EB902}" dt="2026-09-12T02:55:42.626" v="171" actId="20577"/>
          <ac:spMkLst>
            <pc:docMk/>
            <pc:sldMk cId="0" sldId="261"/>
            <ac:spMk id="93" creationId="{00000000-0000-0000-0000-000000000000}"/>
          </ac:spMkLst>
        </pc:spChg>
      </pc:sldChg>
      <pc:sldChg chg="modSp mod">
        <pc:chgData name="Jhimlie Eustaquio" userId="056709674e28ecbe" providerId="LiveId" clId="{EE34A1E4-FB65-4281-8752-43B6C66EB902}" dt="2026-09-06T03:12:36.430" v="59" actId="20577"/>
        <pc:sldMkLst>
          <pc:docMk/>
          <pc:sldMk cId="0" sldId="270"/>
        </pc:sldMkLst>
        <pc:spChg chg="mod">
          <ac:chgData name="Jhimlie Eustaquio" userId="056709674e28ecbe" providerId="LiveId" clId="{EE34A1E4-FB65-4281-8752-43B6C66EB902}" dt="2026-09-02T17:51:17.223" v="7" actId="20577"/>
          <ac:spMkLst>
            <pc:docMk/>
            <pc:sldMk cId="0" sldId="270"/>
            <ac:spMk id="162" creationId="{00000000-0000-0000-0000-000000000000}"/>
          </ac:spMkLst>
        </pc:spChg>
        <pc:spChg chg="mod">
          <ac:chgData name="Jhimlie Eustaquio" userId="056709674e28ecbe" providerId="LiveId" clId="{EE34A1E4-FB65-4281-8752-43B6C66EB902}" dt="2026-09-06T03:12:36.430" v="59" actId="20577"/>
          <ac:spMkLst>
            <pc:docMk/>
            <pc:sldMk cId="0" sldId="270"/>
            <ac:spMk id="16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7c259f0d0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7c259f0d0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7c259f0d0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7c259f0d0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2e8acb71b4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e8acb71b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2e8acb71b4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2e8acb71b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2d20c53dff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2d20c53dff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2e8acb71b4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2e8acb71b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d20c53df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2d20c53d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2d20c53df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2d20c53df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d20c53dff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2d20c53df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7b72d3eb4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7b72d3eb4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jsbin.com/hagikavese/edit?js,console"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kevinyckim33/what-are-promises-in-javascript-f1a5fc5b34bf"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jsbin.com/zumeyuy/edit?js,consol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jsfiddle.net/dgmouris/sa5q7jnk/7/"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 Javascript</a:t>
            </a:r>
            <a:endParaRPr/>
          </a:p>
          <a:p>
            <a:pPr marL="0" lvl="0" indent="0" algn="ctr" rtl="0">
              <a:spcBef>
                <a:spcPts val="0"/>
              </a:spcBef>
              <a:spcAft>
                <a:spcPts val="0"/>
              </a:spcAft>
              <a:buNone/>
            </a:pPr>
            <a:r>
              <a:rPr lang="en"/>
              <a:t>ES5, ES6 and Review</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3" name="Text Placeholder 2">
            <a:extLst>
              <a:ext uri="{FF2B5EF4-FFF2-40B4-BE49-F238E27FC236}">
                <a16:creationId xmlns:a16="http://schemas.microsoft.com/office/drawing/2014/main" id="{59649C72-4DA5-A739-177D-40AEF8C785FC}"/>
              </a:ext>
            </a:extLst>
          </p:cNvPr>
          <p:cNvSpPr>
            <a:spLocks noGrp="1"/>
          </p:cNvSpPr>
          <p:nvPr>
            <p:ph type="body" idx="1"/>
          </p:nvPr>
        </p:nvSpPr>
        <p:spPr/>
        <p:txBody>
          <a:bodyPr/>
          <a:lstStyle/>
          <a:p>
            <a:pPr lvl="0">
              <a:buAutoNum type="arabicPeriod"/>
            </a:pPr>
            <a:r>
              <a:rPr lang="en-US" dirty="0"/>
              <a:t>Pay Attention and ask questions while on session.</a:t>
            </a:r>
          </a:p>
          <a:p>
            <a:pPr lvl="0">
              <a:buAutoNum type="arabicPeriod"/>
            </a:pPr>
            <a:r>
              <a:rPr lang="en-US" dirty="0"/>
              <a:t>Follow along the coding exercises.</a:t>
            </a:r>
          </a:p>
          <a:p>
            <a:pPr lvl="0">
              <a:buAutoNum type="arabicPeriod"/>
            </a:pPr>
            <a:r>
              <a:rPr lang="en-US" dirty="0"/>
              <a:t>Focus on the task on hand, don’t go wandering.</a:t>
            </a:r>
          </a:p>
          <a:p>
            <a:pPr lvl="0">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lvl="0">
              <a:buAutoNum type="arabicPeriod"/>
            </a:pPr>
            <a:r>
              <a:rPr lang="en-US" dirty="0"/>
              <a:t>No cheating on exams.</a:t>
            </a:r>
          </a:p>
          <a:p>
            <a:pPr lvl="0">
              <a:buAutoNum type="arabicPeriod"/>
            </a:pPr>
            <a:r>
              <a:rPr lang="en-US" dirty="0"/>
              <a:t>Complete the final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a:t>Expectations</a:t>
            </a:r>
            <a:endParaRPr/>
          </a:p>
          <a:p>
            <a:pPr marL="457200" lvl="0" indent="-342900" algn="l" rtl="0">
              <a:spcBef>
                <a:spcPts val="0"/>
              </a:spcBef>
              <a:spcAft>
                <a:spcPts val="0"/>
              </a:spcAft>
              <a:buSzPts val="1800"/>
              <a:buAutoNum type="arabicPeriod"/>
            </a:pPr>
            <a:r>
              <a:rPr lang="en"/>
              <a:t>Review</a:t>
            </a:r>
            <a:endParaRPr/>
          </a:p>
          <a:p>
            <a:pPr marL="914400" lvl="1" indent="-317500" algn="l" rtl="0">
              <a:spcBef>
                <a:spcPts val="0"/>
              </a:spcBef>
              <a:spcAft>
                <a:spcPts val="0"/>
              </a:spcAft>
              <a:buSzPts val="1400"/>
              <a:buAutoNum type="alphaLcPeriod"/>
            </a:pPr>
            <a:r>
              <a:rPr lang="en"/>
              <a:t>JS Object Fundamentals</a:t>
            </a:r>
            <a:endParaRPr/>
          </a:p>
          <a:p>
            <a:pPr marL="914400" lvl="1" indent="-317500" algn="l" rtl="0">
              <a:spcBef>
                <a:spcPts val="0"/>
              </a:spcBef>
              <a:spcAft>
                <a:spcPts val="0"/>
              </a:spcAft>
              <a:buSzPts val="1400"/>
              <a:buAutoNum type="alphaLcPeriod"/>
            </a:pPr>
            <a:r>
              <a:rPr lang="en"/>
              <a:t>JS Object functions and this</a:t>
            </a:r>
            <a:endParaRPr/>
          </a:p>
          <a:p>
            <a:pPr marL="914400" lvl="1" indent="-317500" algn="l" rtl="0">
              <a:spcBef>
                <a:spcPts val="0"/>
              </a:spcBef>
              <a:spcAft>
                <a:spcPts val="0"/>
              </a:spcAft>
              <a:buSzPts val="1400"/>
              <a:buAutoNum type="alphaLcPeriod"/>
            </a:pPr>
            <a:r>
              <a:rPr lang="en"/>
              <a:t>Node and NPM</a:t>
            </a:r>
            <a:endParaRPr/>
          </a:p>
          <a:p>
            <a:pPr marL="914400" lvl="1" indent="-317500" algn="l" rtl="0">
              <a:spcBef>
                <a:spcPts val="0"/>
              </a:spcBef>
              <a:spcAft>
                <a:spcPts val="0"/>
              </a:spcAft>
              <a:buSzPts val="1400"/>
              <a:buAutoNum type="alphaLcPeriod"/>
            </a:pPr>
            <a:r>
              <a:rPr lang="en"/>
              <a:t>ES Modules</a:t>
            </a:r>
            <a:endParaRPr/>
          </a:p>
          <a:p>
            <a:pPr marL="914400" lvl="1" indent="-317500" algn="l" rtl="0">
              <a:spcBef>
                <a:spcPts val="0"/>
              </a:spcBef>
              <a:spcAft>
                <a:spcPts val="0"/>
              </a:spcAft>
              <a:buSzPts val="1400"/>
              <a:buAutoNum type="alphaLcPeriod"/>
            </a:pPr>
            <a:r>
              <a:rPr lang="en"/>
              <a:t>Fetch</a:t>
            </a:r>
            <a:endParaRPr/>
          </a:p>
          <a:p>
            <a:pPr marL="457200" lvl="0" indent="-342900" algn="l" rtl="0">
              <a:spcBef>
                <a:spcPts val="0"/>
              </a:spcBef>
              <a:spcAft>
                <a:spcPts val="0"/>
              </a:spcAft>
              <a:buSzPts val="1800"/>
              <a:buAutoNum type="arabicPeriod"/>
            </a:pPr>
            <a:r>
              <a:rPr lang="en"/>
              <a:t>Sync and Async code</a:t>
            </a:r>
            <a:endParaRPr/>
          </a:p>
          <a:p>
            <a:pPr marL="457200" lvl="0" indent="-342900" algn="l" rtl="0">
              <a:spcBef>
                <a:spcPts val="0"/>
              </a:spcBef>
              <a:spcAft>
                <a:spcPts val="0"/>
              </a:spcAft>
              <a:buSzPts val="1800"/>
              <a:buAutoNum type="arabicPeriod"/>
            </a:pPr>
            <a:r>
              <a:rPr lang="en"/>
              <a:t>Custom Promises</a:t>
            </a:r>
            <a:endParaRPr/>
          </a:p>
          <a:p>
            <a:pPr marL="457200" lvl="0" indent="-342900" algn="l" rtl="0">
              <a:spcBef>
                <a:spcPts val="0"/>
              </a:spcBef>
              <a:spcAft>
                <a:spcPts val="0"/>
              </a:spcAft>
              <a:buSzPts val="1800"/>
              <a:buAutoNum type="arabicPeriod"/>
            </a:pPr>
            <a:r>
              <a:rPr lang="en"/>
              <a:t>Async and Await</a:t>
            </a:r>
            <a:endParaRPr/>
          </a:p>
          <a:p>
            <a:pPr marL="457200" lvl="0" indent="-342900" algn="l" rtl="0">
              <a:spcBef>
                <a:spcPts val="0"/>
              </a:spcBef>
              <a:spcAft>
                <a:spcPts val="0"/>
              </a:spcAft>
              <a:buSzPts val="1800"/>
              <a:buAutoNum type="arabicPeriod"/>
            </a:pPr>
            <a:r>
              <a:rPr lang="en"/>
              <a:t>Example</a:t>
            </a:r>
            <a:endParaRPr/>
          </a:p>
          <a:p>
            <a:pPr marL="457200" lvl="0" indent="0" algn="l" rtl="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Js Object Fundamentals</a:t>
            </a:r>
            <a:endParaRPr/>
          </a:p>
        </p:txBody>
      </p:sp>
      <p:sp>
        <p:nvSpPr>
          <p:cNvPr id="93" name="Google Shape;93;p18"/>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One of the most flexible and important data structures in javascript is the javascript object.</a:t>
            </a:r>
            <a:endParaRPr dirty="0"/>
          </a:p>
          <a:p>
            <a:pPr marL="0" lvl="0" indent="0" algn="l" rtl="0">
              <a:spcBef>
                <a:spcPts val="1600"/>
              </a:spcBef>
              <a:spcAft>
                <a:spcPts val="0"/>
              </a:spcAft>
              <a:buNone/>
            </a:pPr>
            <a:r>
              <a:rPr lang="en" dirty="0"/>
              <a:t>This data structure, especially when you can group them into arrays is what you’ll most commonly get when interacting with a rest API. The data from the REST API will be json, then you’ll parse that json into an object, or an array of objects and do something with it.</a:t>
            </a:r>
            <a:endParaRPr dirty="0"/>
          </a:p>
          <a:p>
            <a:pPr marL="0" lvl="0" indent="0" algn="l" rtl="0">
              <a:spcBef>
                <a:spcPts val="1600"/>
              </a:spcBef>
              <a:spcAft>
                <a:spcPts val="1600"/>
              </a:spcAft>
              <a:buNone/>
            </a:pPr>
            <a:endParaRPr dirty="0"/>
          </a:p>
        </p:txBody>
      </p:sp>
      <p:sp>
        <p:nvSpPr>
          <p:cNvPr id="94" name="Google Shape;94;p18"/>
          <p:cNvSpPr txBox="1"/>
          <p:nvPr/>
        </p:nvSpPr>
        <p:spPr>
          <a:xfrm>
            <a:off x="4918200" y="1328850"/>
            <a:ext cx="3837900" cy="292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myCat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name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color</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'Beige'</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age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6</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isMale</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true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accessing the name property on the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myCat object using "." operator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CE93D8"/>
                </a:solidFill>
                <a:latin typeface="Roboto Mono"/>
                <a:ea typeface="Roboto Mono"/>
                <a:cs typeface="Roboto Mono"/>
                <a:sym typeface="Roboto Mono"/>
              </a:rPr>
              <a:t>console</a:t>
            </a:r>
            <a:r>
              <a:rPr lang="en" sz="1150">
                <a:solidFill>
                  <a:srgbClr val="ECEFF1"/>
                </a:solidFill>
                <a:latin typeface="Roboto Mono"/>
                <a:ea typeface="Roboto Mono"/>
                <a:cs typeface="Roboto Mono"/>
                <a:sym typeface="Roboto Mono"/>
              </a:rPr>
              <a:t>.log(myCat.name);</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prints out ‘Ghost’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accessing the color property on the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myCat object using "[]"</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CE93D8"/>
                </a:solidFill>
                <a:latin typeface="Roboto Mono"/>
                <a:ea typeface="Roboto Mono"/>
                <a:cs typeface="Roboto Mono"/>
                <a:sym typeface="Roboto Mono"/>
              </a:rPr>
              <a:t>console</a:t>
            </a:r>
            <a:r>
              <a:rPr lang="en" sz="1150">
                <a:solidFill>
                  <a:srgbClr val="ECEFF1"/>
                </a:solidFill>
                <a:latin typeface="Roboto Mono"/>
                <a:ea typeface="Roboto Mono"/>
                <a:cs typeface="Roboto Mono"/>
                <a:sym typeface="Roboto Mono"/>
              </a:rPr>
              <a:t>.log(myCat[</a:t>
            </a:r>
            <a:r>
              <a:rPr lang="en" sz="1150">
                <a:solidFill>
                  <a:srgbClr val="9CCC65"/>
                </a:solidFill>
                <a:latin typeface="Roboto Mono"/>
                <a:ea typeface="Roboto Mono"/>
                <a:cs typeface="Roboto Mono"/>
                <a:sym typeface="Roboto Mono"/>
              </a:rPr>
              <a:t>'color'</a:t>
            </a:r>
            <a:r>
              <a:rPr lang="en" sz="1150">
                <a:solidFill>
                  <a:srgbClr val="ECEFF1"/>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prints out ‘Beige’</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Js Objects - functions and this</a:t>
            </a:r>
            <a:endParaRPr/>
          </a:p>
        </p:txBody>
      </p:sp>
      <p:sp>
        <p:nvSpPr>
          <p:cNvPr id="100" name="Google Shape;100;p19"/>
          <p:cNvSpPr txBox="1">
            <a:spLocks noGrp="1"/>
          </p:cNvSpPr>
          <p:nvPr>
            <p:ph type="body" idx="1"/>
          </p:nvPr>
        </p:nvSpPr>
        <p:spPr>
          <a:xfrm>
            <a:off x="387900" y="1221200"/>
            <a:ext cx="37581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Objects can have functions as you can see on the right with the function “</a:t>
            </a:r>
            <a:r>
              <a:rPr lang="en" sz="1200">
                <a:solidFill>
                  <a:srgbClr val="ECEFF1"/>
                </a:solidFill>
                <a:latin typeface="Roboto Mono"/>
                <a:ea typeface="Roboto Mono"/>
                <a:cs typeface="Roboto Mono"/>
                <a:sym typeface="Roboto Mono"/>
              </a:rPr>
              <a:t>isInterested</a:t>
            </a:r>
            <a:r>
              <a:rPr lang="en" sz="1200"/>
              <a:t>” with the parameter “</a:t>
            </a:r>
            <a:r>
              <a:rPr lang="en" sz="1200">
                <a:solidFill>
                  <a:srgbClr val="ECEFF1"/>
                </a:solidFill>
                <a:latin typeface="Roboto Mono"/>
                <a:ea typeface="Roboto Mono"/>
                <a:cs typeface="Roboto Mono"/>
                <a:sym typeface="Roboto Mono"/>
              </a:rPr>
              <a:t>topic</a:t>
            </a:r>
            <a:r>
              <a:rPr lang="en" sz="1200"/>
              <a:t>”, which behaves the same way as any other functions.</a:t>
            </a:r>
            <a:endParaRPr sz="1200"/>
          </a:p>
          <a:p>
            <a:pPr marL="0" lvl="0" indent="0" algn="l" rtl="0">
              <a:spcBef>
                <a:spcPts val="1600"/>
              </a:spcBef>
              <a:spcAft>
                <a:spcPts val="0"/>
              </a:spcAft>
              <a:buNone/>
            </a:pPr>
            <a:r>
              <a:rPr lang="en" sz="1200"/>
              <a:t>In functions that are in an object also have the special keyword “</a:t>
            </a:r>
            <a:r>
              <a:rPr lang="en" sz="1200">
                <a:solidFill>
                  <a:srgbClr val="4DD0E1"/>
                </a:solidFill>
                <a:latin typeface="Roboto Mono"/>
                <a:ea typeface="Roboto Mono"/>
                <a:cs typeface="Roboto Mono"/>
                <a:sym typeface="Roboto Mono"/>
              </a:rPr>
              <a:t>this</a:t>
            </a:r>
            <a:r>
              <a:rPr lang="en" sz="1200"/>
              <a:t>” which can refer to any value contained within the object.</a:t>
            </a:r>
            <a:endParaRPr sz="1200"/>
          </a:p>
          <a:p>
            <a:pPr marL="0" lvl="0" indent="0" algn="l" rtl="0">
              <a:spcBef>
                <a:spcPts val="1600"/>
              </a:spcBef>
              <a:spcAft>
                <a:spcPts val="0"/>
              </a:spcAft>
              <a:buNone/>
            </a:pPr>
            <a:r>
              <a:rPr lang="en" sz="1200"/>
              <a:t>This means on the right you have access to any properties on “</a:t>
            </a:r>
            <a:r>
              <a:rPr lang="en" sz="1200">
                <a:solidFill>
                  <a:srgbClr val="ECEFF1"/>
                </a:solidFill>
                <a:latin typeface="Roboto Mono"/>
                <a:ea typeface="Roboto Mono"/>
                <a:cs typeface="Roboto Mono"/>
                <a:sym typeface="Roboto Mono"/>
              </a:rPr>
              <a:t>user</a:t>
            </a:r>
            <a:r>
              <a:rPr lang="en" sz="1200"/>
              <a:t>” for example “</a:t>
            </a:r>
            <a:r>
              <a:rPr lang="en" sz="1200">
                <a:solidFill>
                  <a:srgbClr val="4DD0E1"/>
                </a:solidFill>
                <a:latin typeface="Roboto Mono"/>
                <a:ea typeface="Roboto Mono"/>
                <a:cs typeface="Roboto Mono"/>
                <a:sym typeface="Roboto Mono"/>
              </a:rPr>
              <a:t>this</a:t>
            </a:r>
            <a:r>
              <a:rPr lang="en" sz="1200">
                <a:solidFill>
                  <a:srgbClr val="ECEFF1"/>
                </a:solidFill>
                <a:latin typeface="Roboto Mono"/>
                <a:ea typeface="Roboto Mono"/>
                <a:cs typeface="Roboto Mono"/>
                <a:sym typeface="Roboto Mono"/>
              </a:rPr>
              <a:t>.interests</a:t>
            </a:r>
            <a:r>
              <a:rPr lang="en" sz="1200"/>
              <a:t>” is the same as “</a:t>
            </a:r>
            <a:r>
              <a:rPr lang="en" sz="1200">
                <a:solidFill>
                  <a:srgbClr val="ECEFF1"/>
                </a:solidFill>
                <a:latin typeface="Roboto Mono"/>
                <a:ea typeface="Roboto Mono"/>
                <a:cs typeface="Roboto Mono"/>
                <a:sym typeface="Roboto Mono"/>
              </a:rPr>
              <a:t>user.interests</a:t>
            </a:r>
            <a:r>
              <a:rPr lang="en" sz="1200"/>
              <a:t>”.</a:t>
            </a:r>
            <a:endParaRPr sz="1200"/>
          </a:p>
          <a:p>
            <a:pPr marL="0" lvl="0" indent="0" algn="l" rtl="0">
              <a:spcBef>
                <a:spcPts val="1600"/>
              </a:spcBef>
              <a:spcAft>
                <a:spcPts val="1600"/>
              </a:spcAft>
              <a:buNone/>
            </a:pPr>
            <a:endParaRPr sz="1200"/>
          </a:p>
        </p:txBody>
      </p:sp>
      <p:sp>
        <p:nvSpPr>
          <p:cNvPr id="101" name="Google Shape;101;p19"/>
          <p:cNvSpPr txBox="1"/>
          <p:nvPr/>
        </p:nvSpPr>
        <p:spPr>
          <a:xfrm>
            <a:off x="4325725" y="1259350"/>
            <a:ext cx="4818300" cy="325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user =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name</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"Dan"</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interests</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"squash"</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"hockey"</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"golf"</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"reading"</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isInterested(topic)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if</a:t>
            </a: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this</a:t>
            </a:r>
            <a:r>
              <a:rPr lang="en" sz="950">
                <a:solidFill>
                  <a:srgbClr val="ECEFF1"/>
                </a:solidFill>
                <a:latin typeface="Roboto Mono"/>
                <a:ea typeface="Roboto Mono"/>
                <a:cs typeface="Roboto Mono"/>
                <a:sym typeface="Roboto Mono"/>
              </a:rPr>
              <a:t>.interests.includes(topic))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a:t>
            </a:r>
            <a:r>
              <a:rPr lang="en" sz="950">
                <a:solidFill>
                  <a:srgbClr val="9CCC65"/>
                </a:solidFill>
                <a:latin typeface="Roboto Mono"/>
                <a:ea typeface="Roboto Mono"/>
                <a:cs typeface="Roboto Mono"/>
                <a:sym typeface="Roboto Mono"/>
              </a:rPr>
              <a:t>`</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this</a:t>
            </a:r>
            <a:r>
              <a:rPr lang="en" sz="950">
                <a:solidFill>
                  <a:srgbClr val="ECEFF1"/>
                </a:solidFill>
                <a:latin typeface="Roboto Mono"/>
                <a:ea typeface="Roboto Mono"/>
                <a:cs typeface="Roboto Mono"/>
                <a:sym typeface="Roboto Mono"/>
              </a:rPr>
              <a:t>.name}</a:t>
            </a:r>
            <a:r>
              <a:rPr lang="en" sz="950">
                <a:solidFill>
                  <a:srgbClr val="9CCC65"/>
                </a:solidFill>
                <a:latin typeface="Roboto Mono"/>
                <a:ea typeface="Roboto Mono"/>
                <a:cs typeface="Roboto Mono"/>
                <a:sym typeface="Roboto Mono"/>
              </a:rPr>
              <a:t> is interested in </a:t>
            </a:r>
            <a:r>
              <a:rPr lang="en" sz="950">
                <a:solidFill>
                  <a:srgbClr val="ECEFF1"/>
                </a:solidFill>
                <a:latin typeface="Roboto Mono"/>
                <a:ea typeface="Roboto Mono"/>
                <a:cs typeface="Roboto Mono"/>
                <a:sym typeface="Roboto Mono"/>
              </a:rPr>
              <a:t>${topic}</a:t>
            </a:r>
            <a:r>
              <a:rPr lang="en" sz="950">
                <a:solidFill>
                  <a:srgbClr val="9CCC65"/>
                </a:solidFill>
                <a:latin typeface="Roboto Mono"/>
                <a:ea typeface="Roboto Mono"/>
                <a:cs typeface="Roboto Mono"/>
                <a:sym typeface="Roboto Mono"/>
              </a:rPr>
              <a:t>`</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 </a:t>
            </a:r>
            <a:r>
              <a:rPr lang="en" sz="950">
                <a:solidFill>
                  <a:srgbClr val="4DD0E1"/>
                </a:solidFill>
                <a:latin typeface="Roboto Mono"/>
                <a:ea typeface="Roboto Mono"/>
                <a:cs typeface="Roboto Mono"/>
                <a:sym typeface="Roboto Mono"/>
              </a:rPr>
              <a:t>else</a:t>
            </a: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a:t>
            </a:r>
            <a:r>
              <a:rPr lang="en" sz="950">
                <a:solidFill>
                  <a:srgbClr val="9CCC65"/>
                </a:solidFill>
                <a:latin typeface="Roboto Mono"/>
                <a:ea typeface="Roboto Mono"/>
                <a:cs typeface="Roboto Mono"/>
                <a:sym typeface="Roboto Mono"/>
              </a:rPr>
              <a:t>`</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this</a:t>
            </a:r>
            <a:r>
              <a:rPr lang="en" sz="950">
                <a:solidFill>
                  <a:srgbClr val="ECEFF1"/>
                </a:solidFill>
                <a:latin typeface="Roboto Mono"/>
                <a:ea typeface="Roboto Mono"/>
                <a:cs typeface="Roboto Mono"/>
                <a:sym typeface="Roboto Mono"/>
              </a:rPr>
              <a:t>.name}</a:t>
            </a:r>
            <a:r>
              <a:rPr lang="en" sz="950">
                <a:solidFill>
                  <a:srgbClr val="9CCC65"/>
                </a:solidFill>
                <a:latin typeface="Roboto Mono"/>
                <a:ea typeface="Roboto Mono"/>
                <a:cs typeface="Roboto Mono"/>
                <a:sym typeface="Roboto Mono"/>
              </a:rPr>
              <a:t> is not interested in </a:t>
            </a:r>
            <a:r>
              <a:rPr lang="en" sz="950">
                <a:solidFill>
                  <a:srgbClr val="ECEFF1"/>
                </a:solidFill>
                <a:latin typeface="Roboto Mono"/>
                <a:ea typeface="Roboto Mono"/>
                <a:cs typeface="Roboto Mono"/>
                <a:sym typeface="Roboto Mono"/>
              </a:rPr>
              <a:t>${topic}</a:t>
            </a:r>
            <a:r>
              <a:rPr lang="en" sz="950">
                <a:solidFill>
                  <a:srgbClr val="9CCC65"/>
                </a:solidFill>
                <a:latin typeface="Roboto Mono"/>
                <a:ea typeface="Roboto Mono"/>
                <a:cs typeface="Roboto Mono"/>
                <a:sym typeface="Roboto Mono"/>
              </a:rPr>
              <a:t>`</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example usage of a function.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user.isInterested(</a:t>
            </a:r>
            <a:r>
              <a:rPr lang="en" sz="950">
                <a:solidFill>
                  <a:srgbClr val="9CCC65"/>
                </a:solidFill>
                <a:latin typeface="Roboto Mono"/>
                <a:ea typeface="Roboto Mono"/>
                <a:cs typeface="Roboto Mono"/>
                <a:sym typeface="Roboto Mono"/>
              </a:rPr>
              <a:t>"squash"</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output: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"Dan is interested in squash"</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another example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user.isInterested(</a:t>
            </a:r>
            <a:r>
              <a:rPr lang="en" sz="950">
                <a:solidFill>
                  <a:srgbClr val="9CCC65"/>
                </a:solidFill>
                <a:latin typeface="Roboto Mono"/>
                <a:ea typeface="Roboto Mono"/>
                <a:cs typeface="Roboto Mono"/>
                <a:sym typeface="Roboto Mono"/>
              </a:rPr>
              <a:t>"marking late assignments"</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output: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"Dan is not interested in marking late assignments"</a:t>
            </a:r>
            <a:endParaRPr sz="950">
              <a:solidFill>
                <a:srgbClr val="F06292"/>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Node and NPM</a:t>
            </a:r>
            <a:endParaRPr/>
          </a:p>
        </p:txBody>
      </p:sp>
      <p:sp>
        <p:nvSpPr>
          <p:cNvPr id="107" name="Google Shape;107;p20"/>
          <p:cNvSpPr txBox="1">
            <a:spLocks noGrp="1"/>
          </p:cNvSpPr>
          <p:nvPr>
            <p:ph type="body" idx="1"/>
          </p:nvPr>
        </p:nvSpPr>
        <p:spPr>
          <a:xfrm>
            <a:off x="387900" y="1221200"/>
            <a:ext cx="38925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this course (and when you’ll be working in the field) you’ll need to access to javascript ecosystem so that you can work. You access the ecosystem through NPM.</a:t>
            </a:r>
            <a:br>
              <a:rPr lang="en" sz="1200"/>
            </a:br>
            <a:br>
              <a:rPr lang="en" sz="1200"/>
            </a:br>
            <a:r>
              <a:rPr lang="en" sz="1200"/>
              <a:t>To Ensure that you have npm installed you can check the version like so:</a:t>
            </a:r>
            <a:br>
              <a:rPr lang="en" sz="1200"/>
            </a:br>
            <a:r>
              <a:rPr lang="en" sz="1200">
                <a:solidFill>
                  <a:srgbClr val="DCDCDC"/>
                </a:solidFill>
                <a:latin typeface="Consolas"/>
                <a:ea typeface="Consolas"/>
                <a:cs typeface="Consolas"/>
                <a:sym typeface="Consolas"/>
              </a:rPr>
              <a:t>npm -v</a:t>
            </a:r>
            <a:br>
              <a:rPr lang="en" sz="1200"/>
            </a:br>
            <a:br>
              <a:rPr lang="en" sz="1200"/>
            </a:br>
            <a:r>
              <a:rPr lang="en" sz="1200"/>
              <a:t>To use npm in your projects you’ll need to start a project like so (there will be exceptions because some global packages will do it for us):</a:t>
            </a:r>
            <a:br>
              <a:rPr lang="en" sz="1200"/>
            </a:br>
            <a:r>
              <a:rPr lang="en" sz="1200">
                <a:solidFill>
                  <a:srgbClr val="DCDCDC"/>
                </a:solidFill>
                <a:latin typeface="Consolas"/>
                <a:ea typeface="Consolas"/>
                <a:cs typeface="Consolas"/>
                <a:sym typeface="Consolas"/>
              </a:rPr>
              <a:t>npm init</a:t>
            </a:r>
            <a:endParaRPr sz="1200">
              <a:solidFill>
                <a:srgbClr val="000000"/>
              </a:solidFill>
              <a:latin typeface="Arial"/>
              <a:ea typeface="Arial"/>
              <a:cs typeface="Arial"/>
              <a:sym typeface="Arial"/>
            </a:endParaRPr>
          </a:p>
          <a:p>
            <a:pPr marL="0" lvl="0" indent="0" algn="l" rtl="0">
              <a:spcBef>
                <a:spcPts val="1600"/>
              </a:spcBef>
              <a:spcAft>
                <a:spcPts val="0"/>
              </a:spcAft>
              <a:buNone/>
            </a:pPr>
            <a:r>
              <a:rPr lang="en" sz="1200"/>
              <a:t>Once you have this you’ll have a “</a:t>
            </a:r>
            <a:r>
              <a:rPr lang="en" sz="1200">
                <a:solidFill>
                  <a:srgbClr val="DCDCDC"/>
                </a:solidFill>
                <a:latin typeface="Consolas"/>
                <a:ea typeface="Consolas"/>
                <a:cs typeface="Consolas"/>
                <a:sym typeface="Consolas"/>
              </a:rPr>
              <a:t>package.json</a:t>
            </a:r>
            <a:r>
              <a:rPr lang="en" sz="1200"/>
              <a:t>” file shown on the right. </a:t>
            </a:r>
            <a:br>
              <a:rPr lang="en" sz="1200"/>
            </a:br>
            <a:endParaRPr sz="1200"/>
          </a:p>
          <a:p>
            <a:pPr marL="0" lvl="0" indent="0" algn="l" rtl="0">
              <a:spcBef>
                <a:spcPts val="1600"/>
              </a:spcBef>
              <a:spcAft>
                <a:spcPts val="0"/>
              </a:spcAft>
              <a:buNone/>
            </a:pPr>
            <a:r>
              <a:rPr lang="en" sz="1200"/>
              <a:t> </a:t>
            </a:r>
            <a:endParaRPr sz="1200"/>
          </a:p>
          <a:p>
            <a:pPr marL="0" lvl="0" indent="0" algn="l" rtl="0">
              <a:spcBef>
                <a:spcPts val="1600"/>
              </a:spcBef>
              <a:spcAft>
                <a:spcPts val="1600"/>
              </a:spcAft>
              <a:buNone/>
            </a:pPr>
            <a:endParaRPr sz="1200"/>
          </a:p>
        </p:txBody>
      </p:sp>
      <p:sp>
        <p:nvSpPr>
          <p:cNvPr id="108" name="Google Shape;108;p20"/>
          <p:cNvSpPr txBox="1">
            <a:spLocks noGrp="1"/>
          </p:cNvSpPr>
          <p:nvPr>
            <p:ph type="body" idx="1"/>
          </p:nvPr>
        </p:nvSpPr>
        <p:spPr>
          <a:xfrm>
            <a:off x="5030575" y="3282800"/>
            <a:ext cx="3892500" cy="99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The command line scripts you’ll have access to are under  “</a:t>
            </a:r>
            <a:r>
              <a:rPr lang="en" sz="1100">
                <a:solidFill>
                  <a:srgbClr val="9CDCFE"/>
                </a:solidFill>
                <a:latin typeface="Consolas"/>
                <a:ea typeface="Consolas"/>
                <a:cs typeface="Consolas"/>
                <a:sym typeface="Consolas"/>
              </a:rPr>
              <a:t>scripts</a:t>
            </a:r>
            <a:r>
              <a:rPr lang="en" sz="1100"/>
              <a:t>”. In this example you can do “</a:t>
            </a:r>
            <a:r>
              <a:rPr lang="en" sz="1100">
                <a:solidFill>
                  <a:srgbClr val="DCDCDC"/>
                </a:solidFill>
                <a:latin typeface="Consolas"/>
                <a:ea typeface="Consolas"/>
                <a:cs typeface="Consolas"/>
                <a:sym typeface="Consolas"/>
              </a:rPr>
              <a:t>npm run hello</a:t>
            </a:r>
            <a:r>
              <a:rPr lang="en" sz="1100"/>
              <a:t>”.</a:t>
            </a:r>
            <a:endParaRPr sz="1100"/>
          </a:p>
          <a:p>
            <a:pPr marL="0" lvl="0" indent="0" algn="l" rtl="0">
              <a:spcBef>
                <a:spcPts val="1600"/>
              </a:spcBef>
              <a:spcAft>
                <a:spcPts val="0"/>
              </a:spcAft>
              <a:buNone/>
            </a:pPr>
            <a:r>
              <a:rPr lang="en" sz="1100"/>
              <a:t>The devDependencies are packages that you have access to in your dev environment.</a:t>
            </a:r>
            <a:endParaRPr sz="1100"/>
          </a:p>
          <a:p>
            <a:pPr marL="0" lvl="0" indent="0" algn="l" rtl="0">
              <a:spcBef>
                <a:spcPts val="1600"/>
              </a:spcBef>
              <a:spcAft>
                <a:spcPts val="0"/>
              </a:spcAft>
              <a:buNone/>
            </a:pPr>
            <a:r>
              <a:rPr lang="en" sz="1100"/>
              <a:t>The dependencies are packages that you have access to everywhere. We’ll see examples of the both of these.</a:t>
            </a:r>
            <a:br>
              <a:rPr lang="en" sz="1100"/>
            </a:br>
            <a:br>
              <a:rPr lang="en" sz="1100"/>
            </a:br>
            <a:endParaRPr sz="1100"/>
          </a:p>
          <a:p>
            <a:pPr marL="0" lvl="0" indent="0" algn="l" rtl="0">
              <a:spcBef>
                <a:spcPts val="1600"/>
              </a:spcBef>
              <a:spcAft>
                <a:spcPts val="0"/>
              </a:spcAft>
              <a:buNone/>
            </a:pPr>
            <a:r>
              <a:rPr lang="en" sz="1100"/>
              <a:t> </a:t>
            </a:r>
            <a:endParaRPr sz="1100"/>
          </a:p>
          <a:p>
            <a:pPr marL="0" lvl="0" indent="0" algn="l" rtl="0">
              <a:spcBef>
                <a:spcPts val="1600"/>
              </a:spcBef>
              <a:spcAft>
                <a:spcPts val="1600"/>
              </a:spcAft>
              <a:buNone/>
            </a:pPr>
            <a:endParaRPr sz="1100"/>
          </a:p>
        </p:txBody>
      </p:sp>
      <p:sp>
        <p:nvSpPr>
          <p:cNvPr id="109" name="Google Shape;109;p20"/>
          <p:cNvSpPr txBox="1"/>
          <p:nvPr/>
        </p:nvSpPr>
        <p:spPr>
          <a:xfrm>
            <a:off x="5030575" y="758000"/>
            <a:ext cx="3211800" cy="252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"name"</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"nodefirst"</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"version"</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"1.0.0"</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"description"</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"our first project"</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"main"</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"index.js"</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"scripts"</a:t>
            </a:r>
            <a:r>
              <a:rPr lang="en" sz="800">
                <a:solidFill>
                  <a:srgbClr val="DCDCDC"/>
                </a:solidFill>
                <a:latin typeface="Consolas"/>
                <a:ea typeface="Consolas"/>
                <a:cs typeface="Consolas"/>
                <a:sym typeface="Consolas"/>
              </a:rPr>
              <a:t>: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"hello"</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"echo \"is there any body out there?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"author"</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"dan mouris"</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"license"</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"ISC"</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"devDependencies"</a:t>
            </a:r>
            <a:r>
              <a:rPr lang="en" sz="800">
                <a:solidFill>
                  <a:srgbClr val="DCDCDC"/>
                </a:solidFill>
                <a:latin typeface="Consolas"/>
                <a:ea typeface="Consolas"/>
                <a:cs typeface="Consolas"/>
                <a:sym typeface="Consolas"/>
              </a:rPr>
              <a:t>: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"@babel/cli"</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"^7.7.5"</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"@babel/core"</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"^7.7.5"</a:t>
            </a:r>
            <a:r>
              <a:rPr lang="en" sz="800">
                <a:solidFill>
                  <a:srgbClr val="DCDCDC"/>
                </a:solidFill>
                <a:latin typeface="Consolas"/>
                <a:ea typeface="Consolas"/>
                <a:cs typeface="Consolas"/>
                <a:sym typeface="Consolas"/>
              </a:rPr>
              <a:t>,</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"@babel/preset-env"</a:t>
            </a:r>
            <a:r>
              <a:rPr lang="en" sz="800">
                <a:solidFill>
                  <a:srgbClr val="DCDCDC"/>
                </a:solidFill>
                <a:latin typeface="Consolas"/>
                <a:ea typeface="Consolas"/>
                <a:cs typeface="Consolas"/>
                <a:sym typeface="Consolas"/>
              </a:rPr>
              <a:t>: </a:t>
            </a:r>
            <a:r>
              <a:rPr lang="en" sz="800">
                <a:solidFill>
                  <a:srgbClr val="D69D85"/>
                </a:solidFill>
                <a:latin typeface="Consolas"/>
                <a:ea typeface="Consolas"/>
                <a:cs typeface="Consolas"/>
                <a:sym typeface="Consolas"/>
              </a:rPr>
              <a:t>"^7.7.6"</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  </a:t>
            </a:r>
            <a:r>
              <a:rPr lang="en" sz="800">
                <a:solidFill>
                  <a:srgbClr val="9CDCFE"/>
                </a:solidFill>
                <a:latin typeface="Consolas"/>
                <a:ea typeface="Consolas"/>
                <a:cs typeface="Consolas"/>
                <a:sym typeface="Consolas"/>
              </a:rPr>
              <a:t>"dependencies"</a:t>
            </a:r>
            <a:r>
              <a:rPr lang="en" sz="800">
                <a:solidFill>
                  <a:srgbClr val="DCDCDC"/>
                </a:solidFill>
                <a:latin typeface="Consolas"/>
                <a:ea typeface="Consolas"/>
                <a:cs typeface="Consolas"/>
                <a:sym typeface="Consolas"/>
              </a:rPr>
              <a:t>: {}</a:t>
            </a:r>
            <a:br>
              <a:rPr lang="en" sz="800">
                <a:solidFill>
                  <a:srgbClr val="DCDCDC"/>
                </a:solidFill>
                <a:latin typeface="Consolas"/>
                <a:ea typeface="Consolas"/>
                <a:cs typeface="Consolas"/>
                <a:sym typeface="Consolas"/>
              </a:rPr>
            </a:br>
            <a:r>
              <a:rPr lang="en" sz="800">
                <a:solidFill>
                  <a:srgbClr val="DCDCDC"/>
                </a:solidFill>
                <a:latin typeface="Consolas"/>
                <a:ea typeface="Consolas"/>
                <a:cs typeface="Consolas"/>
                <a:sym typeface="Consolas"/>
              </a:rPr>
              <a:t>}</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ES Modules</a:t>
            </a:r>
            <a:endParaRPr/>
          </a:p>
        </p:txBody>
      </p:sp>
      <p:sp>
        <p:nvSpPr>
          <p:cNvPr id="115" name="Google Shape;115;p21"/>
          <p:cNvSpPr txBox="1">
            <a:spLocks noGrp="1"/>
          </p:cNvSpPr>
          <p:nvPr>
            <p:ph type="body" idx="1"/>
          </p:nvPr>
        </p:nvSpPr>
        <p:spPr>
          <a:xfrm>
            <a:off x="387900" y="1221200"/>
            <a:ext cx="3892500" cy="363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this course, understanding how to use ES Modules is essential. On the right we have an example where we have a couple of functions “</a:t>
            </a:r>
            <a:r>
              <a:rPr lang="en" sz="1000">
                <a:solidFill>
                  <a:srgbClr val="ECEFF1"/>
                </a:solidFill>
                <a:latin typeface="Roboto Mono"/>
                <a:ea typeface="Roboto Mono"/>
                <a:cs typeface="Roboto Mono"/>
                <a:sym typeface="Roboto Mono"/>
              </a:rPr>
              <a:t>getFoodThoughtKeys</a:t>
            </a:r>
            <a:r>
              <a:rPr lang="en" sz="1200"/>
              <a:t>”, “</a:t>
            </a:r>
            <a:r>
              <a:rPr lang="en" sz="1000">
                <a:solidFill>
                  <a:srgbClr val="ECEFF1"/>
                </a:solidFill>
                <a:latin typeface="Roboto Mono"/>
                <a:ea typeface="Roboto Mono"/>
                <a:cs typeface="Roboto Mono"/>
                <a:sym typeface="Roboto Mono"/>
              </a:rPr>
              <a:t>getFoodThoughtsValues</a:t>
            </a:r>
            <a:r>
              <a:rPr lang="en" sz="1200"/>
              <a:t>” that are exported from the “</a:t>
            </a:r>
            <a:r>
              <a:rPr lang="en" sz="1000">
                <a:solidFill>
                  <a:srgbClr val="F06292"/>
                </a:solidFill>
                <a:latin typeface="Roboto Mono"/>
                <a:ea typeface="Roboto Mono"/>
                <a:cs typeface="Roboto Mono"/>
                <a:sym typeface="Roboto Mono"/>
              </a:rPr>
              <a:t>food.js</a:t>
            </a:r>
            <a:r>
              <a:rPr lang="en" sz="1200"/>
              <a:t>” file. This exposes these functions so that they can be used in other JavaScript files.</a:t>
            </a:r>
            <a:endParaRPr sz="1200"/>
          </a:p>
          <a:p>
            <a:pPr marL="0" lvl="0" indent="0" algn="l" rtl="0">
              <a:spcBef>
                <a:spcPts val="1600"/>
              </a:spcBef>
              <a:spcAft>
                <a:spcPts val="0"/>
              </a:spcAft>
              <a:buNone/>
            </a:pPr>
            <a:r>
              <a:rPr lang="en" sz="1200"/>
              <a:t>We can see how we can use them in other files on the right in the “</a:t>
            </a:r>
            <a:r>
              <a:rPr lang="en" sz="1000">
                <a:solidFill>
                  <a:srgbClr val="F06292"/>
                </a:solidFill>
                <a:latin typeface="Roboto Mono"/>
                <a:ea typeface="Roboto Mono"/>
                <a:cs typeface="Roboto Mono"/>
                <a:sym typeface="Roboto Mono"/>
              </a:rPr>
              <a:t>index.js</a:t>
            </a:r>
            <a:r>
              <a:rPr lang="en" sz="1200"/>
              <a:t>” file. You need to import them using the “</a:t>
            </a:r>
            <a:r>
              <a:rPr lang="en" sz="1000">
                <a:solidFill>
                  <a:srgbClr val="4DD0E1"/>
                </a:solidFill>
                <a:latin typeface="Roboto Mono"/>
                <a:ea typeface="Roboto Mono"/>
                <a:cs typeface="Roboto Mono"/>
                <a:sym typeface="Roboto Mono"/>
              </a:rPr>
              <a:t>import</a:t>
            </a:r>
            <a:r>
              <a:rPr lang="en" sz="1000">
                <a:solidFill>
                  <a:srgbClr val="ECEFF1"/>
                </a:solidFill>
                <a:latin typeface="Roboto Mono"/>
                <a:ea typeface="Roboto Mono"/>
                <a:cs typeface="Roboto Mono"/>
                <a:sym typeface="Roboto Mono"/>
              </a:rPr>
              <a:t> {...} </a:t>
            </a:r>
            <a:r>
              <a:rPr lang="en" sz="1000">
                <a:solidFill>
                  <a:srgbClr val="4DD0E1"/>
                </a:solidFill>
                <a:latin typeface="Roboto Mono"/>
                <a:ea typeface="Roboto Mono"/>
                <a:cs typeface="Roboto Mono"/>
                <a:sym typeface="Roboto Mono"/>
              </a:rPr>
              <a:t>from </a:t>
            </a:r>
            <a:r>
              <a:rPr lang="en" sz="1000">
                <a:solidFill>
                  <a:srgbClr val="9CCC65"/>
                </a:solidFill>
                <a:latin typeface="Roboto Mono"/>
                <a:ea typeface="Roboto Mono"/>
                <a:cs typeface="Roboto Mono"/>
                <a:sym typeface="Roboto Mono"/>
              </a:rPr>
              <a:t>'path-to-file'</a:t>
            </a:r>
            <a:r>
              <a:rPr lang="en" sz="1200"/>
              <a:t>” syntax where the “</a:t>
            </a:r>
            <a:r>
              <a:rPr lang="en" sz="1000">
                <a:solidFill>
                  <a:srgbClr val="ECEFF1"/>
                </a:solidFill>
                <a:latin typeface="Roboto Mono"/>
                <a:ea typeface="Roboto Mono"/>
                <a:cs typeface="Roboto Mono"/>
                <a:sym typeface="Roboto Mono"/>
              </a:rPr>
              <a:t>{...}</a:t>
            </a:r>
            <a:r>
              <a:rPr lang="en" sz="1200"/>
              <a:t>” will contain the functions exposed and the “</a:t>
            </a:r>
            <a:r>
              <a:rPr lang="en" sz="1000">
                <a:solidFill>
                  <a:srgbClr val="9CCC65"/>
                </a:solidFill>
                <a:latin typeface="Roboto Mono"/>
                <a:ea typeface="Roboto Mono"/>
                <a:cs typeface="Roboto Mono"/>
                <a:sym typeface="Roboto Mono"/>
              </a:rPr>
              <a:t>'path-to-file'</a:t>
            </a:r>
            <a:r>
              <a:rPr lang="en" sz="1200"/>
              <a:t>” is the relative file path to the file that has the functions exposed.</a:t>
            </a:r>
            <a:endParaRPr sz="1200"/>
          </a:p>
          <a:p>
            <a:pPr marL="0" lvl="0" indent="0" algn="l" rtl="0">
              <a:spcBef>
                <a:spcPts val="1600"/>
              </a:spcBef>
              <a:spcAft>
                <a:spcPts val="1600"/>
              </a:spcAft>
              <a:buNone/>
            </a:pPr>
            <a:r>
              <a:rPr lang="en" sz="1200"/>
              <a:t>You’ll have quite a bit of practice using this but having an essential understanding of how it works is important.</a:t>
            </a:r>
            <a:endParaRPr sz="1200"/>
          </a:p>
        </p:txBody>
      </p:sp>
      <p:sp>
        <p:nvSpPr>
          <p:cNvPr id="116" name="Google Shape;116;p21"/>
          <p:cNvSpPr txBox="1"/>
          <p:nvPr/>
        </p:nvSpPr>
        <p:spPr>
          <a:xfrm>
            <a:off x="4726075" y="877775"/>
            <a:ext cx="40965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06292"/>
                </a:solidFill>
                <a:latin typeface="Roboto Mono"/>
                <a:ea typeface="Roboto Mono"/>
                <a:cs typeface="Roboto Mono"/>
                <a:sym typeface="Roboto Mono"/>
              </a:rPr>
              <a:t>// food.js file</a:t>
            </a:r>
            <a:br>
              <a:rPr lang="en" sz="1000">
                <a:solidFill>
                  <a:srgbClr val="4DD0E1"/>
                </a:solidFill>
                <a:latin typeface="Roboto Mono"/>
                <a:ea typeface="Roboto Mono"/>
                <a:cs typeface="Roboto Mono"/>
                <a:sym typeface="Roboto Mono"/>
              </a:rPr>
            </a:br>
            <a:r>
              <a:rPr lang="en" sz="1000">
                <a:solidFill>
                  <a:srgbClr val="4DD0E1"/>
                </a:solidFill>
                <a:latin typeface="Roboto Mono"/>
                <a:ea typeface="Roboto Mono"/>
                <a:cs typeface="Roboto Mono"/>
                <a:sym typeface="Roboto Mono"/>
              </a:rPr>
              <a:t>const</a:t>
            </a:r>
            <a:r>
              <a:rPr lang="en" sz="1000">
                <a:solidFill>
                  <a:srgbClr val="ECEFF1"/>
                </a:solidFill>
                <a:latin typeface="Roboto Mono"/>
                <a:ea typeface="Roboto Mono"/>
                <a:cs typeface="Roboto Mono"/>
                <a:sym typeface="Roboto Mono"/>
              </a:rPr>
              <a:t> </a:t>
            </a:r>
            <a:r>
              <a:rPr lang="en" sz="1000">
                <a:solidFill>
                  <a:srgbClr val="FBC02D"/>
                </a:solidFill>
                <a:latin typeface="Roboto Mono"/>
                <a:ea typeface="Roboto Mono"/>
                <a:cs typeface="Roboto Mono"/>
                <a:sym typeface="Roboto Mono"/>
              </a:rPr>
              <a:t>FOOD_THOUGHTS</a:t>
            </a:r>
            <a:r>
              <a:rPr lang="en" sz="1000">
                <a:solidFill>
                  <a:srgbClr val="ECEFF1"/>
                </a:solidFill>
                <a:latin typeface="Roboto Mono"/>
                <a:ea typeface="Roboto Mono"/>
                <a:cs typeface="Roboto Mono"/>
                <a:sym typeface="Roboto Mono"/>
              </a:rPr>
              <a:t> = {</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  </a:t>
            </a:r>
            <a:r>
              <a:rPr lang="en" sz="1000">
                <a:solidFill>
                  <a:srgbClr val="9CCC65"/>
                </a:solidFill>
                <a:latin typeface="Roboto Mono"/>
                <a:ea typeface="Roboto Mono"/>
                <a:cs typeface="Roboto Mono"/>
                <a:sym typeface="Roboto Mono"/>
              </a:rPr>
              <a:t>'sushi'</a:t>
            </a:r>
            <a:r>
              <a:rPr lang="en" sz="1000">
                <a:solidFill>
                  <a:srgbClr val="ECEFF1"/>
                </a:solidFill>
                <a:latin typeface="Roboto Mono"/>
                <a:ea typeface="Roboto Mono"/>
                <a:cs typeface="Roboto Mono"/>
                <a:sym typeface="Roboto Mono"/>
              </a:rPr>
              <a:t>: </a:t>
            </a:r>
            <a:r>
              <a:rPr lang="en" sz="1000">
                <a:solidFill>
                  <a:srgbClr val="FBC02D"/>
                </a:solidFill>
                <a:latin typeface="Roboto Mono"/>
                <a:ea typeface="Roboto Mono"/>
                <a:cs typeface="Roboto Mono"/>
                <a:sym typeface="Roboto Mono"/>
              </a:rPr>
              <a:t>30</a:t>
            </a:r>
            <a:r>
              <a:rPr lang="en" sz="1000">
                <a:solidFill>
                  <a:srgbClr val="ECEFF1"/>
                </a:solidFill>
                <a:latin typeface="Roboto Mono"/>
                <a:ea typeface="Roboto Mono"/>
                <a:cs typeface="Roboto Mono"/>
                <a:sym typeface="Roboto Mono"/>
              </a:rPr>
              <a:t>, </a:t>
            </a:r>
            <a:r>
              <a:rPr lang="en" sz="1000">
                <a:solidFill>
                  <a:srgbClr val="F06292"/>
                </a:solidFill>
                <a:latin typeface="Roboto Mono"/>
                <a:ea typeface="Roboto Mono"/>
                <a:cs typeface="Roboto Mono"/>
                <a:sym typeface="Roboto Mono"/>
              </a:rPr>
              <a:t>// many more</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4DD0E1"/>
                </a:solidFill>
                <a:latin typeface="Roboto Mono"/>
                <a:ea typeface="Roboto Mono"/>
                <a:cs typeface="Roboto Mono"/>
                <a:sym typeface="Roboto Mono"/>
              </a:rPr>
              <a:t>const</a:t>
            </a:r>
            <a:r>
              <a:rPr lang="en" sz="1000">
                <a:solidFill>
                  <a:srgbClr val="ECEFF1"/>
                </a:solidFill>
                <a:latin typeface="Roboto Mono"/>
                <a:ea typeface="Roboto Mono"/>
                <a:cs typeface="Roboto Mono"/>
                <a:sym typeface="Roboto Mono"/>
              </a:rPr>
              <a:t> getFoodThoughtKeys = ()=&gt; {</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  </a:t>
            </a:r>
            <a:r>
              <a:rPr lang="en" sz="1000">
                <a:solidFill>
                  <a:srgbClr val="4DD0E1"/>
                </a:solidFill>
                <a:latin typeface="Roboto Mono"/>
                <a:ea typeface="Roboto Mono"/>
                <a:cs typeface="Roboto Mono"/>
                <a:sym typeface="Roboto Mono"/>
              </a:rPr>
              <a:t>return</a:t>
            </a:r>
            <a:r>
              <a:rPr lang="en" sz="1000">
                <a:solidFill>
                  <a:srgbClr val="ECEFF1"/>
                </a:solidFill>
                <a:latin typeface="Roboto Mono"/>
                <a:ea typeface="Roboto Mono"/>
                <a:cs typeface="Roboto Mono"/>
                <a:sym typeface="Roboto Mono"/>
              </a:rPr>
              <a:t> </a:t>
            </a:r>
            <a:r>
              <a:rPr lang="en" sz="1000">
                <a:solidFill>
                  <a:srgbClr val="CE93D8"/>
                </a:solidFill>
                <a:latin typeface="Roboto Mono"/>
                <a:ea typeface="Roboto Mono"/>
                <a:cs typeface="Roboto Mono"/>
                <a:sym typeface="Roboto Mono"/>
              </a:rPr>
              <a:t>Object</a:t>
            </a:r>
            <a:r>
              <a:rPr lang="en" sz="1000">
                <a:solidFill>
                  <a:srgbClr val="ECEFF1"/>
                </a:solidFill>
                <a:latin typeface="Roboto Mono"/>
                <a:ea typeface="Roboto Mono"/>
                <a:cs typeface="Roboto Mono"/>
                <a:sym typeface="Roboto Mono"/>
              </a:rPr>
              <a:t>.keys(</a:t>
            </a:r>
            <a:r>
              <a:rPr lang="en" sz="1000">
                <a:solidFill>
                  <a:srgbClr val="FBC02D"/>
                </a:solidFill>
                <a:latin typeface="Roboto Mono"/>
                <a:ea typeface="Roboto Mono"/>
                <a:cs typeface="Roboto Mono"/>
                <a:sym typeface="Roboto Mono"/>
              </a:rPr>
              <a:t>FOOD_THOUGHTS</a:t>
            </a:r>
            <a:r>
              <a:rPr lang="en" sz="1000">
                <a:solidFill>
                  <a:srgbClr val="ECEFF1"/>
                </a:solidFill>
                <a:latin typeface="Roboto Mono"/>
                <a:ea typeface="Roboto Mono"/>
                <a:cs typeface="Roboto Mono"/>
                <a:sym typeface="Roboto Mono"/>
              </a:rPr>
              <a:t>)</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4DD0E1"/>
                </a:solidFill>
                <a:latin typeface="Roboto Mono"/>
                <a:ea typeface="Roboto Mono"/>
                <a:cs typeface="Roboto Mono"/>
                <a:sym typeface="Roboto Mono"/>
              </a:rPr>
              <a:t>const</a:t>
            </a:r>
            <a:r>
              <a:rPr lang="en" sz="1000">
                <a:solidFill>
                  <a:srgbClr val="ECEFF1"/>
                </a:solidFill>
                <a:latin typeface="Roboto Mono"/>
                <a:ea typeface="Roboto Mono"/>
                <a:cs typeface="Roboto Mono"/>
                <a:sym typeface="Roboto Mono"/>
              </a:rPr>
              <a:t> getFoodThoughtsValues = () =&gt; {</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  </a:t>
            </a:r>
            <a:r>
              <a:rPr lang="en" sz="1000">
                <a:solidFill>
                  <a:srgbClr val="4DD0E1"/>
                </a:solidFill>
                <a:latin typeface="Roboto Mono"/>
                <a:ea typeface="Roboto Mono"/>
                <a:cs typeface="Roboto Mono"/>
                <a:sym typeface="Roboto Mono"/>
              </a:rPr>
              <a:t>return</a:t>
            </a:r>
            <a:r>
              <a:rPr lang="en" sz="1000">
                <a:solidFill>
                  <a:srgbClr val="ECEFF1"/>
                </a:solidFill>
                <a:latin typeface="Roboto Mono"/>
                <a:ea typeface="Roboto Mono"/>
                <a:cs typeface="Roboto Mono"/>
                <a:sym typeface="Roboto Mono"/>
              </a:rPr>
              <a:t> </a:t>
            </a:r>
            <a:r>
              <a:rPr lang="en" sz="1000">
                <a:solidFill>
                  <a:srgbClr val="CE93D8"/>
                </a:solidFill>
                <a:latin typeface="Roboto Mono"/>
                <a:ea typeface="Roboto Mono"/>
                <a:cs typeface="Roboto Mono"/>
                <a:sym typeface="Roboto Mono"/>
              </a:rPr>
              <a:t>Object</a:t>
            </a:r>
            <a:r>
              <a:rPr lang="en" sz="1000">
                <a:solidFill>
                  <a:srgbClr val="ECEFF1"/>
                </a:solidFill>
                <a:latin typeface="Roboto Mono"/>
                <a:ea typeface="Roboto Mono"/>
                <a:cs typeface="Roboto Mono"/>
                <a:sym typeface="Roboto Mono"/>
              </a:rPr>
              <a:t>.values(</a:t>
            </a:r>
            <a:r>
              <a:rPr lang="en" sz="1000">
                <a:solidFill>
                  <a:srgbClr val="FBC02D"/>
                </a:solidFill>
                <a:latin typeface="Roboto Mono"/>
                <a:ea typeface="Roboto Mono"/>
                <a:cs typeface="Roboto Mono"/>
                <a:sym typeface="Roboto Mono"/>
              </a:rPr>
              <a:t>FOOD_THOUGHTS</a:t>
            </a:r>
            <a:r>
              <a:rPr lang="en" sz="1000">
                <a:solidFill>
                  <a:srgbClr val="ECEFF1"/>
                </a:solidFill>
                <a:latin typeface="Roboto Mono"/>
                <a:ea typeface="Roboto Mono"/>
                <a:cs typeface="Roboto Mono"/>
                <a:sym typeface="Roboto Mono"/>
              </a:rPr>
              <a:t>)</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0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000">
                <a:solidFill>
                  <a:srgbClr val="4DD0E1"/>
                </a:solidFill>
                <a:latin typeface="Roboto Mono"/>
                <a:ea typeface="Roboto Mono"/>
                <a:cs typeface="Roboto Mono"/>
                <a:sym typeface="Roboto Mono"/>
              </a:rPr>
              <a:t>export</a:t>
            </a:r>
            <a:r>
              <a:rPr lang="en" sz="1000">
                <a:solidFill>
                  <a:srgbClr val="ECEFF1"/>
                </a:solidFill>
                <a:latin typeface="Roboto Mono"/>
                <a:ea typeface="Roboto Mono"/>
                <a:cs typeface="Roboto Mono"/>
                <a:sym typeface="Roboto Mono"/>
              </a:rPr>
              <a:t> {getFoodThoughtKeys, getFoodThoughtsValues}</a:t>
            </a:r>
            <a:endParaRPr sz="1000">
              <a:solidFill>
                <a:srgbClr val="ECEFF1"/>
              </a:solidFill>
              <a:latin typeface="Roboto Mono"/>
              <a:ea typeface="Roboto Mono"/>
              <a:cs typeface="Roboto Mono"/>
              <a:sym typeface="Roboto Mono"/>
            </a:endParaRPr>
          </a:p>
        </p:txBody>
      </p:sp>
      <p:sp>
        <p:nvSpPr>
          <p:cNvPr id="117" name="Google Shape;117;p21"/>
          <p:cNvSpPr txBox="1"/>
          <p:nvPr/>
        </p:nvSpPr>
        <p:spPr>
          <a:xfrm>
            <a:off x="4676550" y="3217475"/>
            <a:ext cx="46554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06292"/>
                </a:solidFill>
                <a:latin typeface="Roboto Mono"/>
                <a:ea typeface="Roboto Mono"/>
                <a:cs typeface="Roboto Mono"/>
                <a:sym typeface="Roboto Mono"/>
              </a:rPr>
              <a:t>// index.js file (in the same folder as food.js)</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F06292"/>
                </a:solidFill>
                <a:latin typeface="Roboto Mono"/>
                <a:ea typeface="Roboto Mono"/>
                <a:cs typeface="Roboto Mono"/>
                <a:sym typeface="Roboto Mono"/>
              </a:rPr>
              <a:t>// how you import files locally</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4DD0E1"/>
                </a:solidFill>
                <a:latin typeface="Roboto Mono"/>
                <a:ea typeface="Roboto Mono"/>
                <a:cs typeface="Roboto Mono"/>
                <a:sym typeface="Roboto Mono"/>
              </a:rPr>
              <a:t>import</a:t>
            </a:r>
            <a:r>
              <a:rPr lang="en" sz="1000">
                <a:solidFill>
                  <a:srgbClr val="ECEFF1"/>
                </a:solidFill>
                <a:latin typeface="Roboto Mono"/>
                <a:ea typeface="Roboto Mono"/>
                <a:cs typeface="Roboto Mono"/>
                <a:sym typeface="Roboto Mono"/>
              </a:rPr>
              <a:t> {getFoodThoughtKeys,</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        getFoodThoughtsValues} </a:t>
            </a:r>
            <a:r>
              <a:rPr lang="en" sz="1000">
                <a:solidFill>
                  <a:srgbClr val="4DD0E1"/>
                </a:solidFill>
                <a:latin typeface="Roboto Mono"/>
                <a:ea typeface="Roboto Mono"/>
                <a:cs typeface="Roboto Mono"/>
                <a:sym typeface="Roboto Mono"/>
              </a:rPr>
              <a:t>from</a:t>
            </a:r>
            <a:r>
              <a:rPr lang="en" sz="1000">
                <a:solidFill>
                  <a:srgbClr val="ECEFF1"/>
                </a:solidFill>
                <a:latin typeface="Roboto Mono"/>
                <a:ea typeface="Roboto Mono"/>
                <a:cs typeface="Roboto Mono"/>
                <a:sym typeface="Roboto Mono"/>
              </a:rPr>
              <a:t> </a:t>
            </a:r>
            <a:r>
              <a:rPr lang="en" sz="1000">
                <a:solidFill>
                  <a:srgbClr val="9CCC65"/>
                </a:solidFill>
                <a:latin typeface="Roboto Mono"/>
                <a:ea typeface="Roboto Mono"/>
                <a:cs typeface="Roboto Mono"/>
                <a:sym typeface="Roboto Mono"/>
              </a:rPr>
              <a:t>'./food.js'</a:t>
            </a: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0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ECEFF1"/>
                </a:solidFill>
                <a:latin typeface="Roboto Mono"/>
                <a:ea typeface="Roboto Mono"/>
                <a:cs typeface="Roboto Mono"/>
                <a:sym typeface="Roboto Mono"/>
              </a:rPr>
              <a:t>getFoodThoughtKeys()</a:t>
            </a:r>
            <a:endParaRPr sz="100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000">
                <a:solidFill>
                  <a:srgbClr val="ECEFF1"/>
                </a:solidFill>
                <a:latin typeface="Roboto Mono"/>
                <a:ea typeface="Roboto Mono"/>
                <a:cs typeface="Roboto Mono"/>
                <a:sym typeface="Roboto Mono"/>
              </a:rPr>
              <a:t>getFoodThoughtsValues()</a:t>
            </a:r>
            <a:endParaRPr sz="100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Fetch</a:t>
            </a:r>
            <a:endParaRPr/>
          </a:p>
        </p:txBody>
      </p:sp>
      <p:sp>
        <p:nvSpPr>
          <p:cNvPr id="123" name="Google Shape;123;p22"/>
          <p:cNvSpPr txBox="1">
            <a:spLocks noGrp="1"/>
          </p:cNvSpPr>
          <p:nvPr>
            <p:ph type="body" idx="1"/>
          </p:nvPr>
        </p:nvSpPr>
        <p:spPr>
          <a:xfrm>
            <a:off x="387900" y="1221200"/>
            <a:ext cx="32898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Fetching information from a backend source is a very important thing that you’re going to do with your javascript applications.</a:t>
            </a:r>
            <a:endParaRPr sz="1200"/>
          </a:p>
          <a:p>
            <a:pPr marL="0" lvl="0" indent="0" algn="l" rtl="0">
              <a:spcBef>
                <a:spcPts val="1600"/>
              </a:spcBef>
              <a:spcAft>
                <a:spcPts val="0"/>
              </a:spcAft>
              <a:buNone/>
            </a:pPr>
            <a:r>
              <a:rPr lang="en" sz="1200"/>
              <a:t>On the right we have two examples both are making a “GET” request.</a:t>
            </a:r>
            <a:endParaRPr sz="1200"/>
          </a:p>
          <a:p>
            <a:pPr marL="0" lvl="0" indent="0" algn="l" rtl="0">
              <a:spcBef>
                <a:spcPts val="1600"/>
              </a:spcBef>
              <a:spcAft>
                <a:spcPts val="0"/>
              </a:spcAft>
              <a:buNone/>
            </a:pPr>
            <a:r>
              <a:rPr lang="en" sz="1200"/>
              <a:t>Both the “</a:t>
            </a:r>
            <a:r>
              <a:rPr lang="en" sz="950">
                <a:solidFill>
                  <a:srgbClr val="ECEFF1"/>
                </a:solidFill>
                <a:latin typeface="Roboto Mono"/>
                <a:ea typeface="Roboto Mono"/>
                <a:cs typeface="Roboto Mono"/>
                <a:sym typeface="Roboto Mono"/>
              </a:rPr>
              <a:t>fetch</a:t>
            </a:r>
            <a:r>
              <a:rPr lang="en" sz="1200"/>
              <a:t>” and the “</a:t>
            </a:r>
            <a:r>
              <a:rPr lang="en" sz="950">
                <a:solidFill>
                  <a:srgbClr val="ECEFF1"/>
                </a:solidFill>
                <a:latin typeface="Roboto Mono"/>
                <a:ea typeface="Roboto Mono"/>
                <a:cs typeface="Roboto Mono"/>
                <a:sym typeface="Roboto Mono"/>
              </a:rPr>
              <a:t>response.json()</a:t>
            </a:r>
            <a:r>
              <a:rPr lang="en" sz="1200"/>
              <a:t>”  return promises which why you need to either use “</a:t>
            </a:r>
            <a:r>
              <a:rPr lang="en" sz="950">
                <a:solidFill>
                  <a:srgbClr val="ECEFF1"/>
                </a:solidFill>
                <a:latin typeface="Roboto Mono"/>
                <a:ea typeface="Roboto Mono"/>
                <a:cs typeface="Roboto Mono"/>
                <a:sym typeface="Roboto Mono"/>
              </a:rPr>
              <a:t>.then</a:t>
            </a:r>
            <a:r>
              <a:rPr lang="en" sz="1200"/>
              <a:t>” or “</a:t>
            </a:r>
            <a:r>
              <a:rPr lang="en" sz="950">
                <a:solidFill>
                  <a:srgbClr val="4DD0E1"/>
                </a:solidFill>
                <a:latin typeface="Roboto Mono"/>
                <a:ea typeface="Roboto Mono"/>
                <a:cs typeface="Roboto Mono"/>
                <a:sym typeface="Roboto Mono"/>
              </a:rPr>
              <a:t>await</a:t>
            </a:r>
            <a:r>
              <a:rPr lang="en" sz="1200"/>
              <a:t>” to get their result (because they can take an indeterminate amount of time)</a:t>
            </a:r>
            <a:endParaRPr sz="1200"/>
          </a:p>
          <a:p>
            <a:pPr marL="0" lvl="0" indent="0" algn="l" rtl="0">
              <a:spcBef>
                <a:spcPts val="1600"/>
              </a:spcBef>
              <a:spcAft>
                <a:spcPts val="0"/>
              </a:spcAft>
              <a:buNone/>
            </a:pPr>
            <a:r>
              <a:rPr lang="en" sz="1200"/>
              <a:t>Both have a “</a:t>
            </a:r>
            <a:r>
              <a:rPr lang="en" sz="950">
                <a:solidFill>
                  <a:srgbClr val="ECEFF1"/>
                </a:solidFill>
                <a:latin typeface="Roboto Mono"/>
                <a:ea typeface="Roboto Mono"/>
                <a:cs typeface="Roboto Mono"/>
                <a:sym typeface="Roboto Mono"/>
              </a:rPr>
              <a:t>storyObject</a:t>
            </a:r>
            <a:r>
              <a:rPr lang="en" sz="1200"/>
              <a:t>” which is just a js object that we just reviewed. This is going to be what you end up using in your application.</a:t>
            </a:r>
            <a:endParaRPr sz="1200"/>
          </a:p>
          <a:p>
            <a:pPr marL="0" lvl="0" indent="0" algn="l" rtl="0">
              <a:spcBef>
                <a:spcPts val="1600"/>
              </a:spcBef>
              <a:spcAft>
                <a:spcPts val="1600"/>
              </a:spcAft>
              <a:buNone/>
            </a:pPr>
            <a:br>
              <a:rPr lang="en" sz="1200"/>
            </a:br>
            <a:br>
              <a:rPr lang="en" sz="1200"/>
            </a:br>
            <a:endParaRPr sz="1200"/>
          </a:p>
        </p:txBody>
      </p:sp>
      <p:sp>
        <p:nvSpPr>
          <p:cNvPr id="124" name="Google Shape;124;p22"/>
          <p:cNvSpPr txBox="1"/>
          <p:nvPr/>
        </p:nvSpPr>
        <p:spPr>
          <a:xfrm>
            <a:off x="3766100" y="1279100"/>
            <a:ext cx="5507700" cy="29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source https://github.com/HackerNews/API#items</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a:t>
            </a:r>
            <a:r>
              <a:rPr lang="en" sz="950">
                <a:solidFill>
                  <a:srgbClr val="FBC02D"/>
                </a:solidFill>
                <a:latin typeface="Roboto Mono"/>
                <a:ea typeface="Roboto Mono"/>
                <a:cs typeface="Roboto Mono"/>
                <a:sym typeface="Roboto Mono"/>
              </a:rPr>
              <a:t>STORY_URL</a:t>
            </a:r>
            <a:r>
              <a:rPr lang="en" sz="950">
                <a:solidFill>
                  <a:srgbClr val="ECEFF1"/>
                </a:solidFill>
                <a:latin typeface="Roboto Mono"/>
                <a:ea typeface="Roboto Mono"/>
                <a:cs typeface="Roboto Mono"/>
                <a:sym typeface="Roboto Mono"/>
              </a:rPr>
              <a:t> = </a:t>
            </a:r>
            <a:r>
              <a:rPr lang="en" sz="950">
                <a:solidFill>
                  <a:srgbClr val="9CCC65"/>
                </a:solidFill>
                <a:latin typeface="Roboto Mono"/>
                <a:ea typeface="Roboto Mono"/>
                <a:cs typeface="Roboto Mono"/>
                <a:sym typeface="Roboto Mono"/>
              </a:rPr>
              <a:t>"https://hacker-news.firebaseio.com/v0/item/8863.json"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a fetch request returns a promise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fetch(</a:t>
            </a:r>
            <a:r>
              <a:rPr lang="en" sz="950">
                <a:solidFill>
                  <a:srgbClr val="FBC02D"/>
                </a:solidFill>
                <a:latin typeface="Roboto Mono"/>
                <a:ea typeface="Roboto Mono"/>
                <a:cs typeface="Roboto Mono"/>
                <a:sym typeface="Roboto Mono"/>
              </a:rPr>
              <a:t>STORY_URL</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.then((response)=&gt;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response.json()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}).then((storyObject)=&gt;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.log(storyObject.title)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.log(storyObject.url)</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written as async an async function (more on this later)</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getStory =  </a:t>
            </a:r>
            <a:r>
              <a:rPr lang="en" sz="950">
                <a:solidFill>
                  <a:srgbClr val="4DD0E1"/>
                </a:solidFill>
                <a:latin typeface="Roboto Mono"/>
                <a:ea typeface="Roboto Mono"/>
                <a:cs typeface="Roboto Mono"/>
                <a:sym typeface="Roboto Mono"/>
              </a:rPr>
              <a:t>async</a:t>
            </a:r>
            <a:r>
              <a:rPr lang="en" sz="950">
                <a:solidFill>
                  <a:srgbClr val="ECEFF1"/>
                </a:solidFill>
                <a:latin typeface="Roboto Mono"/>
                <a:ea typeface="Roboto Mono"/>
                <a:cs typeface="Roboto Mono"/>
                <a:sym typeface="Roboto Mono"/>
              </a:rPr>
              <a:t> () =&gt;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response = </a:t>
            </a:r>
            <a:r>
              <a:rPr lang="en" sz="950">
                <a:solidFill>
                  <a:srgbClr val="4DD0E1"/>
                </a:solidFill>
                <a:latin typeface="Roboto Mono"/>
                <a:ea typeface="Roboto Mono"/>
                <a:cs typeface="Roboto Mono"/>
                <a:sym typeface="Roboto Mono"/>
              </a:rPr>
              <a:t>await</a:t>
            </a:r>
            <a:r>
              <a:rPr lang="en" sz="950">
                <a:solidFill>
                  <a:srgbClr val="ECEFF1"/>
                </a:solidFill>
                <a:latin typeface="Roboto Mono"/>
                <a:ea typeface="Roboto Mono"/>
                <a:cs typeface="Roboto Mono"/>
                <a:sym typeface="Roboto Mono"/>
              </a:rPr>
              <a:t> fetch(</a:t>
            </a:r>
            <a:r>
              <a:rPr lang="en" sz="950">
                <a:solidFill>
                  <a:srgbClr val="FBC02D"/>
                </a:solidFill>
                <a:latin typeface="Roboto Mono"/>
                <a:ea typeface="Roboto Mono"/>
                <a:cs typeface="Roboto Mono"/>
                <a:sym typeface="Roboto Mono"/>
              </a:rPr>
              <a:t>STORY_URL</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storyObject = </a:t>
            </a:r>
            <a:r>
              <a:rPr lang="en" sz="950">
                <a:solidFill>
                  <a:srgbClr val="4DD0E1"/>
                </a:solidFill>
                <a:latin typeface="Roboto Mono"/>
                <a:ea typeface="Roboto Mono"/>
                <a:cs typeface="Roboto Mono"/>
                <a:sym typeface="Roboto Mono"/>
              </a:rPr>
              <a:t>await</a:t>
            </a:r>
            <a:r>
              <a:rPr lang="en" sz="950">
                <a:solidFill>
                  <a:srgbClr val="ECEFF1"/>
                </a:solidFill>
                <a:latin typeface="Roboto Mono"/>
                <a:ea typeface="Roboto Mono"/>
                <a:cs typeface="Roboto Mono"/>
                <a:sym typeface="Roboto Mono"/>
              </a:rPr>
              <a:t> response.json()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.log(storyObject.title)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.log(storyObject.url)</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ECEFF1"/>
                </a:solidFill>
                <a:latin typeface="Roboto Mono"/>
                <a:ea typeface="Roboto Mono"/>
                <a:cs typeface="Roboto Mono"/>
                <a:sym typeface="Roboto Mono"/>
              </a:rPr>
              <a:t>getStory()</a:t>
            </a:r>
            <a:endParaRPr sz="950">
              <a:solidFill>
                <a:srgbClr val="ECEFF1"/>
              </a:solidFill>
              <a:latin typeface="Roboto Mono"/>
              <a:ea typeface="Roboto Mono"/>
              <a:cs typeface="Roboto Mono"/>
              <a:sym typeface="Roboto Mono"/>
            </a:endParaRPr>
          </a:p>
        </p:txBody>
      </p:sp>
      <p:sp>
        <p:nvSpPr>
          <p:cNvPr id="125" name="Google Shape;125;p22"/>
          <p:cNvSpPr txBox="1"/>
          <p:nvPr/>
        </p:nvSpPr>
        <p:spPr>
          <a:xfrm>
            <a:off x="3766100" y="424220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r>
              <a:rPr lang="en" sz="1200" u="sng">
                <a:solidFill>
                  <a:schemeClr val="accent5"/>
                </a:solidFill>
                <a:latin typeface="Roboto"/>
                <a:ea typeface="Roboto"/>
                <a:cs typeface="Roboto"/>
                <a:sym typeface="Roboto"/>
                <a:hlinkClick r:id="rId3">
                  <a:extLst>
                    <a:ext uri="{A12FA001-AC4F-418D-AE19-62706E023703}">
                      <ahyp:hlinkClr xmlns:ahyp="http://schemas.microsoft.com/office/drawing/2018/hyperlinkcolor" val="tx"/>
                    </a:ext>
                  </a:extLst>
                </a:hlinkClick>
              </a:rPr>
              <a:t>Live Demo here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body" idx="1"/>
          </p:nvPr>
        </p:nvSpPr>
        <p:spPr>
          <a:xfrm>
            <a:off x="387900" y="1223400"/>
            <a:ext cx="8368200" cy="765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Let’s talk about Synchronous and Asynchronous Code, in this class and all front end applications use asynchronous code. There is some confusion about these concepts, so we’re going to explain this with buying books(synchronous) vs eating at a restaurant (asynchronous). </a:t>
            </a:r>
            <a:endParaRPr sz="1200"/>
          </a:p>
        </p:txBody>
      </p:sp>
      <p:sp>
        <p:nvSpPr>
          <p:cNvPr id="131" name="Google Shape;131;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Sync and Async Code.</a:t>
            </a:r>
            <a:endParaRPr/>
          </a:p>
        </p:txBody>
      </p:sp>
      <p:sp>
        <p:nvSpPr>
          <p:cNvPr id="132" name="Google Shape;132;p23"/>
          <p:cNvSpPr txBox="1">
            <a:spLocks noGrp="1"/>
          </p:cNvSpPr>
          <p:nvPr>
            <p:ph type="body" idx="1"/>
          </p:nvPr>
        </p:nvSpPr>
        <p:spPr>
          <a:xfrm>
            <a:off x="387900" y="2230175"/>
            <a:ext cx="3926700" cy="27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a two line program of synchronous code, the first line needs to execute and complete, before the second line can begin to execute</a:t>
            </a:r>
            <a:endParaRPr sz="1200"/>
          </a:p>
          <a:p>
            <a:pPr marL="0" lvl="0" indent="0" algn="l" rtl="0">
              <a:spcBef>
                <a:spcPts val="1600"/>
              </a:spcBef>
              <a:spcAft>
                <a:spcPts val="0"/>
              </a:spcAft>
              <a:buNone/>
            </a:pPr>
            <a:r>
              <a:rPr lang="en" sz="1200"/>
              <a:t>You’re going to buy a book, so you go to the bookstore. You get your book, and there’s a line so you stand in line, people also line up behind you. </a:t>
            </a:r>
            <a:endParaRPr sz="1200"/>
          </a:p>
          <a:p>
            <a:pPr marL="0" lvl="0" indent="0" algn="l" rtl="0">
              <a:spcBef>
                <a:spcPts val="1600"/>
              </a:spcBef>
              <a:spcAft>
                <a:spcPts val="1600"/>
              </a:spcAft>
              <a:buNone/>
            </a:pPr>
            <a:r>
              <a:rPr lang="en" sz="1200"/>
              <a:t>You have to wait for people in front of you in line to buy their books first before you can buy yours, and the people behind you can’t buy their books before you can buy yours.</a:t>
            </a:r>
            <a:endParaRPr sz="1200"/>
          </a:p>
        </p:txBody>
      </p:sp>
      <p:sp>
        <p:nvSpPr>
          <p:cNvPr id="133" name="Google Shape;133;p23"/>
          <p:cNvSpPr txBox="1">
            <a:spLocks noGrp="1"/>
          </p:cNvSpPr>
          <p:nvPr>
            <p:ph type="body" idx="1"/>
          </p:nvPr>
        </p:nvSpPr>
        <p:spPr>
          <a:xfrm>
            <a:off x="4829400" y="2230175"/>
            <a:ext cx="3926700" cy="100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a two line program of asynchronous code, the first line schedules some task (or job) to be run in the future, and the second line executes before that task (or job) completes.</a:t>
            </a:r>
            <a:endParaRPr sz="1200"/>
          </a:p>
          <a:p>
            <a:pPr marL="0" lvl="0" indent="0" algn="l" rtl="0">
              <a:spcBef>
                <a:spcPts val="1600"/>
              </a:spcBef>
              <a:spcAft>
                <a:spcPts val="0"/>
              </a:spcAft>
              <a:buNone/>
            </a:pPr>
            <a:r>
              <a:rPr lang="en" sz="1200"/>
              <a:t>You sit down and then another party comes in and sits down in at a restaurant.</a:t>
            </a:r>
            <a:endParaRPr sz="1200"/>
          </a:p>
          <a:p>
            <a:pPr marL="0" lvl="0" indent="0" algn="l" rtl="0">
              <a:spcBef>
                <a:spcPts val="1600"/>
              </a:spcBef>
              <a:spcAft>
                <a:spcPts val="1600"/>
              </a:spcAft>
              <a:buNone/>
            </a:pPr>
            <a:r>
              <a:rPr lang="en" sz="1200"/>
              <a:t>They don’t need to wait for you to receive and complete your food before they order. As well once the order comes they don’t necessarily need to be fulfilled in order (example, you order coffee, they order risotto)</a:t>
            </a:r>
            <a:endParaRPr sz="1200"/>
          </a:p>
        </p:txBody>
      </p:sp>
      <p:sp>
        <p:nvSpPr>
          <p:cNvPr id="134" name="Google Shape;134;p23"/>
          <p:cNvSpPr txBox="1">
            <a:spLocks noGrp="1"/>
          </p:cNvSpPr>
          <p:nvPr>
            <p:ph type="body" idx="1"/>
          </p:nvPr>
        </p:nvSpPr>
        <p:spPr>
          <a:xfrm>
            <a:off x="402700" y="1917950"/>
            <a:ext cx="3926700" cy="442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t>Synchronous Code (buying books)</a:t>
            </a:r>
            <a:endParaRPr sz="1400" b="1"/>
          </a:p>
        </p:txBody>
      </p:sp>
      <p:sp>
        <p:nvSpPr>
          <p:cNvPr id="135" name="Google Shape;135;p23"/>
          <p:cNvSpPr txBox="1">
            <a:spLocks noGrp="1"/>
          </p:cNvSpPr>
          <p:nvPr>
            <p:ph type="body" idx="1"/>
          </p:nvPr>
        </p:nvSpPr>
        <p:spPr>
          <a:xfrm>
            <a:off x="4844200" y="1917950"/>
            <a:ext cx="3926700" cy="442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t>Asynchronous Code (eating at a restaurant)</a:t>
            </a:r>
            <a:endParaRPr sz="1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body" idx="1"/>
          </p:nvPr>
        </p:nvSpPr>
        <p:spPr>
          <a:xfrm>
            <a:off x="199825" y="1200300"/>
            <a:ext cx="37743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Promises allow us to write code that uses async and await in a synchronous manner which is pretty awesome.</a:t>
            </a:r>
            <a:endParaRPr sz="1200"/>
          </a:p>
          <a:p>
            <a:pPr marL="0" lvl="0" indent="0" algn="l" rtl="0">
              <a:spcBef>
                <a:spcPts val="1600"/>
              </a:spcBef>
              <a:spcAft>
                <a:spcPts val="0"/>
              </a:spcAft>
              <a:buNone/>
            </a:pPr>
            <a:r>
              <a:rPr lang="en" sz="1200"/>
              <a:t>On the right we have an example of using a custom promise.</a:t>
            </a:r>
            <a:endParaRPr sz="1200"/>
          </a:p>
          <a:p>
            <a:pPr marL="0" lvl="0" indent="0" algn="l" rtl="0">
              <a:spcBef>
                <a:spcPts val="1600"/>
              </a:spcBef>
              <a:spcAft>
                <a:spcPts val="0"/>
              </a:spcAft>
              <a:buNone/>
            </a:pPr>
            <a:r>
              <a:rPr lang="en" sz="1200"/>
              <a:t>If pass in “</a:t>
            </a:r>
            <a:r>
              <a:rPr lang="en" sz="1050">
                <a:solidFill>
                  <a:srgbClr val="4DD0E1"/>
                </a:solidFill>
                <a:latin typeface="Roboto Mono"/>
                <a:ea typeface="Roboto Mono"/>
                <a:cs typeface="Roboto Mono"/>
                <a:sym typeface="Roboto Mono"/>
              </a:rPr>
              <a:t>true</a:t>
            </a:r>
            <a:r>
              <a:rPr lang="en" sz="1200"/>
              <a:t>” to “</a:t>
            </a:r>
            <a:r>
              <a:rPr lang="en" sz="1050">
                <a:solidFill>
                  <a:srgbClr val="ECEFF1"/>
                </a:solidFill>
                <a:latin typeface="Roboto Mono"/>
                <a:ea typeface="Roboto Mono"/>
                <a:cs typeface="Roboto Mono"/>
                <a:sym typeface="Roboto Mono"/>
              </a:rPr>
              <a:t>completeHomeWork</a:t>
            </a:r>
            <a:r>
              <a:rPr lang="en" sz="1200"/>
              <a:t>” it takes us three seconds to do it and we “</a:t>
            </a:r>
            <a:r>
              <a:rPr lang="en" sz="1050">
                <a:solidFill>
                  <a:srgbClr val="ECEFF1"/>
                </a:solidFill>
                <a:latin typeface="Roboto Mono"/>
                <a:ea typeface="Roboto Mono"/>
                <a:cs typeface="Roboto Mono"/>
                <a:sym typeface="Roboto Mono"/>
              </a:rPr>
              <a:t>resolve</a:t>
            </a:r>
            <a:r>
              <a:rPr lang="en" sz="1200"/>
              <a:t>” (fulfill) the promise, and we use “</a:t>
            </a:r>
            <a:r>
              <a:rPr lang="en" sz="1050">
                <a:solidFill>
                  <a:srgbClr val="ECEFF1"/>
                </a:solidFill>
                <a:latin typeface="Roboto Mono"/>
                <a:ea typeface="Roboto Mono"/>
                <a:cs typeface="Roboto Mono"/>
                <a:sym typeface="Roboto Mono"/>
              </a:rPr>
              <a:t>.</a:t>
            </a:r>
            <a:r>
              <a:rPr lang="en" sz="1050">
                <a:solidFill>
                  <a:srgbClr val="4DD0E1"/>
                </a:solidFill>
                <a:latin typeface="Roboto Mono"/>
                <a:ea typeface="Roboto Mono"/>
                <a:cs typeface="Roboto Mono"/>
                <a:sym typeface="Roboto Mono"/>
              </a:rPr>
              <a:t>then</a:t>
            </a:r>
            <a:r>
              <a:rPr lang="en" sz="1200"/>
              <a:t>” to handle the response.</a:t>
            </a:r>
            <a:endParaRPr sz="1200"/>
          </a:p>
          <a:p>
            <a:pPr marL="0" lvl="0" indent="0" algn="l" rtl="0">
              <a:spcBef>
                <a:spcPts val="1600"/>
              </a:spcBef>
              <a:spcAft>
                <a:spcPts val="1600"/>
              </a:spcAft>
              <a:buNone/>
            </a:pPr>
            <a:r>
              <a:rPr lang="en" sz="1200"/>
              <a:t>If we pass “</a:t>
            </a:r>
            <a:r>
              <a:rPr lang="en" sz="1050">
                <a:solidFill>
                  <a:srgbClr val="4DD0E1"/>
                </a:solidFill>
                <a:latin typeface="Roboto Mono"/>
                <a:ea typeface="Roboto Mono"/>
                <a:cs typeface="Roboto Mono"/>
                <a:sym typeface="Roboto Mono"/>
              </a:rPr>
              <a:t>false</a:t>
            </a:r>
            <a:r>
              <a:rPr lang="en" sz="1200"/>
              <a:t>” to “</a:t>
            </a:r>
            <a:r>
              <a:rPr lang="en" sz="1050">
                <a:solidFill>
                  <a:srgbClr val="ECEFF1"/>
                </a:solidFill>
                <a:latin typeface="Roboto Mono"/>
                <a:ea typeface="Roboto Mono"/>
                <a:cs typeface="Roboto Mono"/>
                <a:sym typeface="Roboto Mono"/>
              </a:rPr>
              <a:t>completeHomeWork</a:t>
            </a:r>
            <a:r>
              <a:rPr lang="en" sz="1200"/>
              <a:t>” we need to “</a:t>
            </a:r>
            <a:r>
              <a:rPr lang="en" sz="1050">
                <a:solidFill>
                  <a:srgbClr val="ECEFF1"/>
                </a:solidFill>
                <a:latin typeface="Roboto Mono"/>
                <a:ea typeface="Roboto Mono"/>
                <a:cs typeface="Roboto Mono"/>
                <a:sym typeface="Roboto Mono"/>
              </a:rPr>
              <a:t>.</a:t>
            </a:r>
            <a:r>
              <a:rPr lang="en" sz="1050">
                <a:solidFill>
                  <a:srgbClr val="4DD0E1"/>
                </a:solidFill>
                <a:latin typeface="Roboto Mono"/>
                <a:ea typeface="Roboto Mono"/>
                <a:cs typeface="Roboto Mono"/>
                <a:sym typeface="Roboto Mono"/>
              </a:rPr>
              <a:t>catch</a:t>
            </a:r>
            <a:r>
              <a:rPr lang="en" sz="1200"/>
              <a:t>” our promise because we have used “</a:t>
            </a:r>
            <a:r>
              <a:rPr lang="en" sz="1050">
                <a:solidFill>
                  <a:srgbClr val="ECEFF1"/>
                </a:solidFill>
                <a:latin typeface="Roboto Mono"/>
                <a:ea typeface="Roboto Mono"/>
                <a:cs typeface="Roboto Mono"/>
                <a:sym typeface="Roboto Mono"/>
              </a:rPr>
              <a:t>reject</a:t>
            </a:r>
            <a:r>
              <a:rPr lang="en" sz="1200"/>
              <a:t>” in our promise for the negative result.</a:t>
            </a:r>
            <a:endParaRPr sz="1200"/>
          </a:p>
        </p:txBody>
      </p:sp>
      <p:sp>
        <p:nvSpPr>
          <p:cNvPr id="141" name="Google Shape;141;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 Promises</a:t>
            </a:r>
            <a:endParaRPr/>
          </a:p>
        </p:txBody>
      </p:sp>
      <p:sp>
        <p:nvSpPr>
          <p:cNvPr id="142" name="Google Shape;142;p24"/>
          <p:cNvSpPr txBox="1">
            <a:spLocks noGrp="1"/>
          </p:cNvSpPr>
          <p:nvPr>
            <p:ph type="body" idx="1"/>
          </p:nvPr>
        </p:nvSpPr>
        <p:spPr>
          <a:xfrm>
            <a:off x="140700" y="4335350"/>
            <a:ext cx="3774300" cy="959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More Reading: </a:t>
            </a:r>
            <a:r>
              <a:rPr lang="en" sz="1200" u="sng">
                <a:solidFill>
                  <a:schemeClr val="hlink"/>
                </a:solidFill>
                <a:hlinkClick r:id="rId3"/>
              </a:rPr>
              <a:t>https://medium.com/@kevinyckim33/what-are-promises-in-javascript-f1a5fc5b34bf</a:t>
            </a:r>
            <a:r>
              <a:rPr lang="en" sz="1200"/>
              <a:t> </a:t>
            </a:r>
            <a:endParaRPr sz="1200"/>
          </a:p>
        </p:txBody>
      </p:sp>
      <p:sp>
        <p:nvSpPr>
          <p:cNvPr id="143" name="Google Shape;143;p24"/>
          <p:cNvSpPr txBox="1"/>
          <p:nvPr/>
        </p:nvSpPr>
        <p:spPr>
          <a:xfrm>
            <a:off x="4085175" y="147200"/>
            <a:ext cx="51954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completeHomeWork = (didDoHomework)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return</a:t>
            </a: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new</a:t>
            </a:r>
            <a:r>
              <a:rPr lang="en" sz="1050" dirty="0">
                <a:solidFill>
                  <a:srgbClr val="ECEFF1"/>
                </a:solidFill>
                <a:latin typeface="Roboto Mono"/>
                <a:ea typeface="Roboto Mono"/>
                <a:cs typeface="Roboto Mono"/>
                <a:sym typeface="Roboto Mono"/>
              </a:rPr>
              <a:t> </a:t>
            </a:r>
            <a:r>
              <a:rPr lang="en" sz="1050" dirty="0">
                <a:solidFill>
                  <a:srgbClr val="CE93D8"/>
                </a:solidFill>
                <a:latin typeface="Roboto Mono"/>
                <a:ea typeface="Roboto Mono"/>
                <a:cs typeface="Roboto Mono"/>
                <a:sym typeface="Roboto Mono"/>
              </a:rPr>
              <a:t>Promise</a:t>
            </a:r>
            <a:r>
              <a:rPr lang="en" sz="1050" dirty="0">
                <a:solidFill>
                  <a:srgbClr val="ECEFF1"/>
                </a:solidFill>
                <a:latin typeface="Roboto Mono"/>
                <a:ea typeface="Roboto Mono"/>
                <a:cs typeface="Roboto Mono"/>
                <a:sym typeface="Roboto Mono"/>
              </a:rPr>
              <a:t>((resolve, reject)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if</a:t>
            </a:r>
            <a:r>
              <a:rPr lang="en" sz="1050" dirty="0">
                <a:solidFill>
                  <a:srgbClr val="ECEFF1"/>
                </a:solidFill>
                <a:latin typeface="Roboto Mono"/>
                <a:ea typeface="Roboto Mono"/>
                <a:cs typeface="Roboto Mono"/>
                <a:sym typeface="Roboto Mono"/>
              </a:rPr>
              <a:t> (didDoHomework)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F06292"/>
                </a:solidFill>
                <a:latin typeface="Roboto Mono"/>
                <a:ea typeface="Roboto Mono"/>
                <a:cs typeface="Roboto Mono"/>
                <a:sym typeface="Roboto Mono"/>
              </a:rPr>
              <a:t>// it takes us 3 seconds to do it.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setTimeout(()=&gt;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resolve(</a:t>
            </a:r>
            <a:r>
              <a:rPr lang="en" sz="1050" dirty="0">
                <a:solidFill>
                  <a:srgbClr val="9CCC65"/>
                </a:solidFill>
                <a:latin typeface="Roboto Mono"/>
                <a:ea typeface="Roboto Mono"/>
                <a:cs typeface="Roboto Mono"/>
                <a:sym typeface="Roboto Mono"/>
              </a:rPr>
              <a:t>"You can go out"</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 </a:t>
            </a:r>
            <a:r>
              <a:rPr lang="en" sz="1050" dirty="0">
                <a:solidFill>
                  <a:srgbClr val="FBC02D"/>
                </a:solidFill>
                <a:latin typeface="Roboto Mono"/>
                <a:ea typeface="Roboto Mono"/>
                <a:cs typeface="Roboto Mono"/>
                <a:sym typeface="Roboto Mono"/>
              </a:rPr>
              <a:t>3000</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 </a:t>
            </a:r>
            <a:r>
              <a:rPr lang="en" sz="1050" dirty="0">
                <a:solidFill>
                  <a:srgbClr val="4DD0E1"/>
                </a:solidFill>
                <a:latin typeface="Roboto Mono"/>
                <a:ea typeface="Roboto Mono"/>
                <a:cs typeface="Roboto Mono"/>
                <a:sym typeface="Roboto Mono"/>
              </a:rPr>
              <a:t>else</a:t>
            </a: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F06292"/>
                </a:solidFill>
                <a:latin typeface="Roboto Mono"/>
                <a:ea typeface="Roboto Mono"/>
                <a:cs typeface="Roboto Mono"/>
                <a:sym typeface="Roboto Mono"/>
              </a:rPr>
              <a:t>// if we didn't do our homework we'll study.</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reject(</a:t>
            </a:r>
            <a:r>
              <a:rPr lang="en" sz="1050" dirty="0">
                <a:solidFill>
                  <a:srgbClr val="9CCC65"/>
                </a:solidFill>
                <a:latin typeface="Roboto Mono"/>
                <a:ea typeface="Roboto Mono"/>
                <a:cs typeface="Roboto Mono"/>
                <a:sym typeface="Roboto Mono"/>
              </a:rPr>
              <a:t>"You need to study"</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console.log(</a:t>
            </a:r>
            <a:r>
              <a:rPr lang="en" sz="1050" dirty="0">
                <a:solidFill>
                  <a:srgbClr val="9CCC65"/>
                </a:solidFill>
                <a:latin typeface="Roboto Mono"/>
                <a:ea typeface="Roboto Mono"/>
                <a:cs typeface="Roboto Mono"/>
                <a:sym typeface="Roboto Mono"/>
              </a:rPr>
              <a:t>"Can you go out with friends on Monday?"</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completeHomeWork(</a:t>
            </a:r>
            <a:r>
              <a:rPr lang="en" sz="1050" dirty="0">
                <a:solidFill>
                  <a:srgbClr val="4DD0E1"/>
                </a:solidFill>
                <a:latin typeface="Roboto Mono"/>
                <a:ea typeface="Roboto Mono"/>
                <a:cs typeface="Roboto Mono"/>
                <a:sym typeface="Roboto Mono"/>
              </a:rPr>
              <a:t>true</a:t>
            </a:r>
            <a:r>
              <a:rPr lang="en" sz="1050" dirty="0">
                <a:solidFill>
                  <a:srgbClr val="ECEFF1"/>
                </a:solidFill>
                <a:latin typeface="Roboto Mono"/>
                <a:ea typeface="Roboto Mono"/>
                <a:cs typeface="Roboto Mono"/>
                <a:sym typeface="Roboto Mono"/>
              </a:rPr>
              <a:t>).</a:t>
            </a:r>
            <a:r>
              <a:rPr lang="en" sz="1050" dirty="0">
                <a:solidFill>
                  <a:srgbClr val="4DD0E1"/>
                </a:solidFill>
                <a:latin typeface="Roboto Mono"/>
                <a:ea typeface="Roboto Mono"/>
                <a:cs typeface="Roboto Mono"/>
                <a:sym typeface="Roboto Mono"/>
              </a:rPr>
              <a:t>then</a:t>
            </a:r>
            <a:r>
              <a:rPr lang="en" sz="1050" dirty="0">
                <a:solidFill>
                  <a:srgbClr val="ECEFF1"/>
                </a:solidFill>
                <a:latin typeface="Roboto Mono"/>
                <a:ea typeface="Roboto Mono"/>
                <a:cs typeface="Roboto Mono"/>
                <a:sym typeface="Roboto Mono"/>
              </a:rPr>
              <a:t>((result) =&gt;{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console.log(result);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F06292"/>
                </a:solidFill>
                <a:latin typeface="Roboto Mono"/>
                <a:ea typeface="Roboto Mono"/>
                <a:cs typeface="Roboto Mono"/>
                <a:sym typeface="Roboto Mono"/>
              </a:rPr>
              <a:t>// this is a positive result so we can go out.</a:t>
            </a:r>
            <a:endParaRPr sz="1050" dirty="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F06292"/>
                </a:solidFill>
                <a:latin typeface="Roboto Mono"/>
                <a:ea typeface="Roboto Mono"/>
                <a:cs typeface="Roboto Mono"/>
                <a:sym typeface="Roboto Mono"/>
              </a:rPr>
              <a:t>// Note: we used .then() to process positive results</a:t>
            </a:r>
            <a:endParaRPr sz="1050" dirty="0">
              <a:solidFill>
                <a:srgbClr val="F06292"/>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F06292"/>
                </a:solidFill>
                <a:latin typeface="Roboto Mono"/>
                <a:ea typeface="Roboto Mono"/>
                <a:cs typeface="Roboto Mono"/>
                <a:sym typeface="Roboto Mono"/>
              </a:rPr>
              <a:t>// As well this is going to print after 3 seconds</a:t>
            </a:r>
            <a:endParaRPr sz="1050" dirty="0">
              <a:solidFill>
                <a:srgbClr val="F06292"/>
              </a:solidFill>
              <a:latin typeface="Roboto Mono"/>
              <a:ea typeface="Roboto Mono"/>
              <a:cs typeface="Roboto Mono"/>
              <a:sym typeface="Roboto Mono"/>
            </a:endParaRPr>
          </a:p>
          <a:p>
            <a:pPr marL="0" lvl="0" indent="0" algn="l" rtl="0">
              <a:spcBef>
                <a:spcPts val="0"/>
              </a:spcBef>
              <a:spcAft>
                <a:spcPts val="0"/>
              </a:spcAft>
              <a:buNone/>
            </a:pP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console.log(</a:t>
            </a:r>
            <a:r>
              <a:rPr lang="en" sz="1050" dirty="0">
                <a:solidFill>
                  <a:srgbClr val="9CCC65"/>
                </a:solidFill>
                <a:latin typeface="Roboto Mono"/>
                <a:ea typeface="Roboto Mono"/>
                <a:cs typeface="Roboto Mono"/>
                <a:sym typeface="Roboto Mono"/>
              </a:rPr>
              <a:t>"Can you go out with friends on Tuesday?"</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completeHomeWork(</a:t>
            </a:r>
            <a:r>
              <a:rPr lang="en" sz="1050" dirty="0">
                <a:solidFill>
                  <a:srgbClr val="4DD0E1"/>
                </a:solidFill>
                <a:latin typeface="Roboto Mono"/>
                <a:ea typeface="Roboto Mono"/>
                <a:cs typeface="Roboto Mono"/>
                <a:sym typeface="Roboto Mono"/>
              </a:rPr>
              <a:t>false</a:t>
            </a:r>
            <a:r>
              <a:rPr lang="en" sz="1050" dirty="0">
                <a:solidFill>
                  <a:srgbClr val="ECEFF1"/>
                </a:solidFill>
                <a:latin typeface="Roboto Mono"/>
                <a:ea typeface="Roboto Mono"/>
                <a:cs typeface="Roboto Mono"/>
                <a:sym typeface="Roboto Mono"/>
              </a:rPr>
              <a:t>).</a:t>
            </a:r>
            <a:r>
              <a:rPr lang="en" sz="1050" dirty="0">
                <a:solidFill>
                  <a:srgbClr val="4DD0E1"/>
                </a:solidFill>
                <a:latin typeface="Roboto Mono"/>
                <a:ea typeface="Roboto Mono"/>
                <a:cs typeface="Roboto Mono"/>
                <a:sym typeface="Roboto Mono"/>
              </a:rPr>
              <a:t>catch</a:t>
            </a:r>
            <a:r>
              <a:rPr lang="en" sz="1050" dirty="0">
                <a:solidFill>
                  <a:srgbClr val="ECEFF1"/>
                </a:solidFill>
                <a:latin typeface="Roboto Mono"/>
                <a:ea typeface="Roboto Mono"/>
                <a:cs typeface="Roboto Mono"/>
                <a:sym typeface="Roboto Mono"/>
              </a:rPr>
              <a:t>((result) =&gt;{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console.log(result);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F06292"/>
                </a:solidFill>
                <a:latin typeface="Roboto Mono"/>
                <a:ea typeface="Roboto Mono"/>
                <a:cs typeface="Roboto Mono"/>
                <a:sym typeface="Roboto Mono"/>
              </a:rPr>
              <a:t>// this a negative promise result so we can not go out.</a:t>
            </a:r>
            <a:endParaRPr sz="1050" dirty="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050" dirty="0">
                <a:solidFill>
                  <a:srgbClr val="F06292"/>
                </a:solidFill>
                <a:latin typeface="Roboto Mono"/>
                <a:ea typeface="Roboto Mono"/>
                <a:cs typeface="Roboto Mono"/>
                <a:sym typeface="Roboto Mono"/>
              </a:rPr>
              <a:t>// Note: we used .catch() to process negative results</a:t>
            </a:r>
            <a:endParaRPr sz="1050" dirty="0">
              <a:solidFill>
                <a:srgbClr val="F06292"/>
              </a:solidFill>
              <a:latin typeface="Roboto Mono"/>
              <a:ea typeface="Roboto Mono"/>
              <a:cs typeface="Roboto Mono"/>
              <a:sym typeface="Roboto Mono"/>
            </a:endParaRPr>
          </a:p>
        </p:txBody>
      </p:sp>
      <p:sp>
        <p:nvSpPr>
          <p:cNvPr id="144" name="Google Shape;144;p24"/>
          <p:cNvSpPr txBox="1"/>
          <p:nvPr/>
        </p:nvSpPr>
        <p:spPr>
          <a:xfrm>
            <a:off x="5838375" y="4750550"/>
            <a:ext cx="1036800" cy="5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rgbClr val="8BC34A"/>
                </a:solidFill>
                <a:latin typeface="Roboto"/>
                <a:ea typeface="Roboto"/>
                <a:cs typeface="Roboto"/>
                <a:sym typeface="Roboto"/>
                <a:hlinkClick r:id="rId4">
                  <a:extLst>
                    <a:ext uri="{A12FA001-AC4F-418D-AE19-62706E023703}">
                      <ahyp:hlinkClr xmlns:ahyp="http://schemas.microsoft.com/office/drawing/2018/hyperlinkcolor" val="tx"/>
                    </a:ext>
                  </a:extLst>
                </a:hlinkClick>
              </a:rPr>
              <a:t>Live Demo</a:t>
            </a:r>
            <a:endParaRPr>
              <a:solidFill>
                <a:srgbClr val="FFFFF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body" idx="1"/>
          </p:nvPr>
        </p:nvSpPr>
        <p:spPr>
          <a:xfrm>
            <a:off x="199825" y="1200300"/>
            <a:ext cx="36783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Async and Await are an extension of Promises that we just looked at. Javascript, like any user interface code needs to be asynchronous because you need to wait for the user to do actions. Other actions might happen during this time, but these bits of code need to wait for results to come back.</a:t>
            </a:r>
            <a:endParaRPr sz="1100"/>
          </a:p>
          <a:p>
            <a:pPr marL="0" lvl="0" indent="0" algn="l" rtl="0">
              <a:spcBef>
                <a:spcPts val="1600"/>
              </a:spcBef>
              <a:spcAft>
                <a:spcPts val="0"/>
              </a:spcAft>
              <a:buNone/>
            </a:pPr>
            <a:r>
              <a:rPr lang="en" sz="1100"/>
              <a:t>How do we create an asynchronous function?</a:t>
            </a:r>
            <a:endParaRPr sz="1100"/>
          </a:p>
          <a:p>
            <a:pPr marL="457200" lvl="0" indent="-298450" algn="l" rtl="0">
              <a:spcBef>
                <a:spcPts val="1600"/>
              </a:spcBef>
              <a:spcAft>
                <a:spcPts val="0"/>
              </a:spcAft>
              <a:buSzPts val="1100"/>
              <a:buAutoNum type="arabicPeriod"/>
            </a:pPr>
            <a:r>
              <a:rPr lang="en" sz="1100"/>
              <a:t>Use “</a:t>
            </a:r>
            <a:r>
              <a:rPr lang="en" sz="1100">
                <a:solidFill>
                  <a:srgbClr val="4DD0E1"/>
                </a:solidFill>
                <a:latin typeface="Roboto Mono"/>
                <a:ea typeface="Roboto Mono"/>
                <a:cs typeface="Roboto Mono"/>
                <a:sym typeface="Roboto Mono"/>
              </a:rPr>
              <a:t>async</a:t>
            </a:r>
            <a:r>
              <a:rPr lang="en" sz="1100"/>
              <a:t>” before the function definition</a:t>
            </a:r>
            <a:endParaRPr sz="1100"/>
          </a:p>
          <a:p>
            <a:pPr marL="457200" lvl="0" indent="-298450" algn="l" rtl="0">
              <a:spcBef>
                <a:spcPts val="0"/>
              </a:spcBef>
              <a:spcAft>
                <a:spcPts val="0"/>
              </a:spcAft>
              <a:buSzPts val="1100"/>
              <a:buAutoNum type="arabicPeriod"/>
            </a:pPr>
            <a:r>
              <a:rPr lang="en" sz="1100"/>
              <a:t>Use “</a:t>
            </a:r>
            <a:r>
              <a:rPr lang="en" sz="1100">
                <a:solidFill>
                  <a:srgbClr val="4DD0E1"/>
                </a:solidFill>
                <a:latin typeface="Roboto Mono"/>
                <a:ea typeface="Roboto Mono"/>
                <a:cs typeface="Roboto Mono"/>
                <a:sym typeface="Roboto Mono"/>
              </a:rPr>
              <a:t>await</a:t>
            </a:r>
            <a:r>
              <a:rPr lang="en" sz="1100"/>
              <a:t>” for asynchronous code from javascript.</a:t>
            </a:r>
            <a:endParaRPr sz="1100"/>
          </a:p>
          <a:p>
            <a:pPr marL="457200" lvl="0" indent="-298450" algn="l" rtl="0">
              <a:spcBef>
                <a:spcPts val="0"/>
              </a:spcBef>
              <a:spcAft>
                <a:spcPts val="0"/>
              </a:spcAft>
              <a:buSzPts val="1100"/>
              <a:buAutoNum type="arabicPeriod"/>
            </a:pPr>
            <a:r>
              <a:rPr lang="en" sz="1100"/>
              <a:t>Call that function via “</a:t>
            </a:r>
            <a:r>
              <a:rPr lang="en" sz="1100">
                <a:solidFill>
                  <a:srgbClr val="4DD0E1"/>
                </a:solidFill>
                <a:latin typeface="Roboto Mono"/>
                <a:ea typeface="Roboto Mono"/>
                <a:cs typeface="Roboto Mono"/>
                <a:sym typeface="Roboto Mono"/>
              </a:rPr>
              <a:t>await</a:t>
            </a:r>
            <a:r>
              <a:rPr lang="en" sz="1100"/>
              <a:t>” and use that code later on.</a:t>
            </a:r>
            <a:endParaRPr sz="1100"/>
          </a:p>
          <a:p>
            <a:pPr marL="0" lvl="0" indent="0" algn="l" rtl="0">
              <a:spcBef>
                <a:spcPts val="1600"/>
              </a:spcBef>
              <a:spcAft>
                <a:spcPts val="0"/>
              </a:spcAft>
              <a:buNone/>
            </a:pPr>
            <a:r>
              <a:rPr lang="en" sz="1100"/>
              <a:t>Note: the “</a:t>
            </a:r>
            <a:r>
              <a:rPr lang="en" sz="1100">
                <a:solidFill>
                  <a:srgbClr val="4DD0E1"/>
                </a:solidFill>
                <a:latin typeface="Roboto Mono"/>
                <a:ea typeface="Roboto Mono"/>
                <a:cs typeface="Roboto Mono"/>
                <a:sym typeface="Roboto Mono"/>
              </a:rPr>
              <a:t>await</a:t>
            </a:r>
            <a:r>
              <a:rPr lang="en" sz="1100"/>
              <a:t>” keyword is only valid inside an “</a:t>
            </a:r>
            <a:r>
              <a:rPr lang="en" sz="1100">
                <a:solidFill>
                  <a:srgbClr val="4DD0E1"/>
                </a:solidFill>
                <a:latin typeface="Roboto Mono"/>
                <a:ea typeface="Roboto Mono"/>
                <a:cs typeface="Roboto Mono"/>
                <a:sym typeface="Roboto Mono"/>
              </a:rPr>
              <a:t>async</a:t>
            </a:r>
            <a:r>
              <a:rPr lang="en" sz="1100"/>
              <a:t>” function. You’ll get a “SyntaxError” otherwise</a:t>
            </a:r>
            <a:endParaRPr sz="1100"/>
          </a:p>
          <a:p>
            <a:pPr marL="0" lvl="0" indent="0" algn="l" rtl="0">
              <a:spcBef>
                <a:spcPts val="1600"/>
              </a:spcBef>
              <a:spcAft>
                <a:spcPts val="1600"/>
              </a:spcAft>
              <a:buNone/>
            </a:pPr>
            <a:endParaRPr sz="1100"/>
          </a:p>
        </p:txBody>
      </p:sp>
      <p:sp>
        <p:nvSpPr>
          <p:cNvPr id="150" name="Google Shape;150;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Async and Await</a:t>
            </a:r>
            <a:endParaRPr/>
          </a:p>
        </p:txBody>
      </p:sp>
      <p:sp>
        <p:nvSpPr>
          <p:cNvPr id="151" name="Google Shape;151;p25"/>
          <p:cNvSpPr txBox="1"/>
          <p:nvPr/>
        </p:nvSpPr>
        <p:spPr>
          <a:xfrm>
            <a:off x="4986425" y="4440400"/>
            <a:ext cx="3000000" cy="40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accent5"/>
                </a:solidFill>
                <a:latin typeface="Roboto"/>
                <a:ea typeface="Roboto"/>
                <a:cs typeface="Roboto"/>
                <a:sym typeface="Roboto"/>
                <a:hlinkClick r:id="rId3">
                  <a:extLst>
                    <a:ext uri="{A12FA001-AC4F-418D-AE19-62706E023703}">
                      <ahyp:hlinkClr xmlns:ahyp="http://schemas.microsoft.com/office/drawing/2018/hyperlinkcolor" val="tx"/>
                    </a:ext>
                  </a:extLst>
                </a:hlinkClick>
              </a:rPr>
              <a:t>Live Demo</a:t>
            </a:r>
            <a:endParaRPr/>
          </a:p>
        </p:txBody>
      </p:sp>
      <p:sp>
        <p:nvSpPr>
          <p:cNvPr id="152" name="Google Shape;152;p25"/>
          <p:cNvSpPr txBox="1"/>
          <p:nvPr/>
        </p:nvSpPr>
        <p:spPr>
          <a:xfrm>
            <a:off x="3722550" y="614275"/>
            <a:ext cx="7164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let</a:t>
            </a:r>
            <a:r>
              <a:rPr lang="en" sz="1150" dirty="0">
                <a:solidFill>
                  <a:srgbClr val="ECEFF1"/>
                </a:solidFill>
                <a:latin typeface="Roboto Mono"/>
                <a:ea typeface="Roboto Mono"/>
                <a:cs typeface="Roboto Mono"/>
                <a:sym typeface="Roboto Mono"/>
              </a:rPr>
              <a:t> randomDogUrl = </a:t>
            </a:r>
            <a:r>
              <a:rPr lang="en" sz="1150" dirty="0">
                <a:solidFill>
                  <a:srgbClr val="9CCC65"/>
                </a:solidFill>
                <a:latin typeface="Roboto Mono"/>
                <a:ea typeface="Roboto Mono"/>
                <a:cs typeface="Roboto Mono"/>
                <a:sym typeface="Roboto Mono"/>
              </a:rPr>
              <a:t>"https://dog.ceo/api/breeds/image/random"</a:t>
            </a: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getRandomDogPicture = </a:t>
            </a:r>
            <a:r>
              <a:rPr lang="en" sz="1150" dirty="0">
                <a:solidFill>
                  <a:srgbClr val="4DD0E1"/>
                </a:solidFill>
                <a:latin typeface="Roboto Mono"/>
                <a:ea typeface="Roboto Mono"/>
                <a:cs typeface="Roboto Mono"/>
                <a:sym typeface="Roboto Mono"/>
              </a:rPr>
              <a:t>async</a:t>
            </a:r>
            <a:r>
              <a:rPr lang="en" sz="1150" dirty="0">
                <a:solidFill>
                  <a:srgbClr val="ECEFF1"/>
                </a:solidFill>
                <a:latin typeface="Roboto Mono"/>
                <a:ea typeface="Roboto Mono"/>
                <a:cs typeface="Roboto Mono"/>
                <a:sym typeface="Roboto Mono"/>
              </a:rPr>
              <a:t> () =&gt; {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F06292"/>
                </a:solidFill>
                <a:latin typeface="Roboto Mono"/>
                <a:ea typeface="Roboto Mono"/>
                <a:cs typeface="Roboto Mono"/>
                <a:sym typeface="Roboto Mono"/>
              </a:rPr>
              <a:t>// we await the response of fetch</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let</a:t>
            </a:r>
            <a:r>
              <a:rPr lang="en" sz="1150" dirty="0">
                <a:solidFill>
                  <a:srgbClr val="ECEFF1"/>
                </a:solidFill>
                <a:latin typeface="Roboto Mono"/>
                <a:ea typeface="Roboto Mono"/>
                <a:cs typeface="Roboto Mono"/>
                <a:sym typeface="Roboto Mono"/>
              </a:rPr>
              <a:t> response = </a:t>
            </a:r>
            <a:r>
              <a:rPr lang="en" sz="1150" dirty="0">
                <a:solidFill>
                  <a:srgbClr val="4DD0E1"/>
                </a:solidFill>
                <a:latin typeface="Roboto Mono"/>
                <a:ea typeface="Roboto Mono"/>
                <a:cs typeface="Roboto Mono"/>
                <a:sym typeface="Roboto Mono"/>
              </a:rPr>
              <a:t>await</a:t>
            </a:r>
            <a:r>
              <a:rPr lang="en" sz="1150" dirty="0">
                <a:solidFill>
                  <a:srgbClr val="ECEFF1"/>
                </a:solidFill>
                <a:latin typeface="Roboto Mono"/>
                <a:ea typeface="Roboto Mono"/>
                <a:cs typeface="Roboto Mono"/>
                <a:sym typeface="Roboto Mono"/>
              </a:rPr>
              <a:t> fetch(randomDogUrl);</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F06292"/>
                </a:solidFill>
                <a:latin typeface="Roboto Mono"/>
                <a:ea typeface="Roboto Mono"/>
                <a:cs typeface="Roboto Mono"/>
                <a:sym typeface="Roboto Mono"/>
              </a:rPr>
              <a:t>// we use await to parse the body</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let</a:t>
            </a:r>
            <a:r>
              <a:rPr lang="en" sz="1150" dirty="0">
                <a:solidFill>
                  <a:srgbClr val="ECEFF1"/>
                </a:solidFill>
                <a:latin typeface="Roboto Mono"/>
                <a:ea typeface="Roboto Mono"/>
                <a:cs typeface="Roboto Mono"/>
                <a:sym typeface="Roboto Mono"/>
              </a:rPr>
              <a:t> json_data = </a:t>
            </a:r>
            <a:r>
              <a:rPr lang="en" sz="1150" dirty="0">
                <a:solidFill>
                  <a:srgbClr val="4DD0E1"/>
                </a:solidFill>
                <a:latin typeface="Roboto Mono"/>
                <a:ea typeface="Roboto Mono"/>
                <a:cs typeface="Roboto Mono"/>
                <a:sym typeface="Roboto Mono"/>
              </a:rPr>
              <a:t>await</a:t>
            </a:r>
            <a:r>
              <a:rPr lang="en" sz="1150" dirty="0">
                <a:solidFill>
                  <a:srgbClr val="ECEFF1"/>
                </a:solidFill>
                <a:latin typeface="Roboto Mono"/>
                <a:ea typeface="Roboto Mono"/>
                <a:cs typeface="Roboto Mono"/>
                <a:sym typeface="Roboto Mono"/>
              </a:rPr>
              <a:t> response.json();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F06292"/>
                </a:solidFill>
                <a:latin typeface="Roboto Mono"/>
                <a:ea typeface="Roboto Mono"/>
                <a:cs typeface="Roboto Mono"/>
                <a:sym typeface="Roboto Mono"/>
              </a:rPr>
              <a:t>// take a look at the object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console.log(json_data);</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return</a:t>
            </a:r>
            <a:r>
              <a:rPr lang="en" sz="1150" dirty="0">
                <a:solidFill>
                  <a:srgbClr val="ECEFF1"/>
                </a:solidFill>
                <a:latin typeface="Roboto Mono"/>
                <a:ea typeface="Roboto Mono"/>
                <a:cs typeface="Roboto Mono"/>
                <a:sym typeface="Roboto Mono"/>
              </a:rPr>
              <a:t> json_data.message;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F06292"/>
                </a:solidFill>
                <a:latin typeface="Roboto Mono"/>
                <a:ea typeface="Roboto Mono"/>
                <a:cs typeface="Roboto Mono"/>
                <a:sym typeface="Roboto Mono"/>
              </a:rPr>
              <a:t>// call the async function in an IIFE so you can</a:t>
            </a:r>
            <a:br>
              <a:rPr lang="en" sz="1150" dirty="0">
                <a:solidFill>
                  <a:srgbClr val="F06292"/>
                </a:solidFill>
                <a:latin typeface="Roboto Mono"/>
                <a:ea typeface="Roboto Mono"/>
                <a:cs typeface="Roboto Mono"/>
                <a:sym typeface="Roboto Mono"/>
              </a:rPr>
            </a:br>
            <a:r>
              <a:rPr lang="en" sz="1150" dirty="0">
                <a:solidFill>
                  <a:srgbClr val="F06292"/>
                </a:solidFill>
                <a:latin typeface="Roboto Mono"/>
                <a:ea typeface="Roboto Mono"/>
                <a:cs typeface="Roboto Mono"/>
                <a:sym typeface="Roboto Mono"/>
              </a:rPr>
              <a:t>// use await.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a:t>
            </a:r>
            <a:r>
              <a:rPr lang="en" sz="1150" dirty="0">
                <a:solidFill>
                  <a:srgbClr val="4DD0E1"/>
                </a:solidFill>
                <a:latin typeface="Roboto Mono"/>
                <a:ea typeface="Roboto Mono"/>
                <a:cs typeface="Roboto Mono"/>
                <a:sym typeface="Roboto Mono"/>
              </a:rPr>
              <a:t>async</a:t>
            </a: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function</a:t>
            </a:r>
            <a:r>
              <a:rPr lang="en" sz="1150" dirty="0">
                <a:solidFill>
                  <a:srgbClr val="ECEFF1"/>
                </a:solidFill>
                <a:latin typeface="Roboto Mono"/>
                <a:ea typeface="Roboto Mono"/>
                <a:cs typeface="Roboto Mono"/>
                <a:sym typeface="Roboto Mono"/>
              </a:rPr>
              <a: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let</a:t>
            </a:r>
            <a:r>
              <a:rPr lang="en" sz="1150" dirty="0">
                <a:solidFill>
                  <a:srgbClr val="ECEFF1"/>
                </a:solidFill>
                <a:latin typeface="Roboto Mono"/>
                <a:ea typeface="Roboto Mono"/>
                <a:cs typeface="Roboto Mono"/>
                <a:sym typeface="Roboto Mono"/>
              </a:rPr>
              <a:t> picture = </a:t>
            </a:r>
            <a:r>
              <a:rPr lang="en" sz="1150" dirty="0">
                <a:solidFill>
                  <a:srgbClr val="4DD0E1"/>
                </a:solidFill>
                <a:latin typeface="Roboto Mono"/>
                <a:ea typeface="Roboto Mono"/>
                <a:cs typeface="Roboto Mono"/>
                <a:sym typeface="Roboto Mono"/>
              </a:rPr>
              <a:t>await</a:t>
            </a:r>
            <a:r>
              <a:rPr lang="en" sz="1150" dirty="0">
                <a:solidFill>
                  <a:srgbClr val="ECEFF1"/>
                </a:solidFill>
                <a:latin typeface="Roboto Mono"/>
                <a:ea typeface="Roboto Mono"/>
                <a:cs typeface="Roboto Mono"/>
                <a:sym typeface="Roboto Mono"/>
              </a:rPr>
              <a:t> getRandomDogPicture();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document.querySelector(</a:t>
            </a:r>
            <a:r>
              <a:rPr lang="en" sz="1150" dirty="0">
                <a:solidFill>
                  <a:srgbClr val="9CCC65"/>
                </a:solidFill>
                <a:latin typeface="Roboto Mono"/>
                <a:ea typeface="Roboto Mono"/>
                <a:cs typeface="Roboto Mono"/>
                <a:sym typeface="Roboto Mono"/>
              </a:rPr>
              <a:t>"img"</a:t>
            </a:r>
            <a:r>
              <a:rPr lang="en" sz="1150" dirty="0">
                <a:solidFill>
                  <a:srgbClr val="ECEFF1"/>
                </a:solidFill>
                <a:latin typeface="Roboto Mono"/>
                <a:ea typeface="Roboto Mono"/>
                <a:cs typeface="Roboto Mono"/>
                <a:sym typeface="Roboto Mono"/>
              </a:rPr>
              <a:t>).src = picture;</a:t>
            </a:r>
            <a:endParaRPr sz="11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6"/>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Examples</a:t>
            </a:r>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2152</Words>
  <Application>Microsoft Office PowerPoint</Application>
  <PresentationFormat>On-screen Show (16:9)</PresentationFormat>
  <Paragraphs>198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Roboto Mono</vt:lpstr>
      <vt:lpstr>Roboto Slab</vt:lpstr>
      <vt:lpstr>Consolas</vt:lpstr>
      <vt:lpstr>Roboto</vt:lpstr>
      <vt:lpstr>Marina</vt:lpstr>
      <vt:lpstr>Advanced Javascript ES5, ES6 and Review</vt:lpstr>
      <vt:lpstr>Announcements</vt:lpstr>
      <vt:lpstr>Expectations - What I expect from you</vt:lpstr>
      <vt:lpstr>Where are we?</vt:lpstr>
      <vt:lpstr>Review - Js Object Fundamentals</vt:lpstr>
      <vt:lpstr>Review - Js Objects - functions and this</vt:lpstr>
      <vt:lpstr>Review - Node and NPM</vt:lpstr>
      <vt:lpstr>Review - ES Modules</vt:lpstr>
      <vt:lpstr>Review - Fetch</vt:lpstr>
      <vt:lpstr>Sync and Async Code.</vt:lpstr>
      <vt:lpstr>Custom Promises</vt:lpstr>
      <vt:lpstr>Async and Await</vt:lpstr>
      <vt:lpstr>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2</cp:revision>
  <dcterms:modified xsi:type="dcterms:W3CDTF">2026-09-14T16:18:33Z</dcterms:modified>
</cp:coreProperties>
</file>