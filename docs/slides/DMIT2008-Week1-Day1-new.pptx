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Roboto" panose="02000000000000000000" pitchFamily="2" charset="0"/>
      <p:regular r:id="rId13"/>
      <p:bold r:id="rId14"/>
      <p:italic r:id="rId15"/>
      <p:boldItalic r:id="rId16"/>
    </p:embeddedFont>
    <p:embeddedFont>
      <p:font typeface="Roboto Slab" pitchFamily="2" charset="0"/>
      <p:regular r:id="rId17"/>
      <p:bold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imlie Eustaquio" userId="056709674e28ecbe" providerId="LiveId" clId="{EE34A1E4-FB65-4281-8752-43B6C66EB902}"/>
    <pc:docChg chg="modSld">
      <pc:chgData name="Jhimlie Eustaquio" userId="056709674e28ecbe" providerId="LiveId" clId="{EE34A1E4-FB65-4281-8752-43B6C66EB902}" dt="2026-09-02T17:46:45.364" v="8" actId="20577"/>
      <pc:docMkLst>
        <pc:docMk/>
      </pc:docMkLst>
      <pc:sldChg chg="modSp mod modNotes">
        <pc:chgData name="Jhimlie Eustaquio" userId="056709674e28ecbe" providerId="LiveId" clId="{EE34A1E4-FB65-4281-8752-43B6C66EB902}" dt="2026-09-02T17:46:45.364" v="8" actId="20577"/>
        <pc:sldMkLst>
          <pc:docMk/>
          <pc:sldMk cId="0" sldId="265"/>
        </pc:sldMkLst>
        <pc:spChg chg="mod">
          <ac:chgData name="Jhimlie Eustaquio" userId="056709674e28ecbe" providerId="LiveId" clId="{EE34A1E4-FB65-4281-8752-43B6C66EB902}" dt="2026-09-02T17:46:45.364" v="8" actId="20577"/>
          <ac:spMkLst>
            <pc:docMk/>
            <pc:sldMk cId="0" sldId="265"/>
            <ac:spMk id="116" creationId="{00000000-0000-0000-0000-000000000000}"/>
          </ac:spMkLst>
        </pc:spChg>
        <pc:spChg chg="mod">
          <ac:chgData name="Jhimlie Eustaquio" userId="056709674e28ecbe" providerId="LiveId" clId="{EE34A1E4-FB65-4281-8752-43B6C66EB902}" dt="2026-09-02T17:46:41.252" v="0"/>
          <ac:spMkLst>
            <pc:docMk/>
            <pc:sldMk cId="0" sldId="265"/>
            <ac:spMk id="1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5ad3a4879e_2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5ad3a4879e_2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4c141908b7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4c141908b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7b72d3eb4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7b72d3eb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7b72d3eb4f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7b72d3eb4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2e6f24a268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2e6f24a268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7b72d3eb4f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7b72d3eb4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9406f9364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9406f9364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7b72d3eb4f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7b72d3eb4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7b72d3eb4f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7b72d3eb4f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hyperlink" Target="https://www.sublimetext.com/"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hyperlink" Target="https://nodejs.org/en/" TargetMode="External"/><Relationship Id="rId5" Type="http://schemas.openxmlformats.org/officeDocument/2006/relationships/hyperlink" Target="https://www.npmjs.com/" TargetMode="External"/><Relationship Id="rId4" Type="http://schemas.openxmlformats.org/officeDocument/2006/relationships/hyperlink" Target="https://code.visualstudio.com/"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2021.stateofjs.com/en-US/libraries"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hyperlink" Target="https://angular.io/" TargetMode="External"/><Relationship Id="rId3" Type="http://schemas.openxmlformats.org/officeDocument/2006/relationships/hyperlink" Target="https://nextjs.org/" TargetMode="External"/><Relationship Id="rId7" Type="http://schemas.openxmlformats.org/officeDocument/2006/relationships/hyperlink" Target="https://www.solidjs.com/"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hyperlink" Target="https://svelte.dev/" TargetMode="External"/><Relationship Id="rId5" Type="http://schemas.openxmlformats.org/officeDocument/2006/relationships/hyperlink" Target="https://vuejs.org/" TargetMode="External"/><Relationship Id="rId4" Type="http://schemas.openxmlformats.org/officeDocument/2006/relationships/hyperlink" Target="https://reactjs.org/"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HackerNews/API"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s://github.com/axios/axios"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dmit-2008.github.io/dmit2008/"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developer.mozilla.org/en-US/docs/Web/JavaScript/Reference/Statements"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Advanced Javascript</a:t>
            </a:r>
            <a:endParaRPr/>
          </a:p>
        </p:txBody>
      </p:sp>
      <p:sp>
        <p:nvSpPr>
          <p:cNvPr id="64" name="Google Shape;64;p13"/>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Javascript DMIT 2008</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248400" y="1440025"/>
            <a:ext cx="4045200"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Where are we?</a:t>
            </a:r>
            <a:endParaRPr/>
          </a:p>
        </p:txBody>
      </p:sp>
      <p:sp>
        <p:nvSpPr>
          <p:cNvPr id="75" name="Google Shape;75;p15"/>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AutoNum type="arabicPeriod"/>
            </a:pPr>
            <a:r>
              <a:rPr lang="en"/>
              <a:t>Tools that we’re going to use</a:t>
            </a:r>
            <a:endParaRPr/>
          </a:p>
          <a:p>
            <a:pPr marL="457200" lvl="0" indent="-342900" algn="l" rtl="0">
              <a:spcBef>
                <a:spcPts val="0"/>
              </a:spcBef>
              <a:spcAft>
                <a:spcPts val="0"/>
              </a:spcAft>
              <a:buSzPts val="1800"/>
              <a:buAutoNum type="arabicPeriod"/>
            </a:pPr>
            <a:r>
              <a:rPr lang="en"/>
              <a:t>State of Javascript</a:t>
            </a:r>
            <a:endParaRPr/>
          </a:p>
          <a:p>
            <a:pPr marL="457200" lvl="0" indent="-342900" algn="l" rtl="0">
              <a:spcBef>
                <a:spcPts val="0"/>
              </a:spcBef>
              <a:spcAft>
                <a:spcPts val="0"/>
              </a:spcAft>
              <a:buSzPts val="1800"/>
              <a:buAutoNum type="arabicPeriod"/>
            </a:pPr>
            <a:r>
              <a:rPr lang="en"/>
              <a:t>Frontend Frameworks and this course.</a:t>
            </a:r>
            <a:endParaRPr/>
          </a:p>
          <a:p>
            <a:pPr marL="457200" lvl="0" indent="-342900" algn="l" rtl="0">
              <a:spcBef>
                <a:spcPts val="0"/>
              </a:spcBef>
              <a:spcAft>
                <a:spcPts val="0"/>
              </a:spcAft>
              <a:buSzPts val="1800"/>
              <a:buAutoNum type="arabicPeriod"/>
            </a:pPr>
            <a:r>
              <a:rPr lang="en"/>
              <a:t>HTTP Restful APIs</a:t>
            </a:r>
            <a:endParaRPr/>
          </a:p>
          <a:p>
            <a:pPr marL="457200" lvl="0" indent="-342900" algn="l" rtl="0">
              <a:spcBef>
                <a:spcPts val="0"/>
              </a:spcBef>
              <a:spcAft>
                <a:spcPts val="0"/>
              </a:spcAft>
              <a:buSzPts val="1800"/>
              <a:buAutoNum type="arabicPeriod"/>
            </a:pPr>
            <a:r>
              <a:rPr lang="en"/>
              <a:t>Course Website</a:t>
            </a:r>
            <a:endParaRPr/>
          </a:p>
          <a:p>
            <a:pPr marL="457200" lvl="0" indent="-342900" algn="l" rtl="0">
              <a:spcBef>
                <a:spcPts val="0"/>
              </a:spcBef>
              <a:spcAft>
                <a:spcPts val="0"/>
              </a:spcAft>
              <a:buSzPts val="1800"/>
              <a:buAutoNum type="arabicPeriod"/>
            </a:pPr>
            <a:r>
              <a:rPr lang="en"/>
              <a:t>Example</a:t>
            </a:r>
            <a:endParaRPr/>
          </a:p>
          <a:p>
            <a:pPr marL="457200" lvl="0" indent="0" algn="l" rtl="0">
              <a:spcBef>
                <a:spcPts val="1600"/>
              </a:spcBef>
              <a:spcAft>
                <a:spcPts val="16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Tools We’re going to Use</a:t>
            </a:r>
            <a:endParaRPr/>
          </a:p>
        </p:txBody>
      </p:sp>
      <p:sp>
        <p:nvSpPr>
          <p:cNvPr id="81" name="Google Shape;81;p16"/>
          <p:cNvSpPr txBox="1">
            <a:spLocks noGrp="1"/>
          </p:cNvSpPr>
          <p:nvPr>
            <p:ph type="body" idx="1"/>
          </p:nvPr>
        </p:nvSpPr>
        <p:spPr>
          <a:xfrm>
            <a:off x="387900" y="119267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Tools in this course that we’re going to use.</a:t>
            </a:r>
            <a:endParaRPr/>
          </a:p>
          <a:p>
            <a:pPr marL="0" lvl="0" indent="0" algn="l" rtl="0">
              <a:spcBef>
                <a:spcPts val="1600"/>
              </a:spcBef>
              <a:spcAft>
                <a:spcPts val="0"/>
              </a:spcAft>
              <a:buNone/>
            </a:pPr>
            <a:r>
              <a:rPr lang="en"/>
              <a:t>IDEs</a:t>
            </a:r>
            <a:endParaRPr/>
          </a:p>
          <a:p>
            <a:pPr marL="457200" lvl="0" indent="-342900" algn="l" rtl="0">
              <a:spcBef>
                <a:spcPts val="1600"/>
              </a:spcBef>
              <a:spcAft>
                <a:spcPts val="0"/>
              </a:spcAft>
              <a:buSzPts val="1800"/>
              <a:buChar char="●"/>
            </a:pPr>
            <a:r>
              <a:rPr lang="en" u="sng">
                <a:solidFill>
                  <a:schemeClr val="hlink"/>
                </a:solidFill>
                <a:hlinkClick r:id="rId3"/>
              </a:rPr>
              <a:t>Sublime</a:t>
            </a:r>
            <a:r>
              <a:rPr lang="en"/>
              <a:t> (my preference)</a:t>
            </a:r>
            <a:endParaRPr/>
          </a:p>
          <a:p>
            <a:pPr marL="457200" lvl="0" indent="-342900" algn="l" rtl="0">
              <a:spcBef>
                <a:spcPts val="0"/>
              </a:spcBef>
              <a:spcAft>
                <a:spcPts val="0"/>
              </a:spcAft>
              <a:buSzPts val="1800"/>
              <a:buChar char="●"/>
            </a:pPr>
            <a:r>
              <a:rPr lang="en" u="sng">
                <a:solidFill>
                  <a:schemeClr val="hlink"/>
                </a:solidFill>
                <a:hlinkClick r:id="rId4"/>
              </a:rPr>
              <a:t>VS Code</a:t>
            </a:r>
            <a:r>
              <a:rPr lang="en"/>
              <a:t> (which is also really awesome.)</a:t>
            </a:r>
            <a:endParaRPr/>
          </a:p>
          <a:p>
            <a:pPr marL="0" lvl="0" indent="0" algn="l" rtl="0">
              <a:spcBef>
                <a:spcPts val="1600"/>
              </a:spcBef>
              <a:spcAft>
                <a:spcPts val="0"/>
              </a:spcAft>
              <a:buNone/>
            </a:pPr>
            <a:r>
              <a:rPr lang="en"/>
              <a:t>Other tools we’re going to use</a:t>
            </a:r>
            <a:endParaRPr/>
          </a:p>
          <a:p>
            <a:pPr marL="457200" lvl="0" indent="-342900" algn="l" rtl="0">
              <a:spcBef>
                <a:spcPts val="1600"/>
              </a:spcBef>
              <a:spcAft>
                <a:spcPts val="0"/>
              </a:spcAft>
              <a:buSzPts val="1800"/>
              <a:buChar char="●"/>
            </a:pPr>
            <a:r>
              <a:rPr lang="en" u="sng">
                <a:solidFill>
                  <a:schemeClr val="hlink"/>
                </a:solidFill>
                <a:hlinkClick r:id="rId5"/>
              </a:rPr>
              <a:t>NPM</a:t>
            </a:r>
            <a:r>
              <a:rPr lang="en"/>
              <a:t> (node package manager) contains packages of things that we’re going to use. Also allows us to write command line tools which is handy.</a:t>
            </a:r>
            <a:endParaRPr/>
          </a:p>
          <a:p>
            <a:pPr marL="457200" lvl="0" indent="-342900" algn="l" rtl="0">
              <a:spcBef>
                <a:spcPts val="0"/>
              </a:spcBef>
              <a:spcAft>
                <a:spcPts val="0"/>
              </a:spcAft>
              <a:buSzPts val="1800"/>
              <a:buChar char="●"/>
            </a:pPr>
            <a:r>
              <a:rPr lang="en" u="sng">
                <a:solidFill>
                  <a:schemeClr val="hlink"/>
                </a:solidFill>
                <a:hlinkClick r:id="rId6"/>
              </a:rPr>
              <a:t>Node.js </a:t>
            </a:r>
            <a:r>
              <a:rPr lang="en"/>
              <a:t>is server side Javascript that we’re going to use.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State of Javascript </a:t>
            </a:r>
            <a:endParaRPr/>
          </a:p>
        </p:txBody>
      </p:sp>
      <p:sp>
        <p:nvSpPr>
          <p:cNvPr id="87" name="Google Shape;87;p17"/>
          <p:cNvSpPr txBox="1">
            <a:spLocks noGrp="1"/>
          </p:cNvSpPr>
          <p:nvPr>
            <p:ph type="body" idx="1"/>
          </p:nvPr>
        </p:nvSpPr>
        <p:spPr>
          <a:xfrm>
            <a:off x="387900" y="119267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State of Javascript gives us a bit of an insight from developers in the industry around the world. Let’s go take a look.</a:t>
            </a:r>
            <a:endParaRPr/>
          </a:p>
          <a:p>
            <a:pPr marL="0" lvl="0" indent="0" algn="l" rtl="0">
              <a:spcBef>
                <a:spcPts val="1600"/>
              </a:spcBef>
              <a:spcAft>
                <a:spcPts val="0"/>
              </a:spcAft>
              <a:buNone/>
            </a:pPr>
            <a:r>
              <a:rPr lang="en" u="sng">
                <a:solidFill>
                  <a:schemeClr val="hlink"/>
                </a:solidFill>
                <a:hlinkClick r:id="rId3"/>
              </a:rPr>
              <a:t>https://2021.stateofjs.com/en-US/libraries</a:t>
            </a:r>
            <a:endParaRPr/>
          </a:p>
          <a:p>
            <a:pPr marL="0" lvl="0" indent="0" algn="l" rtl="0">
              <a:spcBef>
                <a:spcPts val="1600"/>
              </a:spcBef>
              <a:spcAft>
                <a:spcPts val="0"/>
              </a:spcAft>
              <a:buNone/>
            </a:pPr>
            <a:r>
              <a:rPr lang="en"/>
              <a:t>One thing to note is that with Javascript and Development is that learning does not end when you are done this class. It’s a perpetual learning cycle of new tools and refining existing ones.</a:t>
            </a:r>
            <a:endParaRPr/>
          </a:p>
          <a:p>
            <a:pPr marL="0" lvl="0" indent="0" algn="l" rtl="0">
              <a:spcBef>
                <a:spcPts val="1600"/>
              </a:spcBef>
              <a:spcAft>
                <a:spcPts val="16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Front End Frameworks and this course.</a:t>
            </a:r>
            <a:endParaRPr/>
          </a:p>
        </p:txBody>
      </p:sp>
      <p:sp>
        <p:nvSpPr>
          <p:cNvPr id="93" name="Google Shape;93;p18"/>
          <p:cNvSpPr txBox="1">
            <a:spLocks noGrp="1"/>
          </p:cNvSpPr>
          <p:nvPr>
            <p:ph type="body" idx="1"/>
          </p:nvPr>
        </p:nvSpPr>
        <p:spPr>
          <a:xfrm>
            <a:off x="387900" y="119267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In this course we’ll be using </a:t>
            </a:r>
            <a:r>
              <a:rPr lang="en" sz="1600" u="sng">
                <a:solidFill>
                  <a:schemeClr val="hlink"/>
                </a:solidFill>
                <a:hlinkClick r:id="rId3"/>
              </a:rPr>
              <a:t>Next.js</a:t>
            </a:r>
            <a:r>
              <a:rPr lang="en" sz="1600"/>
              <a:t> framework, this is essentially </a:t>
            </a:r>
            <a:r>
              <a:rPr lang="en" sz="1600" u="sng">
                <a:solidFill>
                  <a:schemeClr val="hlink"/>
                </a:solidFill>
                <a:hlinkClick r:id="rId4"/>
              </a:rPr>
              <a:t>React.js</a:t>
            </a:r>
            <a:r>
              <a:rPr lang="en" sz="1600"/>
              <a:t> with a bit more batteries included. We’ll be exploring the differences between React, Next and other front end frameworks as we continue through the course.</a:t>
            </a:r>
            <a:endParaRPr sz="1600"/>
          </a:p>
          <a:p>
            <a:pPr marL="0" lvl="0" indent="0" algn="l" rtl="0">
              <a:spcBef>
                <a:spcPts val="1600"/>
              </a:spcBef>
              <a:spcAft>
                <a:spcPts val="0"/>
              </a:spcAft>
              <a:buNone/>
            </a:pPr>
            <a:r>
              <a:rPr lang="en" sz="1600"/>
              <a:t>Although we’ll be using Next.js, many of the ideas are very similar to other frontend frameworks that you can use that are popular. Here’s a few of them (in no order.):</a:t>
            </a:r>
            <a:endParaRPr sz="1600"/>
          </a:p>
          <a:p>
            <a:pPr marL="457200" lvl="0" indent="-330200" algn="l" rtl="0">
              <a:spcBef>
                <a:spcPts val="1600"/>
              </a:spcBef>
              <a:spcAft>
                <a:spcPts val="0"/>
              </a:spcAft>
              <a:buSzPts val="1600"/>
              <a:buChar char="-"/>
            </a:pPr>
            <a:r>
              <a:rPr lang="en" sz="1600" u="sng">
                <a:solidFill>
                  <a:schemeClr val="hlink"/>
                </a:solidFill>
                <a:hlinkClick r:id="rId5"/>
              </a:rPr>
              <a:t>Vue.js</a:t>
            </a:r>
            <a:endParaRPr sz="1600"/>
          </a:p>
          <a:p>
            <a:pPr marL="457200" lvl="0" indent="-330200" algn="l" rtl="0">
              <a:spcBef>
                <a:spcPts val="0"/>
              </a:spcBef>
              <a:spcAft>
                <a:spcPts val="0"/>
              </a:spcAft>
              <a:buSzPts val="1600"/>
              <a:buChar char="-"/>
            </a:pPr>
            <a:r>
              <a:rPr lang="en" sz="1600" u="sng">
                <a:solidFill>
                  <a:schemeClr val="hlink"/>
                </a:solidFill>
                <a:hlinkClick r:id="rId6"/>
              </a:rPr>
              <a:t>Svelte</a:t>
            </a:r>
            <a:endParaRPr sz="1600"/>
          </a:p>
          <a:p>
            <a:pPr marL="457200" lvl="0" indent="-330200" algn="l" rtl="0">
              <a:spcBef>
                <a:spcPts val="0"/>
              </a:spcBef>
              <a:spcAft>
                <a:spcPts val="0"/>
              </a:spcAft>
              <a:buSzPts val="1600"/>
              <a:buChar char="-"/>
            </a:pPr>
            <a:r>
              <a:rPr lang="en" sz="1600" u="sng">
                <a:solidFill>
                  <a:schemeClr val="hlink"/>
                </a:solidFill>
                <a:hlinkClick r:id="rId7"/>
              </a:rPr>
              <a:t>Solid</a:t>
            </a:r>
            <a:endParaRPr sz="1600"/>
          </a:p>
          <a:p>
            <a:pPr marL="457200" lvl="0" indent="-330200" algn="l" rtl="0">
              <a:spcBef>
                <a:spcPts val="0"/>
              </a:spcBef>
              <a:spcAft>
                <a:spcPts val="0"/>
              </a:spcAft>
              <a:buSzPts val="1600"/>
              <a:buChar char="-"/>
            </a:pPr>
            <a:r>
              <a:rPr lang="en" sz="1600" u="sng">
                <a:solidFill>
                  <a:schemeClr val="hlink"/>
                </a:solidFill>
                <a:hlinkClick r:id="rId8"/>
              </a:rPr>
              <a:t>Angular</a:t>
            </a:r>
            <a:endParaRPr sz="1600"/>
          </a:p>
          <a:p>
            <a:pPr marL="0" lvl="0" indent="0" algn="l" rtl="0">
              <a:spcBef>
                <a:spcPts val="1600"/>
              </a:spcBef>
              <a:spcAft>
                <a:spcPts val="1600"/>
              </a:spcAft>
              <a:buNone/>
            </a:pPr>
            <a:r>
              <a:rPr lang="en" sz="1600"/>
              <a:t>So during the course, or after the course I highly recommend exploring other frameworks to see if they interest you.</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HTTP Restful APIs</a:t>
            </a:r>
            <a:endParaRPr/>
          </a:p>
        </p:txBody>
      </p:sp>
      <p:sp>
        <p:nvSpPr>
          <p:cNvPr id="99" name="Google Shape;99;p19"/>
          <p:cNvSpPr txBox="1">
            <a:spLocks noGrp="1"/>
          </p:cNvSpPr>
          <p:nvPr>
            <p:ph type="body" idx="1"/>
          </p:nvPr>
        </p:nvSpPr>
        <p:spPr>
          <a:xfrm>
            <a:off x="387900" y="1201199"/>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RESTful Apis are going to be how we communicate with a backend server in this course. The reason why we need this is because this is where we’ll be able to store information about users, posts, and any data that needs to be saved.</a:t>
            </a:r>
            <a:endParaRPr sz="1400" dirty="0"/>
          </a:p>
          <a:p>
            <a:pPr marL="0" lvl="0" indent="0" algn="l" rtl="0">
              <a:spcBef>
                <a:spcPts val="1600"/>
              </a:spcBef>
              <a:spcAft>
                <a:spcPts val="0"/>
              </a:spcAft>
              <a:buNone/>
            </a:pPr>
            <a:r>
              <a:rPr lang="en" sz="1400" dirty="0"/>
              <a:t>We will be using a REST API client like postman or boomerang.</a:t>
            </a:r>
            <a:endParaRPr sz="1400" dirty="0"/>
          </a:p>
          <a:p>
            <a:pPr marL="0" lvl="0" indent="0" algn="l" rtl="0">
              <a:spcBef>
                <a:spcPts val="1600"/>
              </a:spcBef>
              <a:spcAft>
                <a:spcPts val="0"/>
              </a:spcAft>
              <a:buNone/>
            </a:pPr>
            <a:r>
              <a:rPr lang="en" sz="1400" dirty="0"/>
              <a:t>We’re going to test this using the </a:t>
            </a:r>
            <a:r>
              <a:rPr lang="en" sz="1400" u="sng" dirty="0">
                <a:solidFill>
                  <a:schemeClr val="hlink"/>
                </a:solidFill>
                <a:hlinkClick r:id="rId3"/>
              </a:rPr>
              <a:t>hackernews api (which uses firebase)</a:t>
            </a:r>
            <a:r>
              <a:rPr lang="en" sz="1400" dirty="0"/>
              <a:t>. To prove how this is going to be handy for us.</a:t>
            </a:r>
            <a:endParaRPr sz="1400" dirty="0"/>
          </a:p>
          <a:p>
            <a:pPr marL="0" lvl="0" indent="0" algn="l" rtl="0">
              <a:spcBef>
                <a:spcPts val="1600"/>
              </a:spcBef>
              <a:spcAft>
                <a:spcPts val="0"/>
              </a:spcAft>
              <a:buNone/>
            </a:pPr>
            <a:r>
              <a:rPr lang="en" sz="1400" dirty="0"/>
              <a:t>In Javascript we’re going to be using fetch to get this info but you can also use </a:t>
            </a:r>
            <a:r>
              <a:rPr lang="en" sz="1400" u="sng" dirty="0">
                <a:solidFill>
                  <a:schemeClr val="hlink"/>
                </a:solidFill>
                <a:hlinkClick r:id="rId4"/>
              </a:rPr>
              <a:t>axios</a:t>
            </a:r>
            <a:r>
              <a:rPr lang="en" sz="1400" dirty="0"/>
              <a:t> if you’re interested.</a:t>
            </a:r>
            <a:endParaRPr sz="1400" dirty="0"/>
          </a:p>
          <a:p>
            <a:pPr marL="0" lvl="0" indent="0" algn="l" rtl="0">
              <a:spcBef>
                <a:spcPts val="1600"/>
              </a:spcBef>
              <a:spcAft>
                <a:spcPts val="1600"/>
              </a:spcAft>
              <a:buNone/>
            </a:pPr>
            <a:endParaRPr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Course Website</a:t>
            </a:r>
            <a:endParaRPr/>
          </a:p>
        </p:txBody>
      </p:sp>
      <p:sp>
        <p:nvSpPr>
          <p:cNvPr id="105" name="Google Shape;105;p20"/>
          <p:cNvSpPr txBox="1">
            <a:spLocks noGrp="1"/>
          </p:cNvSpPr>
          <p:nvPr>
            <p:ph type="body" idx="1"/>
          </p:nvPr>
        </p:nvSpPr>
        <p:spPr>
          <a:xfrm>
            <a:off x="387900" y="119267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I’ve created a site that I will continue to upload content to that is for this course.</a:t>
            </a:r>
            <a:br>
              <a:rPr lang="en"/>
            </a:br>
            <a:br>
              <a:rPr lang="en"/>
            </a:br>
            <a:r>
              <a:rPr lang="en" u="sng">
                <a:solidFill>
                  <a:schemeClr val="hlink"/>
                </a:solidFill>
                <a:hlinkClick r:id="rId3"/>
              </a:rPr>
              <a:t>https://dmit-2008.github.io/dmit2008/</a:t>
            </a:r>
            <a:r>
              <a:rPr lang="en"/>
              <a:t> </a:t>
            </a:r>
            <a:endParaRPr/>
          </a:p>
          <a:p>
            <a:pPr marL="0" lvl="0" indent="0" algn="l" rtl="0">
              <a:spcBef>
                <a:spcPts val="1600"/>
              </a:spcBef>
              <a:spcAft>
                <a:spcPts val="1600"/>
              </a:spcAft>
              <a:buNone/>
            </a:pPr>
            <a:r>
              <a:rPr lang="en"/>
              <a:t>You can visit this for the notes of the current day.</a:t>
            </a:r>
            <a:br>
              <a:rPr lang="en"/>
            </a:br>
            <a:br>
              <a:rPr lang="en"/>
            </a:br>
            <a:r>
              <a:rPr lang="en"/>
              <a:t>Note: This is also built using technology that we’ll learn in the course.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Example</a:t>
            </a:r>
            <a:endParaRPr/>
          </a:p>
        </p:txBody>
      </p:sp>
      <p:sp>
        <p:nvSpPr>
          <p:cNvPr id="111" name="Google Shape;111;p21"/>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Let’s use a REST Client to ensure that we can reach some HackerNews API endpoints.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Advance Reading </a:t>
            </a:r>
            <a:endParaRPr dirty="0"/>
          </a:p>
        </p:txBody>
      </p:sp>
      <p:sp>
        <p:nvSpPr>
          <p:cNvPr id="117" name="Google Shape;117;p22"/>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lvl="0"/>
            <a:r>
              <a:rPr lang="en" dirty="0"/>
              <a:t>ES6 Statements &amp; Declarations</a:t>
            </a:r>
            <a:br>
              <a:rPr lang="en" dirty="0"/>
            </a:br>
            <a:r>
              <a:rPr lang="en-CA" dirty="0">
                <a:hlinkClick r:id="rId3"/>
              </a:rPr>
              <a:t>https://developer.mozilla.org/en-US/docs/Web/JavaScript/Reference/Statements</a:t>
            </a:r>
            <a:endParaRPr lang="en-CA" dirty="0"/>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517</Words>
  <Application>Microsoft Office PowerPoint</Application>
  <PresentationFormat>On-screen Show (16:9)</PresentationFormat>
  <Paragraphs>42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Roboto</vt:lpstr>
      <vt:lpstr>Roboto Slab</vt:lpstr>
      <vt:lpstr>Arial</vt:lpstr>
      <vt:lpstr>Marina</vt:lpstr>
      <vt:lpstr>Advanced Javascript</vt:lpstr>
      <vt:lpstr>Announcements</vt:lpstr>
      <vt:lpstr>Where are we?</vt:lpstr>
      <vt:lpstr>Tools We’re going to Use</vt:lpstr>
      <vt:lpstr>State of Javascript </vt:lpstr>
      <vt:lpstr>Front End Frameworks and this course.</vt:lpstr>
      <vt:lpstr>HTTP Restful APIs</vt:lpstr>
      <vt:lpstr>Course Website</vt:lpstr>
      <vt:lpstr>Example</vt:lpstr>
      <vt:lpstr>Advance Reading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Jhimlie Eustaquio</cp:lastModifiedBy>
  <cp:revision>1</cp:revision>
  <dcterms:modified xsi:type="dcterms:W3CDTF">2026-09-02T17:46:48Z</dcterms:modified>
</cp:coreProperties>
</file>